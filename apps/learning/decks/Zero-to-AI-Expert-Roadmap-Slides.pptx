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LEARNING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Zero to AI Expert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Banking domain · Start from zero Python · 12-month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10 hrs/week (8h technical + 2h Head of AI track)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STARTING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Where you are → where you're going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867" y="1737360"/>
            <a:ext cx="53492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0867" y="1737360"/>
            <a:ext cx="109728" cy="237744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9467" y="1901952"/>
            <a:ext cx="49834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D97757"/>
                </a:solidFill>
                <a:latin typeface="Poppins"/>
              </a:defRPr>
            </a:pPr>
            <a:r>
              <a:t>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899" y="2743200"/>
            <a:ext cx="49377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899" y="3127248"/>
            <a:ext cx="493775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Banking domain · BRD/UAT · compliance mindset · Python =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1587" y="1737360"/>
            <a:ext cx="53492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1587" y="1737360"/>
            <a:ext cx="109728" cy="237744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0187" y="1901952"/>
            <a:ext cx="49834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788C5D"/>
                </a:solidFill>
                <a:latin typeface="Poppins"/>
              </a:defRPr>
            </a:pPr>
            <a:r>
              <a:t>HIRE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7619" y="2743200"/>
            <a:ext cx="49377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Month 12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7619" y="3127248"/>
            <a:ext cx="493775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2 banking AI projects · LangGraph copilot · ML model · HoAI artifacts (Track 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4340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41413"/>
                </a:solidFill>
                <a:latin typeface="Lora"/>
              </a:defRPr>
            </a:pPr>
            <a:r>
              <a:t>Expert in industry = job-ready portfolio + 2–3 yrs production — domain saves you ~1 year of "what problem?"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937760"/>
            <a:ext cx="11155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5E5D59"/>
                </a:solidFill>
                <a:latin typeface="Lora"/>
              </a:defRPr>
            </a:pPr>
            <a:r>
              <a:t>Learn every phase through banking exercises — never abstract-only tutorials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AT 10 HOURS PER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12-month master timeline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657600"/>
            <a:ext cx="10515600" cy="54864"/>
          </a:xfrm>
          <a:prstGeom prst="rect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423160"/>
            <a:ext cx="822960" cy="105156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2496312"/>
            <a:ext cx="6766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M1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807208"/>
            <a:ext cx="67665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Python</a:t>
            </a:r>
            <a:br/>
            <a:r>
              <a:t>+ Git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2423160"/>
            <a:ext cx="822960" cy="105156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90472" y="2496312"/>
            <a:ext cx="6766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M2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807208"/>
            <a:ext cx="67665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SQL</a:t>
            </a:r>
            <a:br/>
            <a:r>
              <a:t>+ pandas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31720" y="2423160"/>
            <a:ext cx="1645920" cy="105156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2496312"/>
            <a:ext cx="14996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M3–4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2807208"/>
            <a:ext cx="149961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Classical</a:t>
            </a:r>
            <a:br/>
            <a:r>
              <a:t>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80" y="2423160"/>
            <a:ext cx="1645920" cy="105156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42232" y="2496312"/>
            <a:ext cx="14996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M5–6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42232" y="2807208"/>
            <a:ext cx="149961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NLP</a:t>
            </a:r>
            <a:br/>
            <a:r>
              <a:t>+ docs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2423160"/>
            <a:ext cx="1645920" cy="105156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79592" y="2496312"/>
            <a:ext cx="14996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M7–8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9592" y="2807208"/>
            <a:ext cx="149961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RAG</a:t>
            </a:r>
            <a:br/>
            <a:r>
              <a:t>+ LangGraph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2423160"/>
            <a:ext cx="1645920" cy="105156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16952" y="2496312"/>
            <a:ext cx="14996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M9–10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2807208"/>
            <a:ext cx="149961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FastAPI</a:t>
            </a:r>
            <a:br/>
            <a:r>
              <a:t>+ Docker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2423160"/>
            <a:ext cx="1645920" cy="105156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54312" y="2496312"/>
            <a:ext cx="14996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M11–12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54312" y="2807208"/>
            <a:ext cx="149961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Portfolio</a:t>
            </a:r>
            <a:br/>
            <a:r>
              <a:t>+ 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840480"/>
            <a:ext cx="15022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41413"/>
                </a:solidFill>
                <a:latin typeface="Lora"/>
              </a:defRPr>
            </a:pPr>
            <a:r>
              <a:t>BRD scorer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05148" y="3840480"/>
            <a:ext cx="15022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41413"/>
                </a:solidFill>
                <a:latin typeface="Lora"/>
              </a:defRPr>
            </a:pPr>
            <a:r>
              <a:t>KPI 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7377" y="3840480"/>
            <a:ext cx="15022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41413"/>
                </a:solidFill>
                <a:latin typeface="Lora"/>
              </a:defRPr>
            </a:pPr>
            <a:r>
              <a:t>PD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09605" y="3840480"/>
            <a:ext cx="15022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41413"/>
                </a:solidFill>
                <a:latin typeface="Lora"/>
              </a:defRPr>
            </a:pPr>
            <a:r>
              <a:t>Doc classifier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1834" y="3840480"/>
            <a:ext cx="15022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41413"/>
                </a:solidFill>
                <a:latin typeface="Lora"/>
              </a:defRPr>
            </a:pPr>
            <a:r>
              <a:t>Policy copilot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4062" y="3840480"/>
            <a:ext cx="15022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41413"/>
                </a:solidFill>
                <a:latin typeface="Lora"/>
              </a:defRPr>
            </a:pPr>
            <a:r>
              <a:t>API + eval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16291" y="3840480"/>
            <a:ext cx="15022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41413"/>
                </a:solidFill>
                <a:latin typeface="Lora"/>
              </a:defRPr>
            </a:pPr>
            <a:r>
              <a:t>Job apps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Phase 0–1 · Python &amp; data (Months 1–3)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86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0867" y="1737360"/>
            <a:ext cx="109728" cy="14173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689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Python 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89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Variables · loops · functions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550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75507" y="1737360"/>
            <a:ext cx="109728" cy="141732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153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Git + 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153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Commit every week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0147" y="1737360"/>
            <a:ext cx="109728" cy="14173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617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617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JOIN · GROUP BY · windows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478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44787" y="1737360"/>
            <a:ext cx="109728" cy="14173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081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pandas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081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CSV · groupby · plots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0867" y="3410712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0867" y="3410712"/>
            <a:ext cx="109728" cy="14173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899" y="3575304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Deliverable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899" y="3959352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BRD scorer + KPI queries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75507" y="3410712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75507" y="3410712"/>
            <a:ext cx="109728" cy="14173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31539" y="3575304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Resources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1539" y="3959352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Python.org · SQLBolt · Kaggle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CLASSICAL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Phase 2 · Machine learning (Months 4–5)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86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0867" y="1737360"/>
            <a:ext cx="109728" cy="14173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689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scikit-learn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89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Logistic · trees · RF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550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75507" y="1737360"/>
            <a:ext cx="109728" cy="14173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153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XGBoost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153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Credit PD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0147" y="1737360"/>
            <a:ext cx="109728" cy="141732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617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617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AUC · KS · calibration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478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44787" y="1737360"/>
            <a:ext cx="109728" cy="14173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081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SHAP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081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Explain declines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0867" y="3410712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0867" y="3410712"/>
            <a:ext cx="109728" cy="14173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899" y="3575304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Deliverable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899" y="3959352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credit-pd-model repo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75507" y="3410712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75507" y="3410712"/>
            <a:ext cx="109728" cy="14173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31539" y="3575304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Domain tie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1539" y="3959352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BRD-style business metric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HIRE-CRITICAL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Phase 3–4 · GenAI &amp; agents (Months 6–8)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86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0867" y="1737360"/>
            <a:ext cx="109728" cy="14173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689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Embeddings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89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Policy chunks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550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75507" y="1737360"/>
            <a:ext cx="109728" cy="14173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153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RAG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153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Retrieve + generate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0147" y="1737360"/>
            <a:ext cx="109728" cy="14173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617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LangGraph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617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Tools · state · escalate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478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44787" y="1737360"/>
            <a:ext cx="109728" cy="14173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081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Eval 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081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20–50 golden Q&amp;A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0867" y="3410712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0867" y="3410712"/>
            <a:ext cx="109728" cy="141732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899" y="3575304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Doc classifier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899" y="3959352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Loan file types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75507" y="3410712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75507" y="3410712"/>
            <a:ext cx="109728" cy="14173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31539" y="3575304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Deliverable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1539" y="3959352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policy-copilot-agent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EXPERT POLISH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Phase 5–7 · Production &amp; job hunt (Months 9–12)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86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0867" y="1737360"/>
            <a:ext cx="109728" cy="14173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689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89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REST /ask endpoint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550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75507" y="1737360"/>
            <a:ext cx="109728" cy="14173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153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153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docker compose 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0147" y="1737360"/>
            <a:ext cx="109728" cy="14173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617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Guardrails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617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PII · audit trail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478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44787" y="1737360"/>
            <a:ext cx="109728" cy="14173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081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Use case #2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081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AML or NBO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0867" y="3410712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0867" y="3410712"/>
            <a:ext cx="109728" cy="141732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899" y="3575304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Portfolio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899" y="3959352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GitHub + README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75507" y="3410712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75507" y="3410712"/>
            <a:ext cx="109728" cy="1417320"/>
          </a:xfrm>
          <a:prstGeom prst="round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31539" y="3575304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Apply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1539" y="3959352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NAB · OCB · VPBank · Anthropic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8H TRACK A · 2H TRACK B ON MILESTONE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Weekly rhythm (10 hrs)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007" y="1874519"/>
            <a:ext cx="1691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8007" y="1874519"/>
            <a:ext cx="1691640" cy="502920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8007" y="1947672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Mon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735" y="2560320"/>
            <a:ext cx="14721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6A9BCC"/>
                </a:solidFill>
                <a:latin typeface="Poppins"/>
              </a:defRPr>
            </a:pPr>
            <a:r>
              <a:t>2h learn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735" y="3017520"/>
            <a:ext cx="147218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E5D59"/>
                </a:solidFill>
                <a:latin typeface="Lora"/>
              </a:defRPr>
            </a:pPr>
            <a:r>
              <a:t>Course + notes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10815" y="1874519"/>
            <a:ext cx="1691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10815" y="1874519"/>
            <a:ext cx="1691640" cy="502920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10815" y="1947672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Tue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0543" y="2560320"/>
            <a:ext cx="14721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BCD1CA"/>
                </a:solidFill>
                <a:latin typeface="Poppins"/>
              </a:defRPr>
            </a:pPr>
            <a:r>
              <a:t>2h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0543" y="3017520"/>
            <a:ext cx="147218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E5D59"/>
                </a:solidFill>
                <a:latin typeface="Lora"/>
              </a:defRPr>
            </a:pPr>
            <a:r>
              <a:t>Exercises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623" y="1874519"/>
            <a:ext cx="1691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623" y="1874519"/>
            <a:ext cx="1691640" cy="50292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03623" y="1947672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Wed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3351" y="2560320"/>
            <a:ext cx="14721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788C5D"/>
                </a:solidFill>
                <a:latin typeface="Poppins"/>
              </a:defRPr>
            </a:pPr>
            <a:r>
              <a:t>1h domain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3351" y="3017520"/>
            <a:ext cx="147218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E5D59"/>
                </a:solidFill>
                <a:latin typeface="Lora"/>
              </a:defRPr>
            </a:pPr>
            <a:r>
              <a:t>Banking exercise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6431" y="1874519"/>
            <a:ext cx="1691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6431" y="1874519"/>
            <a:ext cx="1691640" cy="50292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6431" y="1947672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Thu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6159" y="2560320"/>
            <a:ext cx="14721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C46686"/>
                </a:solidFill>
                <a:latin typeface="Poppins"/>
              </a:defRPr>
            </a:pPr>
            <a:r>
              <a:t>2h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6159" y="3017520"/>
            <a:ext cx="147218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E5D59"/>
                </a:solidFill>
                <a:latin typeface="Lora"/>
              </a:defRPr>
            </a:pPr>
            <a:r>
              <a:t>Deliverable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89239" y="1874519"/>
            <a:ext cx="1691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89239" y="1874519"/>
            <a:ext cx="1691640" cy="5029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89239" y="1947672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Fri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8967" y="2560320"/>
            <a:ext cx="14721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97757"/>
                </a:solidFill>
                <a:latin typeface="Poppins"/>
              </a:defRPr>
            </a:pPr>
            <a:r>
              <a:t>1h ship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8967" y="3017520"/>
            <a:ext cx="147218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E5D59"/>
                </a:solidFill>
                <a:latin typeface="Lora"/>
              </a:defRPr>
            </a:pPr>
            <a:r>
              <a:t>Git + README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82047" y="1874519"/>
            <a:ext cx="1691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82047" y="1874519"/>
            <a:ext cx="1691640" cy="502920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82047" y="1947672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Sat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91775" y="2560320"/>
            <a:ext cx="14721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6A9BCC"/>
                </a:solidFill>
                <a:latin typeface="Poppins"/>
              </a:defRPr>
            </a:pPr>
            <a:r>
              <a:t>2h build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1775" y="3017520"/>
            <a:ext cx="147218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E5D59"/>
                </a:solidFill>
                <a:latin typeface="Lora"/>
              </a:defRPr>
            </a:pPr>
            <a:r>
              <a:t>Debug / Track B template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1605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1413"/>
                </a:solidFill>
                <a:latin typeface="Lora"/>
              </a:defRPr>
            </a:pPr>
            <a:r>
              <a:t>Rule: never watch without coding the same day · Track B on W8/16/28/40/52 · Sun = rest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2H/WEEK · VPBANK HOAI-ALIGNED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Track B — Head of AI Factory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867" y="1737360"/>
            <a:ext cx="534924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747" y="1874519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D97757"/>
                </a:solidFill>
                <a:latin typeface="Lora"/>
              </a:defRPr>
            </a:pPr>
            <a:r>
              <a:t>H0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147" y="1874519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Week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747" y="2240280"/>
            <a:ext cx="49834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AI strategy on one page (5 pillars)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1587" y="1737360"/>
            <a:ext cx="534924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4467" y="1874519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6A9BCC"/>
                </a:solidFill>
                <a:latin typeface="Lora"/>
              </a:defRPr>
            </a:pPr>
            <a:r>
              <a:t>H1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8867" y="1874519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Week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4467" y="2240280"/>
            <a:ext cx="49834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PD model value case with VND/bps metric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867" y="3227832"/>
            <a:ext cx="534924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747" y="336499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C46686"/>
                </a:solidFill>
                <a:latin typeface="Lora"/>
              </a:defRPr>
            </a:pPr>
            <a:r>
              <a:t>H2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38147" y="336499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Week 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747" y="3730752"/>
            <a:ext cx="49834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Policy copilot G1/G2/G3 governance checklist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1587" y="3227832"/>
            <a:ext cx="534924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4467" y="336499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788C5D"/>
                </a:solidFill>
                <a:latin typeface="Lora"/>
              </a:defRPr>
            </a:pPr>
            <a:r>
              <a:t>H3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8867" y="336499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Week 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4467" y="3730752"/>
            <a:ext cx="49834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90-day AI Factory pilot plan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0867" y="4718304"/>
            <a:ext cx="534924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747" y="4855464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BCD1CA"/>
                </a:solidFill>
                <a:latin typeface="Lora"/>
              </a:defRPr>
            </a:pPr>
            <a:r>
              <a:t>H4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38147" y="4855464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Week 52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747" y="5221224"/>
            <a:ext cx="49834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5-slide steering deck + portfolio narrative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48056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41413"/>
                </a:solidFill>
                <a:latin typeface="Lora"/>
              </a:defRPr>
            </a:pPr>
            <a:r>
              <a:t>Deck: exports/learning/Learning-Track-B-Slides.pptx · Guide: head-of-ai-track.md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PROJECT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Use banking domain as your edge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867" y="173736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0867" y="1737360"/>
            <a:ext cx="109728" cy="132588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6899" y="19019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Credit PD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899" y="2286000"/>
            <a:ext cx="310896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Classical ML · Month 4–5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5627" y="173736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5627" y="1737360"/>
            <a:ext cx="109728" cy="132588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1659" y="19019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Policy RAG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1659" y="2286000"/>
            <a:ext cx="310896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LangGraph · Month 7–8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0387" y="173736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0387" y="1737360"/>
            <a:ext cx="109728" cy="132588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6419" y="19019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Loan doc classifier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6419" y="2286000"/>
            <a:ext cx="310896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NLP · Month 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0867" y="333756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0867" y="3337560"/>
            <a:ext cx="109728" cy="132588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6899" y="35021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AML triage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6899" y="3886200"/>
            <a:ext cx="310896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Optional · Month 11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5627" y="333756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35627" y="3337560"/>
            <a:ext cx="109728" cy="132588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1659" y="35021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BRD quality scorer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1659" y="3886200"/>
            <a:ext cx="310896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Python · Month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0387" y="333756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30387" y="3337560"/>
            <a:ext cx="109728" cy="132588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6419" y="35021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Lending KPI 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6419" y="3886200"/>
            <a:ext cx="310896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SQL · Month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SYLLABUS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What to learn — core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645920"/>
            <a:ext cx="2286000" cy="658368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39" y="1645920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AF9F5"/>
                </a:solidFill>
                <a:latin typeface="Lora"/>
              </a:defRPr>
            </a:pPr>
            <a:r>
              <a:t>Month 1–2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645920"/>
            <a:ext cx="7711135" cy="658368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39" y="1645920"/>
            <a:ext cx="7528255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Python · Git · SQL · pandas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432304"/>
            <a:ext cx="2286000" cy="658368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39" y="2432304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AF9F5"/>
                </a:solidFill>
                <a:latin typeface="Lora"/>
              </a:defRPr>
            </a:pPr>
            <a:r>
              <a:t>Month 3–5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432304"/>
            <a:ext cx="7711135" cy="658368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39" y="2432304"/>
            <a:ext cx="7528255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scikit-learn · XGBoost · SHAP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3218688"/>
            <a:ext cx="2286000" cy="658368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39" y="3218688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AF9F5"/>
                </a:solidFill>
                <a:latin typeface="Lora"/>
              </a:defRPr>
            </a:pPr>
            <a:r>
              <a:t>Month 5–6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3218688"/>
            <a:ext cx="7711135" cy="658368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39" y="3218688"/>
            <a:ext cx="7528255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Embeddings · vector DB · NLP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4005072"/>
            <a:ext cx="2286000" cy="658368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39" y="4005072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AF9F5"/>
                </a:solidFill>
                <a:latin typeface="Lora"/>
              </a:defRPr>
            </a:pPr>
            <a:r>
              <a:t>Month 7–8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4005072"/>
            <a:ext cx="7711135" cy="658368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39" y="4005072"/>
            <a:ext cx="7528255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LLM · RAG · LangGraph · eval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4791456"/>
            <a:ext cx="2286000" cy="65836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39" y="4791456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AF9F5"/>
                </a:solidFill>
                <a:latin typeface="Lora"/>
              </a:defRPr>
            </a:pPr>
            <a:r>
              <a:t>Month 9–10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4791456"/>
            <a:ext cx="7711135" cy="658368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39" y="4791456"/>
            <a:ext cx="7528255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FastAPI · Docker · guardrails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5577840"/>
            <a:ext cx="2286000" cy="658368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39" y="5577840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AF9F5"/>
                </a:solidFill>
                <a:latin typeface="Lora"/>
              </a:defRPr>
            </a:pPr>
            <a:r>
              <a:t>Always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5577840"/>
            <a:ext cx="7711135" cy="658368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39" y="5577840"/>
            <a:ext cx="7528255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Banking metrics · governance · English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KNOW WHEN YOU'RE READY TO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Milestone checklist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147" y="1783080"/>
            <a:ext cx="3520440" cy="150876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747" y="192024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25603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AF9F5"/>
                </a:solidFill>
                <a:latin typeface="Lora"/>
              </a:defRPr>
            </a:pPr>
            <a:r>
              <a:t>Python + 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747" y="292608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0AEA5"/>
                </a:solidFill>
                <a:latin typeface="Lora"/>
              </a:defRPr>
            </a:pPr>
            <a:r>
              <a:t>Month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5627" y="1783080"/>
            <a:ext cx="3520440" cy="150876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4227" y="192024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4227" y="25603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AF9F5"/>
                </a:solidFill>
                <a:latin typeface="Lora"/>
              </a:defRPr>
            </a:pPr>
            <a:r>
              <a:t>ML +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4227" y="292608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0AEA5"/>
                </a:solidFill>
                <a:latin typeface="Lora"/>
              </a:defRPr>
            </a:pPr>
            <a:r>
              <a:t>Month 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6107" y="1783080"/>
            <a:ext cx="3520440" cy="150876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4707" y="192024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707" y="25603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AF9F5"/>
                </a:solidFill>
                <a:latin typeface="Lora"/>
              </a:defRPr>
            </a:pPr>
            <a:r>
              <a:t>RAG + LangGraph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4707" y="292608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0AEA5"/>
                </a:solidFill>
                <a:latin typeface="Lora"/>
              </a:defRPr>
            </a:pPr>
            <a:r>
              <a:t>Month 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5147" y="3611880"/>
            <a:ext cx="3520440" cy="150876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747" y="374904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747" y="43891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AF9F5"/>
                </a:solidFill>
                <a:latin typeface="Lora"/>
              </a:defRPr>
            </a:pPr>
            <a:r>
              <a:t>API + Docker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747" y="475488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0AEA5"/>
                </a:solidFill>
                <a:latin typeface="Lora"/>
              </a:defRPr>
            </a:pPr>
            <a:r>
              <a:t>Month 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5627" y="3611880"/>
            <a:ext cx="3520440" cy="150876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4227" y="374904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4227" y="43891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AF9F5"/>
                </a:solidFill>
                <a:latin typeface="Lora"/>
              </a:defRPr>
            </a:pPr>
            <a:r>
              <a:t>2 bank use cases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4227" y="475488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0AEA5"/>
                </a:solidFill>
                <a:latin typeface="Lora"/>
              </a:defRPr>
            </a:pPr>
            <a:r>
              <a:t>Month 11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76107" y="3611880"/>
            <a:ext cx="3520440" cy="1508760"/>
          </a:xfrm>
          <a:prstGeom prst="round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04707" y="374904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4707" y="43891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AF9F5"/>
                </a:solidFill>
                <a:latin typeface="Lora"/>
              </a:defRPr>
            </a:pPr>
            <a:r>
              <a:t>CV + GitHub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4707" y="475488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0AEA5"/>
                </a:solidFill>
                <a:latin typeface="Lora"/>
              </a:defRPr>
            </a:pPr>
            <a:r>
              <a:t>Month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ACTION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First 30 days — start tomorrow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287" y="1737360"/>
            <a:ext cx="11247120" cy="73152"/>
          </a:xfrm>
          <a:prstGeom prst="rect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29003" y="1664208"/>
            <a:ext cx="292608" cy="29260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2287" y="2194560"/>
            <a:ext cx="2606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2287" y="2194560"/>
            <a:ext cx="2606040" cy="594360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287" y="2258568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167" y="2926080"/>
            <a:ext cx="2240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41413"/>
                </a:solidFill>
                <a:latin typeface="Lora"/>
              </a:defRPr>
            </a:pPr>
            <a:r>
              <a:t>Install Python, Git, VS Code · Python tutorial §1–4 · GitHub repo</a:t>
            </a:r>
          </a:p>
        </p:txBody>
      </p:sp>
      <p:sp>
        <p:nvSpPr>
          <p:cNvPr id="13" name="Oval 12"/>
          <p:cNvSpPr/>
          <p:nvPr/>
        </p:nvSpPr>
        <p:spPr>
          <a:xfrm>
            <a:off x="4509363" y="1664208"/>
            <a:ext cx="292608" cy="292608"/>
          </a:xfrm>
          <a:prstGeom prst="ellipse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52647" y="2194560"/>
            <a:ext cx="2606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52647" y="2194560"/>
            <a:ext cx="2606040" cy="594360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2647" y="2258568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Week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5527" y="2926080"/>
            <a:ext cx="2240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41413"/>
                </a:solidFill>
                <a:latin typeface="Lora"/>
              </a:defRPr>
            </a:pPr>
            <a:r>
              <a:t>Functions + files · BRD section checker (5 sections)</a:t>
            </a:r>
          </a:p>
        </p:txBody>
      </p:sp>
      <p:sp>
        <p:nvSpPr>
          <p:cNvPr id="18" name="Oval 17"/>
          <p:cNvSpPr/>
          <p:nvPr/>
        </p:nvSpPr>
        <p:spPr>
          <a:xfrm>
            <a:off x="7389723" y="1664208"/>
            <a:ext cx="292608" cy="29260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33007" y="2194560"/>
            <a:ext cx="2606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2194560"/>
            <a:ext cx="2606040" cy="59436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3007" y="2258568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Week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7" y="2926080"/>
            <a:ext cx="2240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41413"/>
                </a:solidFill>
                <a:latin typeface="Lora"/>
              </a:defRPr>
            </a:pPr>
            <a:r>
              <a:t>SQLBolt 1–12 · SQLite + Python query</a:t>
            </a:r>
          </a:p>
        </p:txBody>
      </p:sp>
      <p:sp>
        <p:nvSpPr>
          <p:cNvPr id="23" name="Oval 22"/>
          <p:cNvSpPr/>
          <p:nvPr/>
        </p:nvSpPr>
        <p:spPr>
          <a:xfrm>
            <a:off x="10270083" y="1664208"/>
            <a:ext cx="292608" cy="29260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13367" y="2194560"/>
            <a:ext cx="2606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13367" y="2194560"/>
            <a:ext cx="2606040" cy="59436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13367" y="2258568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Week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6247" y="2926080"/>
            <a:ext cx="2240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41413"/>
                </a:solidFill>
                <a:latin typeface="Lora"/>
              </a:defRPr>
            </a:pPr>
            <a:r>
              <a:t>pandas read_csv · one lending KPI chart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6634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1413"/>
                </a:solidFill>
                <a:latin typeface="Lora"/>
              </a:defRPr>
            </a:pPr>
            <a:r>
              <a:t>Full syllabus: curriculum/zero-to-ai-expert-syllabus.md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D97757"/>
                </a:solidFill>
                <a:latin typeface="Lora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AF9F5"/>
                </a:solidFill>
                <a:latin typeface="Poppins"/>
              </a:defRPr>
            </a:pPr>
            <a:r>
              <a:t>Three rules for your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12467" y="2240280"/>
            <a:ext cx="2606040" cy="2331720"/>
          </a:xfrm>
          <a:prstGeom prst="roundRect">
            <a:avLst/>
          </a:prstGeom>
          <a:solidFill>
            <a:srgbClr val="3D3D3A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941167" y="2468880"/>
            <a:ext cx="548640" cy="5486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AF9F5"/>
                </a:solidFill>
                <a:latin typeface="Poppi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95347" y="320040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Learn through banking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13635" y="365760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0AEA5"/>
                </a:solidFill>
                <a:latin typeface="Lora"/>
              </a:defRPr>
            </a:pPr>
            <a:r>
              <a:t>Every phase = BRD, credit, or ops artifact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92827" y="2240280"/>
            <a:ext cx="2606040" cy="2331720"/>
          </a:xfrm>
          <a:prstGeom prst="roundRect">
            <a:avLst/>
          </a:prstGeom>
          <a:solidFill>
            <a:srgbClr val="3D3D3A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821527" y="2468880"/>
            <a:ext cx="548640" cy="5486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AF9F5"/>
                </a:solidFill>
                <a:latin typeface="Poppin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75707" y="320040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Ship, don't watch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3995" y="365760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0AEA5"/>
                </a:solidFill>
                <a:latin typeface="Lora"/>
              </a:defRPr>
            </a:pPr>
            <a:r>
              <a:t>GitHub commit every week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73187" y="2240280"/>
            <a:ext cx="2606040" cy="2331720"/>
          </a:xfrm>
          <a:prstGeom prst="roundRect">
            <a:avLst/>
          </a:prstGeom>
          <a:solidFill>
            <a:srgbClr val="3D3D3A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01887" y="246888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AF9F5"/>
                </a:solidFill>
                <a:latin typeface="Poppin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6067" y="320040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Production beats PoC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4355" y="365760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0AEA5"/>
                </a:solidFill>
                <a:latin typeface="Lora"/>
              </a:defRPr>
            </a:pPr>
            <a:r>
              <a:t>API + eval by month 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074920"/>
            <a:ext cx="10515600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25780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AF9F5"/>
                </a:solidFill>
                <a:latin typeface="Poppins"/>
              </a:defRPr>
            </a:pPr>
            <a:r>
              <a:t>Run: python3 curriculum/generate_ai_roadmap_slides.py  ·  Read: zero-to-ai-expert-syllabus.md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