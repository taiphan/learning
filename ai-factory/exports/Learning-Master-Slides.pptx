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8.xml"/><Relationship Id="rId3" Type="http://schemas.openxmlformats.org/officeDocument/2006/relationships/slide" Target="slide11.xml"/><Relationship Id="rId4" Type="http://schemas.openxmlformats.org/officeDocument/2006/relationships/slide" Target="slide14.xml"/><Relationship Id="rId5" Type="http://schemas.openxmlformats.org/officeDocument/2006/relationships/slide" Target="slide17.xml"/><Relationship Id="rId6" Type="http://schemas.openxmlformats.org/officeDocument/2006/relationships/slide" Target="slide20.xml"/><Relationship Id="rId7" Type="http://schemas.openxmlformats.org/officeDocument/2006/relationships/slide" Target="slide23.xml"/><Relationship Id="rId8" Type="http://schemas.openxmlformats.org/officeDocument/2006/relationships/slide" Target="slide26.xml"/><Relationship Id="rId9" Type="http://schemas.openxmlformats.org/officeDocument/2006/relationships/slide" Target="slide29.xml"/><Relationship Id="rId10" Type="http://schemas.openxmlformats.org/officeDocument/2006/relationships/slide" Target="slide32.xml"/><Relationship Id="rId11" Type="http://schemas.openxmlformats.org/officeDocument/2006/relationships/slide" Target="slide35.xml"/><Relationship Id="rId12" Type="http://schemas.openxmlformats.org/officeDocument/2006/relationships/slide" Target="slide38.xml"/><Relationship Id="rId13" Type="http://schemas.openxmlformats.org/officeDocument/2006/relationships/slide" Target="slide41.xml"/><Relationship Id="rId14" Type="http://schemas.openxmlformats.org/officeDocument/2006/relationships/slide" Target="slide4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7.xml"/><Relationship Id="rId3" Type="http://schemas.openxmlformats.org/officeDocument/2006/relationships/slide" Target="slide50.xml"/><Relationship Id="rId4" Type="http://schemas.openxmlformats.org/officeDocument/2006/relationships/slide" Target="slide53.xml"/><Relationship Id="rId5" Type="http://schemas.openxmlformats.org/officeDocument/2006/relationships/slide" Target="slide56.xml"/><Relationship Id="rId6" Type="http://schemas.openxmlformats.org/officeDocument/2006/relationships/slide" Target="slide59.xml"/><Relationship Id="rId7" Type="http://schemas.openxmlformats.org/officeDocument/2006/relationships/slide" Target="slide62.xml"/><Relationship Id="rId8" Type="http://schemas.openxmlformats.org/officeDocument/2006/relationships/slide" Target="slide65.xml"/><Relationship Id="rId9" Type="http://schemas.openxmlformats.org/officeDocument/2006/relationships/slide" Target="slide68.xml"/><Relationship Id="rId10" Type="http://schemas.openxmlformats.org/officeDocument/2006/relationships/slide" Target="slide71.xml"/><Relationship Id="rId11" Type="http://schemas.openxmlformats.org/officeDocument/2006/relationships/slide" Target="slide74.xml"/><Relationship Id="rId12" Type="http://schemas.openxmlformats.org/officeDocument/2006/relationships/slide" Target="slide77.xml"/><Relationship Id="rId13" Type="http://schemas.openxmlformats.org/officeDocument/2006/relationships/slide" Target="slide80.xml"/><Relationship Id="rId14" Type="http://schemas.openxmlformats.org/officeDocument/2006/relationships/slide" Target="slide8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86.xml"/><Relationship Id="rId3" Type="http://schemas.openxmlformats.org/officeDocument/2006/relationships/slide" Target="slide89.xml"/><Relationship Id="rId4" Type="http://schemas.openxmlformats.org/officeDocument/2006/relationships/slide" Target="slide92.xml"/><Relationship Id="rId5" Type="http://schemas.openxmlformats.org/officeDocument/2006/relationships/slide" Target="slide95.xml"/><Relationship Id="rId6" Type="http://schemas.openxmlformats.org/officeDocument/2006/relationships/slide" Target="slide98.xml"/><Relationship Id="rId7" Type="http://schemas.openxmlformats.org/officeDocument/2006/relationships/slide" Target="slide101.xml"/><Relationship Id="rId8" Type="http://schemas.openxmlformats.org/officeDocument/2006/relationships/slide" Target="slide104.xml"/><Relationship Id="rId9" Type="http://schemas.openxmlformats.org/officeDocument/2006/relationships/slide" Target="slide107.xml"/><Relationship Id="rId10" Type="http://schemas.openxmlformats.org/officeDocument/2006/relationships/slide" Target="slide110.xml"/><Relationship Id="rId11" Type="http://schemas.openxmlformats.org/officeDocument/2006/relationships/slide" Target="slide113.xml"/><Relationship Id="rId12" Type="http://schemas.openxmlformats.org/officeDocument/2006/relationships/slide" Target="slide116.xml"/><Relationship Id="rId13" Type="http://schemas.openxmlformats.org/officeDocument/2006/relationships/slide" Target="slide119.xml"/><Relationship Id="rId14" Type="http://schemas.openxmlformats.org/officeDocument/2006/relationships/slide" Target="slide12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25.xml"/><Relationship Id="rId3" Type="http://schemas.openxmlformats.org/officeDocument/2006/relationships/slide" Target="slide128.xml"/><Relationship Id="rId4" Type="http://schemas.openxmlformats.org/officeDocument/2006/relationships/slide" Target="slide131.xml"/><Relationship Id="rId5" Type="http://schemas.openxmlformats.org/officeDocument/2006/relationships/slide" Target="slide134.xml"/><Relationship Id="rId6" Type="http://schemas.openxmlformats.org/officeDocument/2006/relationships/slide" Target="slide137.xml"/><Relationship Id="rId7" Type="http://schemas.openxmlformats.org/officeDocument/2006/relationships/slide" Target="slide140.xml"/><Relationship Id="rId8" Type="http://schemas.openxmlformats.org/officeDocument/2006/relationships/slide" Target="slide143.xml"/><Relationship Id="rId9" Type="http://schemas.openxmlformats.org/officeDocument/2006/relationships/slide" Target="slide146.xml"/><Relationship Id="rId10" Type="http://schemas.openxmlformats.org/officeDocument/2006/relationships/slide" Target="slide149.xml"/><Relationship Id="rId11" Type="http://schemas.openxmlformats.org/officeDocument/2006/relationships/slide" Target="slide152.xml"/><Relationship Id="rId12" Type="http://schemas.openxmlformats.org/officeDocument/2006/relationships/slide" Target="slide155.xml"/><Relationship Id="rId13" Type="http://schemas.openxmlformats.org/officeDocument/2006/relationships/slide" Target="slide158.xml"/><Relationship Id="rId14" Type="http://schemas.openxmlformats.org/officeDocument/2006/relationships/slide" Target="slide16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python.org/3/tutorial/" TargetMode="External"/><Relationship Id="rId3" Type="http://schemas.openxmlformats.org/officeDocument/2006/relationships/slide" Target="slide3.xml"/><Relationship Id="rId4" Type="http://schemas.openxmlformats.org/officeDocument/2006/relationships/slide" Target="slide8.xml"/><Relationship Id="rId5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python.org/3/tutorial/" TargetMode="External"/><Relationship Id="rId3" Type="http://schemas.openxmlformats.org/officeDocument/2006/relationships/hyperlink" Target="https://www.kaggle.com/learn/python" TargetMode="External"/><Relationship Id="rId4" Type="http://schemas.openxmlformats.org/officeDocument/2006/relationships/slide" Target="slide3.xml"/><Relationship Id="rId5" Type="http://schemas.openxmlformats.org/officeDocument/2006/relationships/slide" Target="slide11.xml"/><Relationship Id="rId6" Type="http://schemas.openxmlformats.org/officeDocument/2006/relationships/slide" Target="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python.org/3/tutorial/" TargetMode="External"/><Relationship Id="rId3" Type="http://schemas.openxmlformats.org/officeDocument/2006/relationships/hyperlink" Target="https://www.kaggle.com/learn/python" TargetMode="External"/><Relationship Id="rId4" Type="http://schemas.openxmlformats.org/officeDocument/2006/relationships/slide" Target="slide3.xml"/><Relationship Id="rId5" Type="http://schemas.openxmlformats.org/officeDocument/2006/relationships/slide" Target="slide14.xml"/><Relationship Id="rId6" Type="http://schemas.openxmlformats.org/officeDocument/2006/relationships/slide" Target="slide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uides.github.com/introduction/git-handbook/" TargetMode="External"/><Relationship Id="rId3" Type="http://schemas.openxmlformats.org/officeDocument/2006/relationships/slide" Target="slide3.xml"/><Relationship Id="rId4" Type="http://schemas.openxmlformats.org/officeDocument/2006/relationships/slide" Target="slide17.xml"/><Relationship Id="rId5" Type="http://schemas.openxmlformats.org/officeDocument/2006/relationships/slide" Target="slide1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qlbolt.com/" TargetMode="External"/><Relationship Id="rId3" Type="http://schemas.openxmlformats.org/officeDocument/2006/relationships/hyperlink" Target="https://www.kaggle.com/learn/intro-to-sql" TargetMode="External"/><Relationship Id="rId4" Type="http://schemas.openxmlformats.org/officeDocument/2006/relationships/slide" Target="slide3.xml"/><Relationship Id="rId5" Type="http://schemas.openxmlformats.org/officeDocument/2006/relationships/slide" Target="slide20.xml"/><Relationship Id="rId6" Type="http://schemas.openxmlformats.org/officeDocument/2006/relationships/slide" Target="slide2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qlbolt.com/" TargetMode="External"/><Relationship Id="rId3" Type="http://schemas.openxmlformats.org/officeDocument/2006/relationships/hyperlink" Target="https://www.kaggle.com/learn/intro-to-sql" TargetMode="External"/><Relationship Id="rId4" Type="http://schemas.openxmlformats.org/officeDocument/2006/relationships/slide" Target="slide3.xml"/><Relationship Id="rId5" Type="http://schemas.openxmlformats.org/officeDocument/2006/relationships/slide" Target="slide23.xml"/><Relationship Id="rId6" Type="http://schemas.openxmlformats.org/officeDocument/2006/relationships/slide" Target="slide2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qlbolt.com/" TargetMode="External"/><Relationship Id="rId3" Type="http://schemas.openxmlformats.org/officeDocument/2006/relationships/hyperlink" Target="https://www.kaggle.com/learn/intro-to-sql" TargetMode="External"/><Relationship Id="rId4" Type="http://schemas.openxmlformats.org/officeDocument/2006/relationships/slide" Target="slide3.xml"/><Relationship Id="rId5" Type="http://schemas.openxmlformats.org/officeDocument/2006/relationships/slide" Target="slide26.xml"/><Relationship Id="rId6" Type="http://schemas.openxmlformats.org/officeDocument/2006/relationships/slide" Target="slide2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0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kaggle.com/learn/pandas" TargetMode="External"/><Relationship Id="rId3" Type="http://schemas.openxmlformats.org/officeDocument/2006/relationships/slide" Target="slide3.xml"/><Relationship Id="rId4" Type="http://schemas.openxmlformats.org/officeDocument/2006/relationships/slide" Target="slide29.xml"/><Relationship Id="rId5" Type="http://schemas.openxmlformats.org/officeDocument/2006/relationships/slide" Target="slide3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@statquest" TargetMode="External"/><Relationship Id="rId3" Type="http://schemas.openxmlformats.org/officeDocument/2006/relationships/slide" Target="slide3.xml"/><Relationship Id="rId4" Type="http://schemas.openxmlformats.org/officeDocument/2006/relationships/slide" Target="slide32.xml"/><Relationship Id="rId5" Type="http://schemas.openxmlformats.org/officeDocument/2006/relationships/slide" Target="slide3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@statquest" TargetMode="External"/><Relationship Id="rId3" Type="http://schemas.openxmlformats.org/officeDocument/2006/relationships/slide" Target="slide3.xml"/><Relationship Id="rId4" Type="http://schemas.openxmlformats.org/officeDocument/2006/relationships/slide" Target="slide35.xml"/><Relationship Id="rId5" Type="http://schemas.openxmlformats.org/officeDocument/2006/relationships/slide" Target="slide3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@statquest" TargetMode="External"/><Relationship Id="rId3" Type="http://schemas.openxmlformats.org/officeDocument/2006/relationships/slide" Target="slide3.xml"/><Relationship Id="rId4" Type="http://schemas.openxmlformats.org/officeDocument/2006/relationships/slide" Target="slide38.xml"/><Relationship Id="rId5" Type="http://schemas.openxmlformats.org/officeDocument/2006/relationships/slide" Target="slide4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kaggle.com/learn/intro-to-machine-learning" TargetMode="External"/><Relationship Id="rId3" Type="http://schemas.openxmlformats.org/officeDocument/2006/relationships/slide" Target="slide3.xml"/><Relationship Id="rId4" Type="http://schemas.openxmlformats.org/officeDocument/2006/relationships/slide" Target="slide41.xml"/><Relationship Id="rId5" Type="http://schemas.openxmlformats.org/officeDocument/2006/relationships/slide" Target="slide4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kaggle.com/learn/intro-to-machine-learning" TargetMode="External"/><Relationship Id="rId3" Type="http://schemas.openxmlformats.org/officeDocument/2006/relationships/slide" Target="slide3.xml"/><Relationship Id="rId4" Type="http://schemas.openxmlformats.org/officeDocument/2006/relationships/slide" Target="slide44.xml"/><Relationship Id="rId5" Type="http://schemas.openxmlformats.org/officeDocument/2006/relationships/slide" Target="slide4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4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kaggle.com/learn/intro-to-machine-learning" TargetMode="External"/><Relationship Id="rId3" Type="http://schemas.openxmlformats.org/officeDocument/2006/relationships/slide" Target="slide4.xml"/><Relationship Id="rId4" Type="http://schemas.openxmlformats.org/officeDocument/2006/relationships/slide" Target="slide47.xml"/><Relationship Id="rId5" Type="http://schemas.openxmlformats.org/officeDocument/2006/relationships/slide" Target="slide4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4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5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kaggle.com/learn/intro-to-machine-learning" TargetMode="External"/><Relationship Id="rId3" Type="http://schemas.openxmlformats.org/officeDocument/2006/relationships/slide" Target="slide4.xml"/><Relationship Id="rId4" Type="http://schemas.openxmlformats.org/officeDocument/2006/relationships/slide" Target="slide50.xml"/><Relationship Id="rId5" Type="http://schemas.openxmlformats.org/officeDocument/2006/relationships/slide" Target="slide5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5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5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kaggle.com/learn/intro-to-machine-learning" TargetMode="External"/><Relationship Id="rId3" Type="http://schemas.openxmlformats.org/officeDocument/2006/relationships/slide" Target="slide4.xml"/><Relationship Id="rId4" Type="http://schemas.openxmlformats.org/officeDocument/2006/relationships/slide" Target="slide53.xml"/><Relationship Id="rId5" Type="http://schemas.openxmlformats.org/officeDocument/2006/relationships/slide" Target="slide5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5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5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hap.readthedocs.io/" TargetMode="External"/><Relationship Id="rId3" Type="http://schemas.openxmlformats.org/officeDocument/2006/relationships/slide" Target="slide4.xml"/><Relationship Id="rId4" Type="http://schemas.openxmlformats.org/officeDocument/2006/relationships/slide" Target="slide56.xml"/><Relationship Id="rId5" Type="http://schemas.openxmlformats.org/officeDocument/2006/relationships/slide" Target="slide58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5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60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hap.readthedocs.io/" TargetMode="External"/><Relationship Id="rId3" Type="http://schemas.openxmlformats.org/officeDocument/2006/relationships/slide" Target="slide4.xml"/><Relationship Id="rId4" Type="http://schemas.openxmlformats.org/officeDocument/2006/relationships/slide" Target="slide59.xml"/><Relationship Id="rId5" Type="http://schemas.openxmlformats.org/officeDocument/2006/relationships/slide" Target="slide6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6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6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hap.readthedocs.io/" TargetMode="External"/><Relationship Id="rId3" Type="http://schemas.openxmlformats.org/officeDocument/2006/relationships/slide" Target="slide4.xml"/><Relationship Id="rId4" Type="http://schemas.openxmlformats.org/officeDocument/2006/relationships/slide" Target="slide62.xml"/><Relationship Id="rId5" Type="http://schemas.openxmlformats.org/officeDocument/2006/relationships/slide" Target="slide6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6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6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hap.readthedocs.io/" TargetMode="External"/><Relationship Id="rId3" Type="http://schemas.openxmlformats.org/officeDocument/2006/relationships/slide" Target="slide4.xml"/><Relationship Id="rId4" Type="http://schemas.openxmlformats.org/officeDocument/2006/relationships/slide" Target="slide65.xml"/><Relationship Id="rId5" Type="http://schemas.openxmlformats.org/officeDocument/2006/relationships/slide" Target="slide6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6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69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huggingface.co/learn/nlp-course/chapter1/1" TargetMode="External"/><Relationship Id="rId3" Type="http://schemas.openxmlformats.org/officeDocument/2006/relationships/slide" Target="slide4.xml"/><Relationship Id="rId4" Type="http://schemas.openxmlformats.org/officeDocument/2006/relationships/slide" Target="slide68.xml"/><Relationship Id="rId5" Type="http://schemas.openxmlformats.org/officeDocument/2006/relationships/slide" Target="slide70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69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7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huggingface.co/learn/nlp-course/chapter1/1" TargetMode="External"/><Relationship Id="rId3" Type="http://schemas.openxmlformats.org/officeDocument/2006/relationships/slide" Target="slide4.xml"/><Relationship Id="rId4" Type="http://schemas.openxmlformats.org/officeDocument/2006/relationships/slide" Target="slide71.xml"/><Relationship Id="rId5" Type="http://schemas.openxmlformats.org/officeDocument/2006/relationships/slide" Target="slide7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7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7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huggingface.co/learn/nlp-course/chapter1/1" TargetMode="External"/><Relationship Id="rId3" Type="http://schemas.openxmlformats.org/officeDocument/2006/relationships/slide" Target="slide4.xml"/><Relationship Id="rId4" Type="http://schemas.openxmlformats.org/officeDocument/2006/relationships/slide" Target="slide74.xml"/><Relationship Id="rId5" Type="http://schemas.openxmlformats.org/officeDocument/2006/relationships/slide" Target="slide7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75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78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huggingface.co/learn/nlp-course/chapter1/1" TargetMode="External"/><Relationship Id="rId3" Type="http://schemas.openxmlformats.org/officeDocument/2006/relationships/slide" Target="slide4.xml"/><Relationship Id="rId4" Type="http://schemas.openxmlformats.org/officeDocument/2006/relationships/slide" Target="slide77.xml"/><Relationship Id="rId5" Type="http://schemas.openxmlformats.org/officeDocument/2006/relationships/slide" Target="slide79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78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8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ython.langchain.com/docs/tutorials/rag/" TargetMode="External"/><Relationship Id="rId3" Type="http://schemas.openxmlformats.org/officeDocument/2006/relationships/slide" Target="slide4.xml"/><Relationship Id="rId4" Type="http://schemas.openxmlformats.org/officeDocument/2006/relationships/slide" Target="slide80.xml"/><Relationship Id="rId5" Type="http://schemas.openxmlformats.org/officeDocument/2006/relationships/slide" Target="slide8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8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84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ython.langchain.com/docs/tutorials/rag/" TargetMode="External"/><Relationship Id="rId3" Type="http://schemas.openxmlformats.org/officeDocument/2006/relationships/slide" Target="slide4.xml"/><Relationship Id="rId4" Type="http://schemas.openxmlformats.org/officeDocument/2006/relationships/slide" Target="slide83.xml"/><Relationship Id="rId5" Type="http://schemas.openxmlformats.org/officeDocument/2006/relationships/slide" Target="slide85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84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8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ython.langchain.com/docs/tutorials/rag/" TargetMode="External"/><Relationship Id="rId3" Type="http://schemas.openxmlformats.org/officeDocument/2006/relationships/slide" Target="slide5.xml"/><Relationship Id="rId4" Type="http://schemas.openxmlformats.org/officeDocument/2006/relationships/slide" Target="slide86.xml"/><Relationship Id="rId5" Type="http://schemas.openxmlformats.org/officeDocument/2006/relationships/slide" Target="slide88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8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90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ython.langchain.com/docs/tutorials/rag/" TargetMode="External"/><Relationship Id="rId3" Type="http://schemas.openxmlformats.org/officeDocument/2006/relationships/slide" Target="slide5.xml"/><Relationship Id="rId4" Type="http://schemas.openxmlformats.org/officeDocument/2006/relationships/slide" Target="slide89.xml"/><Relationship Id="rId5" Type="http://schemas.openxmlformats.org/officeDocument/2006/relationships/slide" Target="slide9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90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93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deeplearning.ai/short-courses/ai-agents-in-langgraph/" TargetMode="External"/><Relationship Id="rId3" Type="http://schemas.openxmlformats.org/officeDocument/2006/relationships/slide" Target="slide5.xml"/><Relationship Id="rId4" Type="http://schemas.openxmlformats.org/officeDocument/2006/relationships/slide" Target="slide92.xml"/><Relationship Id="rId5" Type="http://schemas.openxmlformats.org/officeDocument/2006/relationships/slide" Target="slide94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93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96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deeplearning.ai/short-courses/ai-agents-in-langgraph/" TargetMode="External"/><Relationship Id="rId3" Type="http://schemas.openxmlformats.org/officeDocument/2006/relationships/slide" Target="slide5.xml"/><Relationship Id="rId4" Type="http://schemas.openxmlformats.org/officeDocument/2006/relationships/slide" Target="slide95.xml"/><Relationship Id="rId5" Type="http://schemas.openxmlformats.org/officeDocument/2006/relationships/slide" Target="slide9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96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99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deeplearning.ai/short-courses/ai-agents-in-langgraph/" TargetMode="External"/><Relationship Id="rId3" Type="http://schemas.openxmlformats.org/officeDocument/2006/relationships/slide" Target="slide5.xml"/><Relationship Id="rId4" Type="http://schemas.openxmlformats.org/officeDocument/2006/relationships/slide" Target="slide98.xml"/><Relationship Id="rId5" Type="http://schemas.openxmlformats.org/officeDocument/2006/relationships/slide" Target="slide100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99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10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deeplearning.ai/short-courses/ai-agents-in-langgraph/" TargetMode="External"/><Relationship Id="rId3" Type="http://schemas.openxmlformats.org/officeDocument/2006/relationships/slide" Target="slide5.xml"/><Relationship Id="rId4" Type="http://schemas.openxmlformats.org/officeDocument/2006/relationships/slide" Target="slide101.xml"/><Relationship Id="rId5" Type="http://schemas.openxmlformats.org/officeDocument/2006/relationships/slide" Target="slide103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10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105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astapi.tiangolo.com/tutorial/" TargetMode="External"/><Relationship Id="rId3" Type="http://schemas.openxmlformats.org/officeDocument/2006/relationships/slide" Target="slide5.xml"/><Relationship Id="rId4" Type="http://schemas.openxmlformats.org/officeDocument/2006/relationships/slide" Target="slide104.xml"/><Relationship Id="rId5" Type="http://schemas.openxmlformats.org/officeDocument/2006/relationships/slide" Target="slide106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105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108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astapi.tiangolo.com/tutorial/" TargetMode="External"/><Relationship Id="rId3" Type="http://schemas.openxmlformats.org/officeDocument/2006/relationships/slide" Target="slide5.xml"/><Relationship Id="rId4" Type="http://schemas.openxmlformats.org/officeDocument/2006/relationships/slide" Target="slide107.xml"/><Relationship Id="rId5" Type="http://schemas.openxmlformats.org/officeDocument/2006/relationships/slide" Target="slide109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108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11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astapi.tiangolo.com/tutorial/" TargetMode="External"/><Relationship Id="rId3" Type="http://schemas.openxmlformats.org/officeDocument/2006/relationships/slide" Target="slide5.xml"/><Relationship Id="rId4" Type="http://schemas.openxmlformats.org/officeDocument/2006/relationships/slide" Target="slide110.xml"/><Relationship Id="rId5" Type="http://schemas.openxmlformats.org/officeDocument/2006/relationships/slide" Target="slide11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11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114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astapi.tiangolo.com/tutorial/" TargetMode="External"/><Relationship Id="rId3" Type="http://schemas.openxmlformats.org/officeDocument/2006/relationships/slide" Target="slide5.xml"/><Relationship Id="rId4" Type="http://schemas.openxmlformats.org/officeDocument/2006/relationships/slide" Target="slide113.xml"/><Relationship Id="rId5" Type="http://schemas.openxmlformats.org/officeDocument/2006/relationships/slide" Target="slide115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114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11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ragas.io/" TargetMode="External"/><Relationship Id="rId3" Type="http://schemas.openxmlformats.org/officeDocument/2006/relationships/slide" Target="slide5.xml"/><Relationship Id="rId4" Type="http://schemas.openxmlformats.org/officeDocument/2006/relationships/slide" Target="slide116.xml"/><Relationship Id="rId5" Type="http://schemas.openxmlformats.org/officeDocument/2006/relationships/slide" Target="slide118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11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120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ragas.io/" TargetMode="External"/><Relationship Id="rId3" Type="http://schemas.openxmlformats.org/officeDocument/2006/relationships/slide" Target="slide5.xml"/><Relationship Id="rId4" Type="http://schemas.openxmlformats.org/officeDocument/2006/relationships/slide" Target="slide119.xml"/><Relationship Id="rId5" Type="http://schemas.openxmlformats.org/officeDocument/2006/relationships/slide" Target="slide12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120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123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ragas.io/" TargetMode="External"/><Relationship Id="rId3" Type="http://schemas.openxmlformats.org/officeDocument/2006/relationships/slide" Target="slide5.xml"/><Relationship Id="rId4" Type="http://schemas.openxmlformats.org/officeDocument/2006/relationships/slide" Target="slide122.xml"/><Relationship Id="rId5" Type="http://schemas.openxmlformats.org/officeDocument/2006/relationships/slide" Target="slide124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123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26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ragas.io/" TargetMode="External"/><Relationship Id="rId3" Type="http://schemas.openxmlformats.org/officeDocument/2006/relationships/slide" Target="slide6.xml"/><Relationship Id="rId4" Type="http://schemas.openxmlformats.org/officeDocument/2006/relationships/slide" Target="slide125.xml"/><Relationship Id="rId5" Type="http://schemas.openxmlformats.org/officeDocument/2006/relationships/slide" Target="slide12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26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29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28.xml"/><Relationship Id="rId4" Type="http://schemas.openxmlformats.org/officeDocument/2006/relationships/slide" Target="slide130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29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3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31.xml"/><Relationship Id="rId4" Type="http://schemas.openxmlformats.org/officeDocument/2006/relationships/slide" Target="slide133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32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35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34.xml"/><Relationship Id="rId4" Type="http://schemas.openxmlformats.org/officeDocument/2006/relationships/slide" Target="slide136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35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38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37.xml"/><Relationship Id="rId4" Type="http://schemas.openxmlformats.org/officeDocument/2006/relationships/slide" Target="slide139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38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41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40.xml"/><Relationship Id="rId4" Type="http://schemas.openxmlformats.org/officeDocument/2006/relationships/slide" Target="slide142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41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44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43.xml"/><Relationship Id="rId4" Type="http://schemas.openxmlformats.org/officeDocument/2006/relationships/slide" Target="slide145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44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4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46.xml"/><Relationship Id="rId4" Type="http://schemas.openxmlformats.org/officeDocument/2006/relationships/slide" Target="slide148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4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50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49.xml"/><Relationship Id="rId4" Type="http://schemas.openxmlformats.org/officeDocument/2006/relationships/slide" Target="slide151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50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53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52.xml"/><Relationship Id="rId4" Type="http://schemas.openxmlformats.org/officeDocument/2006/relationships/slide" Target="slide154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53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56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55.xml"/><Relationship Id="rId4" Type="http://schemas.openxmlformats.org/officeDocument/2006/relationships/slide" Target="slide15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56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59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58.xml"/><Relationship Id="rId4" Type="http://schemas.openxmlformats.org/officeDocument/2006/relationships/slide" Target="slide160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59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62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61.xml"/><Relationship Id="rId4" Type="http://schemas.openxmlformats.org/officeDocument/2006/relationships/slide" Target="slide163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62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52-WEEK LEARNING MASTER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Banking domain → AI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Single data source: ai-factory/learning_data.py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3 slides per week · 156 week slides + index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10 hrs/week · 52 weeks · 14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SINGLE SOURCE: LEARNING_DATA.PY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How to navigate this deck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737360"/>
            <a:ext cx="105156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2880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Index slides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84831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Click any W## box → jump to that week's overview (3 slides each)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514600"/>
            <a:ext cx="105156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0604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A9BCC"/>
                </a:solidFill>
                <a:latin typeface="Lora"/>
              </a:defRPr>
            </a:pPr>
            <a:r>
              <a:t>Week slides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862072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Overview → Study → Lab — use Prev/Next within the week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291839"/>
            <a:ext cx="105156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383279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788C5D"/>
                </a:solidFill>
                <a:latin typeface="Lora"/>
              </a:defRPr>
            </a:pPr>
            <a:r>
              <a:t>Individual decks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639311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exports/weeks/Week-NN-*.pptx — one file per week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069079"/>
            <a:ext cx="105156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160519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C46686"/>
                </a:solidFill>
                <a:latin typeface="Lora"/>
              </a:defRPr>
            </a:pPr>
            <a:r>
              <a:t>Workbook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416551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ai-skills-workbook.md — steps, answers, what/why/when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Master  ·  3 slides/week  ·  Click W## to jump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CLICK A WEEK TO OPEN OVERVIEW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index — Q1 · Weeks 1–13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641451" y="1737360"/>
            <a:ext cx="1417320" cy="566928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6315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6315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Python syntax — BR…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2223363" y="1737360"/>
            <a:ext cx="1417320" cy="566928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78227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78227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Functions &amp; CSV lo…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3805275" y="1737360"/>
            <a:ext cx="1417320" cy="566928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60139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0139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Dicts &amp; weighted B…</a:t>
            </a:r>
          </a:p>
        </p:txBody>
      </p:sp>
      <p:sp>
        <p:nvSpPr>
          <p:cNvPr id="16" name="Rounded Rectangle 15">
            <a:hlinkClick action="ppaction://hlinksldjump" r:id="rId5"/>
          </p:cNvPr>
          <p:cNvSpPr/>
          <p:nvPr/>
        </p:nvSpPr>
        <p:spPr>
          <a:xfrm>
            <a:off x="5387187" y="1737360"/>
            <a:ext cx="1417320" cy="566928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2051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2051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OOP scorecard + Gi…</a:t>
            </a:r>
          </a:p>
        </p:txBody>
      </p:sp>
      <p:sp>
        <p:nvSpPr>
          <p:cNvPr id="19" name="Rounded Rectangle 18">
            <a:hlinkClick action="ppaction://hlinksldjump" r:id="rId6"/>
          </p:cNvPr>
          <p:cNvSpPr/>
          <p:nvPr/>
        </p:nvSpPr>
        <p:spPr>
          <a:xfrm>
            <a:off x="6969099" y="1737360"/>
            <a:ext cx="1417320" cy="566928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23963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3963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SQL aggregates &amp; f…</a:t>
            </a:r>
          </a:p>
        </p:txBody>
      </p:sp>
      <p:sp>
        <p:nvSpPr>
          <p:cNvPr id="22" name="Rounded Rectangle 21">
            <a:hlinkClick action="ppaction://hlinksldjump" r:id="rId7"/>
          </p:cNvPr>
          <p:cNvSpPr/>
          <p:nvPr/>
        </p:nvSpPr>
        <p:spPr>
          <a:xfrm>
            <a:off x="8551011" y="1737360"/>
            <a:ext cx="1417320" cy="566928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05875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05875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SQL JOINs</a:t>
            </a:r>
          </a:p>
        </p:txBody>
      </p:sp>
      <p:sp>
        <p:nvSpPr>
          <p:cNvPr id="25" name="Rounded Rectangle 24">
            <a:hlinkClick action="ppaction://hlinksldjump" r:id="rId8"/>
          </p:cNvPr>
          <p:cNvSpPr/>
          <p:nvPr/>
        </p:nvSpPr>
        <p:spPr>
          <a:xfrm>
            <a:off x="10132923" y="1737360"/>
            <a:ext cx="1417320" cy="566928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87787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7787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SQL windows &amp; tren…</a:t>
            </a:r>
          </a:p>
        </p:txBody>
      </p:sp>
      <p:sp>
        <p:nvSpPr>
          <p:cNvPr id="28" name="Rounded Rectangle 27">
            <a:hlinkClick action="ppaction://hlinksldjump" r:id="rId9"/>
          </p:cNvPr>
          <p:cNvSpPr/>
          <p:nvPr/>
        </p:nvSpPr>
        <p:spPr>
          <a:xfrm>
            <a:off x="641451" y="2487168"/>
            <a:ext cx="1417320" cy="566928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6315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315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pandas KPIs</a:t>
            </a:r>
          </a:p>
        </p:txBody>
      </p:sp>
      <p:sp>
        <p:nvSpPr>
          <p:cNvPr id="31" name="Rounded Rectangle 30">
            <a:hlinkClick action="ppaction://hlinksldjump" r:id="rId10"/>
          </p:cNvPr>
          <p:cNvSpPr/>
          <p:nvPr/>
        </p:nvSpPr>
        <p:spPr>
          <a:xfrm>
            <a:off x="2223363" y="2487168"/>
            <a:ext cx="1417320" cy="566928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78227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78227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Load credit datase…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3805275" y="2487168"/>
            <a:ext cx="1417320" cy="566928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60139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60139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EDA histograms &amp; m…</a:t>
            </a:r>
          </a:p>
        </p:txBody>
      </p:sp>
      <p:sp>
        <p:nvSpPr>
          <p:cNvPr id="37" name="Rounded Rectangle 36">
            <a:hlinkClick action="ppaction://hlinksldjump" r:id="rId12"/>
          </p:cNvPr>
          <p:cNvSpPr/>
          <p:nvPr/>
        </p:nvSpPr>
        <p:spPr>
          <a:xfrm>
            <a:off x="5387187" y="2487168"/>
            <a:ext cx="1417320" cy="566928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42051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42051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Business insights …</a:t>
            </a:r>
          </a:p>
        </p:txBody>
      </p:sp>
      <p:sp>
        <p:nvSpPr>
          <p:cNvPr id="40" name="Rounded Rectangle 39">
            <a:hlinkClick action="ppaction://hlinksldjump" r:id="rId13"/>
          </p:cNvPr>
          <p:cNvSpPr/>
          <p:nvPr/>
        </p:nvSpPr>
        <p:spPr>
          <a:xfrm>
            <a:off x="6969099" y="2487168"/>
            <a:ext cx="1417320" cy="566928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23963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23963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Train/test split —…</a:t>
            </a:r>
          </a:p>
        </p:txBody>
      </p:sp>
      <p:sp>
        <p:nvSpPr>
          <p:cNvPr id="43" name="Rounded Rectangle 42">
            <a:hlinkClick action="ppaction://hlinksldjump" r:id="rId14"/>
          </p:cNvPr>
          <p:cNvSpPr/>
          <p:nvPr/>
        </p:nvSpPr>
        <p:spPr>
          <a:xfrm>
            <a:off x="8551011" y="2487168"/>
            <a:ext cx="1417320" cy="566928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05875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05875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Logistic regressio…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Master  ·  3 slides/week  ·  Click W## to jump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CLICK A WEEK TO OPEN OVERVIEW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index — Q2 · Weeks 14–26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641451" y="1737360"/>
            <a:ext cx="1417320" cy="566928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6315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6315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Random Forest tune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2223363" y="1737360"/>
            <a:ext cx="1417320" cy="566928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78227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78227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XGBoost + imbalanc…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3805275" y="1737360"/>
            <a:ext cx="1417320" cy="566928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60139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0139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Model README + met…</a:t>
            </a:r>
          </a:p>
        </p:txBody>
      </p:sp>
      <p:sp>
        <p:nvSpPr>
          <p:cNvPr id="16" name="Rounded Rectangle 15">
            <a:hlinkClick action="ppaction://hlinksldjump" r:id="rId5"/>
          </p:cNvPr>
          <p:cNvSpPr/>
          <p:nvPr/>
        </p:nvSpPr>
        <p:spPr>
          <a:xfrm>
            <a:off x="5387187" y="1737360"/>
            <a:ext cx="1417320" cy="566928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2051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2051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ROC &amp; threshold</a:t>
            </a:r>
          </a:p>
        </p:txBody>
      </p:sp>
      <p:sp>
        <p:nvSpPr>
          <p:cNvPr id="19" name="Rounded Rectangle 18">
            <a:hlinkClick action="ppaction://hlinksldjump" r:id="rId6"/>
          </p:cNvPr>
          <p:cNvSpPr/>
          <p:nvPr/>
        </p:nvSpPr>
        <p:spPr>
          <a:xfrm>
            <a:off x="6969099" y="1737360"/>
            <a:ext cx="1417320" cy="566928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23963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3963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Precision/recall t…</a:t>
            </a:r>
          </a:p>
        </p:txBody>
      </p:sp>
      <p:sp>
        <p:nvSpPr>
          <p:cNvPr id="22" name="Rounded Rectangle 21">
            <a:hlinkClick action="ppaction://hlinksldjump" r:id="rId7"/>
          </p:cNvPr>
          <p:cNvSpPr/>
          <p:nvPr/>
        </p:nvSpPr>
        <p:spPr>
          <a:xfrm>
            <a:off x="8551011" y="1737360"/>
            <a:ext cx="1417320" cy="566928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05875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05875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Calibration intuit…</a:t>
            </a:r>
          </a:p>
        </p:txBody>
      </p:sp>
      <p:sp>
        <p:nvSpPr>
          <p:cNvPr id="25" name="Rounded Rectangle 24">
            <a:hlinkClick action="ppaction://hlinksldjump" r:id="rId8"/>
          </p:cNvPr>
          <p:cNvSpPr/>
          <p:nvPr/>
        </p:nvSpPr>
        <p:spPr>
          <a:xfrm>
            <a:off x="10132923" y="1737360"/>
            <a:ext cx="1417320" cy="566928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87787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7787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SHAP explainabilit…</a:t>
            </a:r>
          </a:p>
        </p:txBody>
      </p:sp>
      <p:sp>
        <p:nvSpPr>
          <p:cNvPr id="28" name="Rounded Rectangle 27">
            <a:hlinkClick action="ppaction://hlinksldjump" r:id="rId9"/>
          </p:cNvPr>
          <p:cNvSpPr/>
          <p:nvPr/>
        </p:nvSpPr>
        <p:spPr>
          <a:xfrm>
            <a:off x="641451" y="2487168"/>
            <a:ext cx="1417320" cy="566928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6315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315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Sentence embedding…</a:t>
            </a:r>
          </a:p>
        </p:txBody>
      </p:sp>
      <p:sp>
        <p:nvSpPr>
          <p:cNvPr id="31" name="Rounded Rectangle 30">
            <a:hlinkClick action="ppaction://hlinksldjump" r:id="rId10"/>
          </p:cNvPr>
          <p:cNvSpPr/>
          <p:nvPr/>
        </p:nvSpPr>
        <p:spPr>
          <a:xfrm>
            <a:off x="2223363" y="2487168"/>
            <a:ext cx="1417320" cy="566928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78227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78227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Chunk policy text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3805275" y="2487168"/>
            <a:ext cx="1417320" cy="566928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60139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60139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Cosine similarity …</a:t>
            </a:r>
          </a:p>
        </p:txBody>
      </p:sp>
      <p:sp>
        <p:nvSpPr>
          <p:cNvPr id="37" name="Rounded Rectangle 36">
            <a:hlinkClick action="ppaction://hlinksldjump" r:id="rId12"/>
          </p:cNvPr>
          <p:cNvSpPr/>
          <p:nvPr/>
        </p:nvSpPr>
        <p:spPr>
          <a:xfrm>
            <a:off x="5387187" y="2487168"/>
            <a:ext cx="1417320" cy="566928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42051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42051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Document classifie…</a:t>
            </a:r>
          </a:p>
        </p:txBody>
      </p:sp>
      <p:sp>
        <p:nvSpPr>
          <p:cNvPr id="40" name="Rounded Rectangle 39">
            <a:hlinkClick action="ppaction://hlinksldjump" r:id="rId13"/>
          </p:cNvPr>
          <p:cNvSpPr/>
          <p:nvPr/>
        </p:nvSpPr>
        <p:spPr>
          <a:xfrm>
            <a:off x="6969099" y="2487168"/>
            <a:ext cx="1417320" cy="566928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23963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23963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LangChain RAG quic…</a:t>
            </a:r>
          </a:p>
        </p:txBody>
      </p:sp>
      <p:sp>
        <p:nvSpPr>
          <p:cNvPr id="43" name="Rounded Rectangle 42">
            <a:hlinkClick action="ppaction://hlinksldjump" r:id="rId14"/>
          </p:cNvPr>
          <p:cNvSpPr/>
          <p:nvPr/>
        </p:nvSpPr>
        <p:spPr>
          <a:xfrm>
            <a:off x="8551011" y="2487168"/>
            <a:ext cx="1417320" cy="566928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05875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05875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Chroma vector stor…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Master  ·  3 slides/week  ·  Click W## to jump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CLICK A WEEK TO OPEN OVERVIEW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index — Q3 · Weeks 27–39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641451" y="1737360"/>
            <a:ext cx="1417320" cy="566928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6315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6315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PDF / markdown loa…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2223363" y="1737360"/>
            <a:ext cx="1417320" cy="566928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78227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78227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Refusal without co…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3805275" y="1737360"/>
            <a:ext cx="1417320" cy="566928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60139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0139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LLM structured JSO…</a:t>
            </a:r>
          </a:p>
        </p:txBody>
      </p:sp>
      <p:sp>
        <p:nvSpPr>
          <p:cNvPr id="16" name="Rounded Rectangle 15">
            <a:hlinkClick action="ppaction://hlinksldjump" r:id="rId5"/>
          </p:cNvPr>
          <p:cNvSpPr/>
          <p:nvPr/>
        </p:nvSpPr>
        <p:spPr>
          <a:xfrm>
            <a:off x="5387187" y="1737360"/>
            <a:ext cx="1417320" cy="566928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2051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2051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LangGraph intro</a:t>
            </a:r>
          </a:p>
        </p:txBody>
      </p:sp>
      <p:sp>
        <p:nvSpPr>
          <p:cNvPr id="19" name="Rounded Rectangle 18">
            <a:hlinkClick action="ppaction://hlinksldjump" r:id="rId6"/>
          </p:cNvPr>
          <p:cNvSpPr/>
          <p:nvPr/>
        </p:nvSpPr>
        <p:spPr>
          <a:xfrm>
            <a:off x="6969099" y="1737360"/>
            <a:ext cx="1417320" cy="566928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23963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3963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Agent tools</a:t>
            </a:r>
          </a:p>
        </p:txBody>
      </p:sp>
      <p:sp>
        <p:nvSpPr>
          <p:cNvPr id="22" name="Rounded Rectangle 21">
            <a:hlinkClick action="ppaction://hlinksldjump" r:id="rId7"/>
          </p:cNvPr>
          <p:cNvSpPr/>
          <p:nvPr/>
        </p:nvSpPr>
        <p:spPr>
          <a:xfrm>
            <a:off x="8551011" y="1737360"/>
            <a:ext cx="1417320" cy="566928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05875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05875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Eval harness ≥85%</a:t>
            </a:r>
          </a:p>
        </p:txBody>
      </p:sp>
      <p:sp>
        <p:nvSpPr>
          <p:cNvPr id="25" name="Rounded Rectangle 24">
            <a:hlinkClick action="ppaction://hlinksldjump" r:id="rId8"/>
          </p:cNvPr>
          <p:cNvSpPr/>
          <p:nvPr/>
        </p:nvSpPr>
        <p:spPr>
          <a:xfrm>
            <a:off x="10132923" y="1737360"/>
            <a:ext cx="1417320" cy="566928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87787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W33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7787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FastAPI /ask endpo…</a:t>
            </a:r>
          </a:p>
        </p:txBody>
      </p:sp>
      <p:sp>
        <p:nvSpPr>
          <p:cNvPr id="28" name="Rounded Rectangle 27">
            <a:hlinkClick action="ppaction://hlinksldjump" r:id="rId9"/>
          </p:cNvPr>
          <p:cNvSpPr/>
          <p:nvPr/>
        </p:nvSpPr>
        <p:spPr>
          <a:xfrm>
            <a:off x="641451" y="2487168"/>
            <a:ext cx="1417320" cy="566928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6315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W34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315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Pydantic validatio…</a:t>
            </a:r>
          </a:p>
        </p:txBody>
      </p:sp>
      <p:sp>
        <p:nvSpPr>
          <p:cNvPr id="31" name="Rounded Rectangle 30">
            <a:hlinkClick action="ppaction://hlinksldjump" r:id="rId10"/>
          </p:cNvPr>
          <p:cNvSpPr/>
          <p:nvPr/>
        </p:nvSpPr>
        <p:spPr>
          <a:xfrm>
            <a:off x="2223363" y="2487168"/>
            <a:ext cx="1417320" cy="566928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78227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W35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78227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Dockerfile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3805275" y="2487168"/>
            <a:ext cx="1417320" cy="566928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60139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W36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60139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docker compose up</a:t>
            </a:r>
          </a:p>
        </p:txBody>
      </p:sp>
      <p:sp>
        <p:nvSpPr>
          <p:cNvPr id="37" name="Rounded Rectangle 36">
            <a:hlinkClick action="ppaction://hlinksldjump" r:id="rId12"/>
          </p:cNvPr>
          <p:cNvSpPr/>
          <p:nvPr/>
        </p:nvSpPr>
        <p:spPr>
          <a:xfrm>
            <a:off x="5387187" y="2487168"/>
            <a:ext cx="1417320" cy="566928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42051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W37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42051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PII guardrails</a:t>
            </a:r>
          </a:p>
        </p:txBody>
      </p:sp>
      <p:sp>
        <p:nvSpPr>
          <p:cNvPr id="40" name="Rounded Rectangle 39">
            <a:hlinkClick action="ppaction://hlinksldjump" r:id="rId13"/>
          </p:cNvPr>
          <p:cNvSpPr/>
          <p:nvPr/>
        </p:nvSpPr>
        <p:spPr>
          <a:xfrm>
            <a:off x="6969099" y="2487168"/>
            <a:ext cx="1417320" cy="566928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23963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W38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23963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Model card</a:t>
            </a:r>
          </a:p>
        </p:txBody>
      </p:sp>
      <p:sp>
        <p:nvSpPr>
          <p:cNvPr id="43" name="Rounded Rectangle 42">
            <a:hlinkClick action="ppaction://hlinksldjump" r:id="rId14"/>
          </p:cNvPr>
          <p:cNvSpPr/>
          <p:nvPr/>
        </p:nvSpPr>
        <p:spPr>
          <a:xfrm>
            <a:off x="8551011" y="2487168"/>
            <a:ext cx="1417320" cy="566928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05875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W39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05875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GitHub Actions CI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Master  ·  3 slides/week  ·  Click W## to jump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CLICK A WEEK TO OPEN OVERVIEW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index — Q4 · Weeks 40–52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641451" y="1737360"/>
            <a:ext cx="1417320" cy="566928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6315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6315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Eval gate in CI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2223363" y="1737360"/>
            <a:ext cx="1417320" cy="566928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78227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78227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Second use case BR…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3805275" y="1737360"/>
            <a:ext cx="1417320" cy="566928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60139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0139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AML triage OR doc …</a:t>
            </a:r>
          </a:p>
        </p:txBody>
      </p:sp>
      <p:sp>
        <p:nvSpPr>
          <p:cNvPr id="16" name="Rounded Rectangle 15">
            <a:hlinkClick action="ppaction://hlinksldjump" r:id="rId5"/>
          </p:cNvPr>
          <p:cNvSpPr/>
          <p:nvPr/>
        </p:nvSpPr>
        <p:spPr>
          <a:xfrm>
            <a:off x="5387187" y="1737360"/>
            <a:ext cx="1417320" cy="566928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2051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W43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2051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Portfolio README</a:t>
            </a:r>
          </a:p>
        </p:txBody>
      </p:sp>
      <p:sp>
        <p:nvSpPr>
          <p:cNvPr id="19" name="Rounded Rectangle 18">
            <a:hlinkClick action="ppaction://hlinksldjump" r:id="rId6"/>
          </p:cNvPr>
          <p:cNvSpPr/>
          <p:nvPr/>
        </p:nvSpPr>
        <p:spPr>
          <a:xfrm>
            <a:off x="6969099" y="1737360"/>
            <a:ext cx="1417320" cy="566928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23963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3963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Architecture diagr…</a:t>
            </a:r>
          </a:p>
        </p:txBody>
      </p:sp>
      <p:sp>
        <p:nvSpPr>
          <p:cNvPr id="22" name="Rounded Rectangle 21">
            <a:hlinkClick action="ppaction://hlinksldjump" r:id="rId7"/>
          </p:cNvPr>
          <p:cNvSpPr/>
          <p:nvPr/>
        </p:nvSpPr>
        <p:spPr>
          <a:xfrm>
            <a:off x="8551011" y="1737360"/>
            <a:ext cx="1417320" cy="566928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05875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W45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05875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CV update</a:t>
            </a:r>
          </a:p>
        </p:txBody>
      </p:sp>
      <p:sp>
        <p:nvSpPr>
          <p:cNvPr id="25" name="Rounded Rectangle 24">
            <a:hlinkClick action="ppaction://hlinksldjump" r:id="rId8"/>
          </p:cNvPr>
          <p:cNvSpPr/>
          <p:nvPr/>
        </p:nvSpPr>
        <p:spPr>
          <a:xfrm>
            <a:off x="10132923" y="1737360"/>
            <a:ext cx="1417320" cy="566928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87787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W46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7787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Apply OCB / NAB / …</a:t>
            </a:r>
          </a:p>
        </p:txBody>
      </p:sp>
      <p:sp>
        <p:nvSpPr>
          <p:cNvPr id="28" name="Rounded Rectangle 27">
            <a:hlinkClick action="ppaction://hlinksldjump" r:id="rId9"/>
          </p:cNvPr>
          <p:cNvSpPr/>
          <p:nvPr/>
        </p:nvSpPr>
        <p:spPr>
          <a:xfrm>
            <a:off x="641451" y="2487168"/>
            <a:ext cx="1417320" cy="566928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6315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W47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315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STAR stories ×5</a:t>
            </a:r>
          </a:p>
        </p:txBody>
      </p:sp>
      <p:sp>
        <p:nvSpPr>
          <p:cNvPr id="31" name="Rounded Rectangle 30">
            <a:hlinkClick action="ppaction://hlinksldjump" r:id="rId10"/>
          </p:cNvPr>
          <p:cNvSpPr/>
          <p:nvPr/>
        </p:nvSpPr>
        <p:spPr>
          <a:xfrm>
            <a:off x="2223363" y="2487168"/>
            <a:ext cx="1417320" cy="566928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78227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W48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78227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Mock interview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3805275" y="2487168"/>
            <a:ext cx="1417320" cy="566928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60139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W49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60139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Demo video 5 min</a:t>
            </a:r>
          </a:p>
        </p:txBody>
      </p:sp>
      <p:sp>
        <p:nvSpPr>
          <p:cNvPr id="37" name="Rounded Rectangle 36">
            <a:hlinkClick action="ppaction://hlinksldjump" r:id="rId12"/>
          </p:cNvPr>
          <p:cNvSpPr/>
          <p:nvPr/>
        </p:nvSpPr>
        <p:spPr>
          <a:xfrm>
            <a:off x="5387187" y="2487168"/>
            <a:ext cx="1417320" cy="566928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42051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42051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Anthropic stretch …</a:t>
            </a:r>
          </a:p>
        </p:txBody>
      </p:sp>
      <p:sp>
        <p:nvSpPr>
          <p:cNvPr id="40" name="Rounded Rectangle 39">
            <a:hlinkClick action="ppaction://hlinksldjump" r:id="rId13"/>
          </p:cNvPr>
          <p:cNvSpPr/>
          <p:nvPr/>
        </p:nvSpPr>
        <p:spPr>
          <a:xfrm>
            <a:off x="6969099" y="2487168"/>
            <a:ext cx="1417320" cy="566928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23963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W51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23963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Review weak weeks</a:t>
            </a:r>
          </a:p>
        </p:txBody>
      </p:sp>
      <p:sp>
        <p:nvSpPr>
          <p:cNvPr id="43" name="Rounded Rectangle 42">
            <a:hlinkClick action="ppaction://hlinksldjump" r:id="rId14"/>
          </p:cNvPr>
          <p:cNvSpPr/>
          <p:nvPr/>
        </p:nvSpPr>
        <p:spPr>
          <a:xfrm>
            <a:off x="8551011" y="2487168"/>
            <a:ext cx="1417320" cy="566928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05875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W52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05875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Graduation checkli…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Master  ·  3 slides/week  ·  Click W## to jump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AI-FACTORY/LEARNING_DATA.PY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Six phases · 52 weeks · 156 slides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1069848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109728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64792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D97757"/>
                </a:solidFill>
                <a:latin typeface="Lora"/>
              </a:defRPr>
            </a:pPr>
            <a:r>
              <a:t>Weeks 1–8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764792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764792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5E5D59"/>
                </a:solidFill>
                <a:latin typeface="Lora"/>
              </a:defRPr>
            </a:pPr>
            <a:r>
              <a:t>Python · Git · SQL · pandas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50008"/>
            <a:ext cx="1069848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350008"/>
            <a:ext cx="109728" cy="566928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42316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A9BCC"/>
                </a:solidFill>
                <a:latin typeface="Lora"/>
              </a:defRPr>
            </a:pPr>
            <a:r>
              <a:t>Weeks 9–20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42316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Classical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42316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5E5D59"/>
                </a:solidFill>
                <a:latin typeface="Lora"/>
              </a:defRPr>
            </a:pPr>
            <a:r>
              <a:t>EDA · sklearn · SHAP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008376"/>
            <a:ext cx="1069848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008376"/>
            <a:ext cx="109728" cy="566928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081528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788C5D"/>
                </a:solidFill>
                <a:latin typeface="Lora"/>
              </a:defRPr>
            </a:pPr>
            <a:r>
              <a:t>Weeks 21–24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081528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NLP &amp; Docs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081528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5E5D59"/>
                </a:solidFill>
                <a:latin typeface="Lora"/>
              </a:defRPr>
            </a:pPr>
            <a:r>
              <a:t>Embeddings · chunking · classify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666744"/>
            <a:ext cx="1069848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666744"/>
            <a:ext cx="109728" cy="566928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739896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46686"/>
                </a:solidFill>
                <a:latin typeface="Lora"/>
              </a:defRPr>
            </a:pPr>
            <a:r>
              <a:t>Weeks 25–32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3739896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GenAI &amp; Agents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739896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5E5D59"/>
                </a:solidFill>
                <a:latin typeface="Lora"/>
              </a:defRPr>
            </a:pPr>
            <a:r>
              <a:t>RAG · LangGraph · eval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325112"/>
            <a:ext cx="1069848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4325112"/>
            <a:ext cx="109728" cy="566928"/>
          </a:xfrm>
          <a:prstGeom prst="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398264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CD1CA"/>
                </a:solidFill>
                <a:latin typeface="Lora"/>
              </a:defRPr>
            </a:pPr>
            <a:r>
              <a:t>Weeks 33–40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4398264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Production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398264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5E5D59"/>
                </a:solidFill>
                <a:latin typeface="Lora"/>
              </a:defRPr>
            </a:pPr>
            <a:r>
              <a:t>FastAPI · Docker · CI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983479"/>
            <a:ext cx="1069848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4983479"/>
            <a:ext cx="109728" cy="566928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5056631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788C5D"/>
                </a:solidFill>
                <a:latin typeface="Lora"/>
              </a:defRPr>
            </a:pPr>
            <a:r>
              <a:t>Weeks 41–52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5056631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Career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5056631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5E5D59"/>
                </a:solidFill>
                <a:latin typeface="Lora"/>
              </a:defRPr>
            </a:pPr>
            <a:r>
              <a:t>Portfolio · apply · interview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Master  ·  3 slides/week  ·  Click W## to jump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 · PYTHON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 — Python syntax — BRD audit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Lists missing BRD sections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Python.org §1–4</a:t>
            </a:r>
            <a:br/>
            <a:r>
              <a:t>• Kaggle Python L1–3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Read, write, debug Python: variables, loops, functions, files, JSON/CSV.</a:t>
            </a:r>
            <a:br/>
            <a:br/>
            <a:r>
              <a:t>Phase tip: Type every example yourself — no copy-paste. Commit when the script runs clean.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1: PYTHON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Python.org §1–4; Kaggle Python L1–3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Python.org §1–6 · Kaggle Learn Python · Automate the Boring Stuff Ch 1–6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Type every example. One venv per project. Run scripts from CLI daily.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Python tutorial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learning-lab/exercises/week01_brd_checklist.py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week01_brd_checklist.py --app-sample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97757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`learning-lab/exercises/week01_brd_checklist.py` in Cursor</a:t>
            </a:r>
            <a:br/>
            <a:r>
              <a:t>2. Run: `python3 week01_brd_checklist.py --app-sample`</a:t>
            </a:r>
            <a:br/>
            <a:r>
              <a:t>3. Output matches: Lists missing BRD sections</a:t>
            </a:r>
            <a:br/>
            <a:r>
              <a:t>4. Skill checkpoint: ✓ 50-line script · ✓ parse CSV · ✓ GitHub commit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 · PYTHON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 — Functions &amp; CSV loan rules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10 loans pass/fail correctly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§5–6</a:t>
            </a:r>
            <a:br/>
            <a:r>
              <a:t>• read docs/01-brd-template-en.md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Read, write, debug Python: variables, loops, functions, files, JSON/CSV.</a:t>
            </a:r>
            <a:br/>
            <a:br/>
            <a:r>
              <a:t>Phase tip: Type every example yourself — no copy-paste. Commit when the script runs clean.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1: PYTHON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§5–6; read docs/01-brd-template-en.md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Python.org §1–6 · Kaggle Learn Python · Automate the Boring Stuff Ch 1–6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Type every example. One venv per project. Run scripts from CLI daily.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Python tutorial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3"/>
              </a:rPr>
              <a:t>Kaggle Python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 · 2/3</a:t>
            </a:r>
          </a:p>
        </p:txBody>
      </p:sp>
      <p:sp>
        <p:nvSpPr>
          <p:cNvPr id="23" name="Rounded Rectangle 22">
            <a:hlinkClick action="ppaction://hlinksldjump" r:id="rId5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5" name="Rounded Rectangle 24">
            <a:hlinkClick action="ppaction://hlinksldjump" r:id="rId6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7" name="Rounded Rectangle 26">
            <a:hlinkClick action="ppaction://hlinksldjump" r:id="rId4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learning-lab/exercises/week02_loan_rules.py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week02_loan_rules.py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97757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`learning-lab/exercises/week02_loan_rules.py` in Cursor</a:t>
            </a:r>
            <a:br/>
            <a:r>
              <a:t>2. Run: `python3 week02_loan_rules.py`</a:t>
            </a:r>
            <a:br/>
            <a:r>
              <a:t>3. Output matches: 10 loans pass/fail correctly</a:t>
            </a:r>
            <a:br/>
            <a:r>
              <a:t>4. Skill checkpoint: ✓ 50-line script · ✓ parse CSV · ✓ GitHub commit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 · PYTHON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 — Dicts &amp; weighted BRD score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Weighted score % printed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Lists, dicts, JSON</a:t>
            </a:r>
            <a:br/>
            <a:r>
              <a:t>• docs/05 quality rubric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Read, write, debug Python: variables, loops, functions, files, JSON/CSV.</a:t>
            </a:r>
            <a:br/>
            <a:br/>
            <a:r>
              <a:t>Phase tip: Type every example yourself — no copy-paste. Commit when the script runs clean.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1: PYTHON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Lists, dicts, JSON; docs/05 quality rubric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Python.org §1–6 · Kaggle Learn Python · Automate the Boring Stuff Ch 1–6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Type every example. One venv per project. Run scripts from CLI daily.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Python tutorial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3"/>
              </a:rPr>
              <a:t>Kaggle Python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 · 2/3</a:t>
            </a:r>
          </a:p>
        </p:txBody>
      </p:sp>
      <p:sp>
        <p:nvSpPr>
          <p:cNvPr id="23" name="Rounded Rectangle 22">
            <a:hlinkClick action="ppaction://hlinksldjump" r:id="rId5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5" name="Rounded Rectangle 24">
            <a:hlinkClick action="ppaction://hlinksldjump" r:id="rId6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7" name="Rounded Rectangle 26">
            <a:hlinkClick action="ppaction://hlinksldjump" r:id="rId4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learning-lab/exercises/week03_brd_weighted_score.py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week03_brd_weighted_score.py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97757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`learning-lab/exercises/week03_brd_weighted_score.py` in Cursor</a:t>
            </a:r>
            <a:br/>
            <a:r>
              <a:t>2. Run: `python3 week03_brd_weighted_score.py`</a:t>
            </a:r>
            <a:br/>
            <a:r>
              <a:t>3. Output matches: Weighted score % printed</a:t>
            </a:r>
            <a:br/>
            <a:r>
              <a:t>4. Skill checkpoint: ✓ 50-line script · ✓ parse CSV · ✓ GitHub commit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 · GIT VERSION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 — OOP scorecard + Git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BRDScorecard class + GitHub repo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Classes basics</a:t>
            </a:r>
            <a:br/>
            <a:r>
              <a:t>• Git commit/push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Track code history: clone, branch, commit, push.</a:t>
            </a:r>
            <a:br/>
            <a:br/>
            <a:r>
              <a:t>Phase tip: Type every example yourself — no copy-paste. Commit when the script runs clean.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480560"/>
            <a:ext cx="11155680" cy="502920"/>
          </a:xfrm>
          <a:prstGeom prst="roundRect">
            <a:avLst/>
          </a:prstGeom>
          <a:solidFill>
            <a:srgbClr val="E8E6DC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9943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Checkpoint CP0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 · 1/3</a:t>
            </a:r>
          </a:p>
        </p:txBody>
      </p:sp>
      <p:sp>
        <p:nvSpPr>
          <p:cNvPr id="20" name="Rounded Rectangle 19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2" name="Rounded Rectangle 21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2: GIT VERSION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Classes basics; Git commit/push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GitHub Git Handbook · Pro Git Ch 1–3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Commit after every session. Conventional messages.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Git Handbook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learning-lab/exercises/week04_brd_scorecard.py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week04_brd_scorecard.py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97757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`learning-lab/exercises/week04_brd_scorecard.py` in Cursor</a:t>
            </a:r>
            <a:br/>
            <a:r>
              <a:t>2. Run: `python3 week04_brd_scorecard.py`</a:t>
            </a:r>
            <a:br/>
            <a:r>
              <a:t>3. Output matches: BRDScorecard class + GitHub repo</a:t>
            </a:r>
            <a:br/>
            <a:r>
              <a:t>4. Skill checkpoint: ✓ public repo · ✓ 10+ commits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2 · SQL FOR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5 — SQL aggregates &amp; filters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5 queries documented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SQLBolt 1–6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SELECT, JOIN, GROUP BY, window functions.</a:t>
            </a:r>
            <a:br/>
            <a:br/>
            <a:r>
              <a:t>Phase tip: Type every example yourself — no copy-paste. Commit when the script runs clean.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5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3: SQL FOR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5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SQLBolt 1–6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SQLBolt 1–18 · Kaggle 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Rewrite each lesson from memory.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SQLBolt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3"/>
              </a:rPr>
              <a:t>Kaggle 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5 · 2/3</a:t>
            </a:r>
          </a:p>
        </p:txBody>
      </p:sp>
      <p:sp>
        <p:nvSpPr>
          <p:cNvPr id="23" name="Rounded Rectangle 22">
            <a:hlinkClick action="ppaction://hlinksldjump" r:id="rId5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5" name="Rounded Rectangle 24">
            <a:hlinkClick action="ppaction://hlinksldjump" r:id="rId6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7" name="Rounded Rectangle 26">
            <a:hlinkClick action="ppaction://hlinksldjump" r:id="rId4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5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learning-lab/sql/week05_queries.sql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sqlite3 loans.db &lt; sql/week05_queries.sql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97757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`learning-lab/sql/week05_queries.sql` in Cursor</a:t>
            </a:r>
            <a:br/>
            <a:r>
              <a:t>2. Run: `sqlite3 loans.db &lt; sql/week05_queries.sql`</a:t>
            </a:r>
            <a:br/>
            <a:r>
              <a:t>3. Output matches: 5 queries documented</a:t>
            </a:r>
            <a:br/>
            <a:r>
              <a:t>4. Skill checkpoint: ✓ JOIN · ✓ GROUP BY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5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2 · SQL FOR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6 — SQL JOINs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Join returns correct rows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SQLBolt 7–12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SELECT, JOIN, GROUP BY, window functions.</a:t>
            </a:r>
            <a:br/>
            <a:br/>
            <a:r>
              <a:t>Phase tip: Type every example yourself — no copy-paste. Commit when the script runs clean.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6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3: SQL FOR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6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SQLBolt 7–12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SQLBolt 1–18 · Kaggle 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Rewrite each lesson from memory.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SQLBolt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3"/>
              </a:rPr>
              <a:t>Kaggle 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6 · 2/3</a:t>
            </a:r>
          </a:p>
        </p:txBody>
      </p:sp>
      <p:sp>
        <p:nvSpPr>
          <p:cNvPr id="23" name="Rounded Rectangle 22">
            <a:hlinkClick action="ppaction://hlinksldjump" r:id="rId5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5" name="Rounded Rectangle 24">
            <a:hlinkClick action="ppaction://hlinksldjump" r:id="rId6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7" name="Rounded Rectangle 26">
            <a:hlinkClick action="ppaction://hlinksldjump" r:id="rId4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6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learning-lab/sql/week06_join.sql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Run join on customers + applications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97757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`learning-lab/sql/week06_join.sql` in Cursor</a:t>
            </a:r>
            <a:br/>
            <a:r>
              <a:t>2. Run: `Run join on customers + applications`</a:t>
            </a:r>
            <a:br/>
            <a:r>
              <a:t>3. Output matches: Join returns correct rows</a:t>
            </a:r>
            <a:br/>
            <a:r>
              <a:t>4. Skill checkpoint: ✓ JOIN · ✓ GROUP BY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6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2 · SQL FOR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7 — SQL windows &amp; trends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Window function KPI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SQLBolt 13–18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SELECT, JOIN, GROUP BY, window functions.</a:t>
            </a:r>
            <a:br/>
            <a:br/>
            <a:r>
              <a:t>Phase tip: Type every example yourself — no copy-paste. Commit when the script runs clean.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7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3: SQL FOR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7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SQLBolt 13–18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SQLBolt 1–18 · Kaggle 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Rewrite each lesson from memory.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SQLBolt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3"/>
              </a:rPr>
              <a:t>Kaggle 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7 · 2/3</a:t>
            </a:r>
          </a:p>
        </p:txBody>
      </p:sp>
      <p:sp>
        <p:nvSpPr>
          <p:cNvPr id="23" name="Rounded Rectangle 22">
            <a:hlinkClick action="ppaction://hlinksldjump" r:id="rId5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5" name="Rounded Rectangle 24">
            <a:hlinkClick action="ppaction://hlinksldjump" r:id="rId6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7" name="Rounded Rectangle 26">
            <a:hlinkClick action="ppaction://hlinksldjump" r:id="rId4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7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learning-lab/sql/week07_window.sql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Monthly disbursement trend query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97757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`learning-lab/sql/week07_window.sql` in Cursor</a:t>
            </a:r>
            <a:br/>
            <a:r>
              <a:t>2. Run: `Monthly disbursement trend query`</a:t>
            </a:r>
            <a:br/>
            <a:r>
              <a:t>3. Output matches: Window function KPI</a:t>
            </a:r>
            <a:br/>
            <a:r>
              <a:t>4. Skill checkpoint: ✓ JOIN · ✓ GROUP BY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7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2 · PANDAS DATA WRANGLING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8 — pandas KPIs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3 KPIs + 1 chart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Kaggle Pandas L1–4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Load, clean, merge, group credit data.</a:t>
            </a:r>
            <a:br/>
            <a:br/>
            <a:r>
              <a:t>Phase tip: Type every example yourself — no copy-paste. Commit when the script runs clean.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480560"/>
            <a:ext cx="11155680" cy="502920"/>
          </a:xfrm>
          <a:prstGeom prst="roundRect">
            <a:avLst/>
          </a:prstGeom>
          <a:solidFill>
            <a:srgbClr val="E8E6DC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9943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Checkpoint CP1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8 · 1/3</a:t>
            </a:r>
          </a:p>
        </p:txBody>
      </p:sp>
      <p:sp>
        <p:nvSpPr>
          <p:cNvPr id="20" name="Rounded Rectangle 19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2" name="Rounded Rectangle 21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4: PANDAS DATA WRANGLING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8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Kaggle Pandas L1–4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Kaggle Pandas · 10 minutes to pandas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Same KPI in SQL then pandas — must match.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Kaggle Pandas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8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8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learning-lab/notebooks/01_lending_kpis.ipynb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jupyter notebook 01_lending_kpis.ipynb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97757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`learning-lab/notebooks/01_lending_kpis.ipynb` in Cursor</a:t>
            </a:r>
            <a:br/>
            <a:r>
              <a:t>2. Run: `jupyter notebook 01_lending_kpis.ipynb`</a:t>
            </a:r>
            <a:br/>
            <a:r>
              <a:t>3. Output matches: 3 KPIs + 1 chart</a:t>
            </a:r>
            <a:br/>
            <a:r>
              <a:t>4. Skill checkpoint: ✓ read_csv · groupby · chart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8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3 · EDA &amp;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9 — Load credit dataset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Dataset loaded; shape printed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Kaggle Give Me Some Credit description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Explore data; business insights in BRD language.</a:t>
            </a:r>
            <a:br/>
            <a:br/>
            <a:r>
              <a:t>Phase tip: Connect every metric to business language: NPL, false decline, approval rate.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9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5: EDA &amp;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9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Kaggle Give Me Some Credit description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StatQuest · Give Me Some Credit dataset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Every chart answers one business question.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StatQuest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9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9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learning-lab/notebooks/02_eda_credit.ipynb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Start EDA notebook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A9BCC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`learning-lab/notebooks/02_eda_credit.ipynb` in Cursor</a:t>
            </a:r>
            <a:br/>
            <a:r>
              <a:t>2. Run: `Start EDA notebook`</a:t>
            </a:r>
            <a:br/>
            <a:r>
              <a:t>3. Output matches: Dataset loaded; shape printed</a:t>
            </a:r>
            <a:br/>
            <a:r>
              <a:t>4. Skill checkpoint: ✓ 3 insights · ✓ no leakage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9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3 · EDA &amp;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10 — EDA histograms &amp; missing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2 charts with captions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StatQuest stats fundamentals (3 videos)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Explore data; business insights in BRD language.</a:t>
            </a:r>
            <a:br/>
            <a:br/>
            <a:r>
              <a:t>Phase tip: Connect every metric to business language: NPL, false decline, approval rate.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10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5: EDA &amp;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10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StatQuest stats fundamentals (3 videos)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StatQuest · Give Me Some Credit dataset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Every chart answers one business question.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StatQuest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10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10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learning-lab/notebooks/02_eda_credit.ipynb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Complete missing-value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A9BCC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`learning-lab/notebooks/02_eda_credit.ipynb` in Cursor</a:t>
            </a:r>
            <a:br/>
            <a:r>
              <a:t>2. Run: `Complete missing-value analysis`</a:t>
            </a:r>
            <a:br/>
            <a:r>
              <a:t>3. Output matches: 2 charts with captions</a:t>
            </a:r>
            <a:br/>
            <a:r>
              <a:t>4. Skill checkpoint: ✓ 3 insights · ✓ no leakage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10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3 · EDA &amp;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11 — Business insights write-up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insights.md in notebook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StatQuest ML intro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Explore data; business insights in BRD language.</a:t>
            </a:r>
            <a:br/>
            <a:br/>
            <a:r>
              <a:t>Phase tip: Connect every metric to business language: NPL, false decline, approval rate.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11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5: EDA &amp;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11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StatQuest ML intro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StatQuest · Give Me Some Credit dataset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Every chart answers one business question.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StatQuest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11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11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learning-lab/notebooks/02_eda_credit.ipynb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Write 3 insights in BRD language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A9BCC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`learning-lab/notebooks/02_eda_credit.ipynb` in Cursor</a:t>
            </a:r>
            <a:br/>
            <a:r>
              <a:t>2. Run: `Write 3 insights in BRD language`</a:t>
            </a:r>
            <a:br/>
            <a:r>
              <a:t>3. Output matches: insights.md in notebook</a:t>
            </a:r>
            <a:br/>
            <a:r>
              <a:t>4. Skill checkpoint: ✓ 3 insights · ✓ no leakage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11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3 · CLASSICAL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12 — Train/test split — no leakage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Time-based split documented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Kaggle Intro ML L1–3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Train classifiers for credit default / PD proxy.</a:t>
            </a:r>
            <a:br/>
            <a:br/>
            <a:r>
              <a:t>Phase tip: Connect every metric to business language: NPL, false decline, approval rate.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12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6: CLASSICAL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12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Kaggle Intro ML L1–3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Kaggle ML · sklearn · Géron Ch 1–9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Baseline first; time-based split.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Kaggle Intro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12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12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learning-lab/exercises/week12_train_test.py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week12_train_test.py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A9BCC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`learning-lab/exercises/week12_train_test.py` in Cursor</a:t>
            </a:r>
            <a:br/>
            <a:r>
              <a:t>2. Run: `python3 week12_train_test.py`</a:t>
            </a:r>
            <a:br/>
            <a:r>
              <a:t>3. Output matches: Time-based split documented</a:t>
            </a:r>
            <a:br/>
            <a:r>
              <a:t>4. Skill checkpoint: ✓ AUC · beat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12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4 · CLASSICAL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13 — Logistic regression baseline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Baseline AUC printed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Kaggle Intro ML L4–7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Train classifiers for credit default / PD proxy.</a:t>
            </a:r>
            <a:br/>
            <a:br/>
            <a:r>
              <a:t>Phase tip: Connect every metric to business language: NPL, false decline, approval rate.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13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6: CLASSICAL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13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Kaggle Intro ML L4–7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Kaggle ML · sklearn · Géron Ch 1–9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Baseline first; time-based split.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Kaggle Intro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13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13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learning-lab/projects/credit-pd-model/train.py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projects/credit-pd-model/train.py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A9BCC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`learning-lab/projects/credit-pd-model/train.py` in Cursor</a:t>
            </a:r>
            <a:br/>
            <a:r>
              <a:t>2. Run: `python3 projects/credit-pd-model/train.py`</a:t>
            </a:r>
            <a:br/>
            <a:r>
              <a:t>3. Output matches: Baseline AUC printed</a:t>
            </a:r>
            <a:br/>
            <a:r>
              <a:t>4. Skill checkpoint: ✓ AUC · beat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13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4 · CLASSICAL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14 — Random Forest tune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Comparison table in README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Kaggle Intermediate 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Train classifiers for credit default / PD proxy.</a:t>
            </a:r>
            <a:br/>
            <a:br/>
            <a:r>
              <a:t>Phase tip: Connect every metric to business language: NPL, false decline, approval rate.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14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6: CLASSICAL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14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Kaggle Intermediate 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Kaggle ML · sklearn · Géron Ch 1–9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Baseline first; time-based split.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Kaggle Intro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14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14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learning-lab/projects/credit-pd-model/train.py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Beat baseline AUC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A9BCC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`learning-lab/projects/credit-pd-model/train.py` in Cursor</a:t>
            </a:r>
            <a:br/>
            <a:r>
              <a:t>2. Run: `Beat baseline AUC`</a:t>
            </a:r>
            <a:br/>
            <a:r>
              <a:t>3. Output matches: Comparison table in README</a:t>
            </a:r>
            <a:br/>
            <a:r>
              <a:t>4. Skill checkpoint: ✓ AUC · beat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14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4 · CLASSICAL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15 — XGBoost + imbalance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README business metric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XGBoost docs</a:t>
            </a:r>
            <a:br/>
            <a:r>
              <a:t>• class_weight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Train classifiers for credit default / PD proxy.</a:t>
            </a:r>
            <a:br/>
            <a:br/>
            <a:r>
              <a:t>Phase tip: Connect every metric to business language: NPL, false decline, approval rate.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15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6: CLASSICAL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15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XGBoost docs; class_weight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Kaggle ML · sklearn · Géron Ch 1–9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Baseline first; time-based split.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Kaggle Intro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15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15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learning-lab/projects/credit-pd-model/train.py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class_weight or scale_pos_weight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A9BCC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`learning-lab/projects/credit-pd-model/train.py` in Cursor</a:t>
            </a:r>
            <a:br/>
            <a:r>
              <a:t>2. Run: `class_weight or scale_pos_weight`</a:t>
            </a:r>
            <a:br/>
            <a:r>
              <a:t>3. Output matches: README business metric</a:t>
            </a:r>
            <a:br/>
            <a:r>
              <a:t>4. Skill checkpoint: ✓ AUC · beat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15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4 · CLASSICAL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16 — Model README + metric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Repo public on GitHub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Géron Ch 3 metrics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Train classifiers for credit default / PD proxy.</a:t>
            </a:r>
            <a:br/>
            <a:br/>
            <a:r>
              <a:t>Phase tip: Connect every metric to business language: NPL, false decline, approval rate.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480560"/>
            <a:ext cx="11155680" cy="502920"/>
          </a:xfrm>
          <a:prstGeom prst="roundRect">
            <a:avLst/>
          </a:prstGeom>
          <a:solidFill>
            <a:srgbClr val="E8E6DC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9943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Checkpoint CP2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16 · 1/3</a:t>
            </a:r>
          </a:p>
        </p:txBody>
      </p:sp>
      <p:sp>
        <p:nvSpPr>
          <p:cNvPr id="20" name="Rounded Rectangle 19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2" name="Rounded Rectangle 21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6: CLASSICAL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16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Géron Ch 3 metrics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Kaggle ML · sklearn · Géron Ch 1–9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Baseline first; time-based split.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Kaggle Intro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16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16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learning-lab/projects/credit-pd-model/README.md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Document AUC + decision use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A9BCC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`learning-lab/projects/credit-pd-model/README.md` in Cursor</a:t>
            </a:r>
            <a:br/>
            <a:r>
              <a:t>2. Run: `Document AUC + decision use`</a:t>
            </a:r>
            <a:br/>
            <a:r>
              <a:t>3. Output matches: Repo public on GitHub</a:t>
            </a:r>
            <a:br/>
            <a:r>
              <a:t>4. Skill checkpoint: ✓ AUC · beat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16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5 · METRICS &amp; SHAP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17 — ROC &amp; threshold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ROC plot saved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sklearn metrics</a:t>
            </a:r>
            <a:br/>
            <a:r>
              <a:t>• StatQuest ROC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AUC, thresholds, SHAP explainability.</a:t>
            </a:r>
            <a:br/>
            <a:br/>
            <a:r>
              <a:t>Phase tip: Connect every metric to business language: NPL, false decline, approval rate.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17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7: METRICS &amp; SHAP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17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sklearn metrics; StatQuest ROC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sklearn metrics · SHAP docs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Link metrics to false decline vs false approve.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SHAP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17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17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learning-lab/exercises/week17_metrics.py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week17_metrics.py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A9BCC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`learning-lab/exercises/week17_metrics.py` in Cursor</a:t>
            </a:r>
            <a:br/>
            <a:r>
              <a:t>2. Run: `python3 week17_metrics.py`</a:t>
            </a:r>
            <a:br/>
            <a:r>
              <a:t>3. Output matches: ROC plot saved</a:t>
            </a:r>
            <a:br/>
            <a:r>
              <a:t>4. Skill checkpoint: ✓ ROC plot · decline 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17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5 · METRICS &amp; SHAP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18 — Precision/recall trade-off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Table in README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StatQuest precision-recall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AUC, thresholds, SHAP explainability.</a:t>
            </a:r>
            <a:br/>
            <a:br/>
            <a:r>
              <a:t>Phase tip: Connect every metric to business language: NPL, false decline, approval rate.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18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7: METRICS &amp; SHAP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18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StatQuest precision-recall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sklearn metrics · SHAP docs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Link metrics to false decline vs false approve.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SHAP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18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18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learning-lab/exercises/week17_metrics.py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Threshold for 90% approval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A9BCC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`learning-lab/exercises/week17_metrics.py` in Cursor</a:t>
            </a:r>
            <a:br/>
            <a:r>
              <a:t>2. Run: `Threshold for 90% approval rate`</a:t>
            </a:r>
            <a:br/>
            <a:r>
              <a:t>3. Output matches: Table in README</a:t>
            </a:r>
            <a:br/>
            <a:r>
              <a:t>4. Skill checkpoint: ✓ ROC plot · decline 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18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5 · METRICS &amp; SHAP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19 — Calibration intuition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1 paragraph for BA audience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Géron calibration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AUC, thresholds, SHAP explainability.</a:t>
            </a:r>
            <a:br/>
            <a:br/>
            <a:r>
              <a:t>Phase tip: Connect every metric to business language: NPL, false decline, approval rate.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19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7: METRICS &amp; SHAP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19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Géron calibration concept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sklearn metrics · SHAP docs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Link metrics to false decline vs false approve.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SHAP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19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19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learning-lab/exercises/week17_metrics.py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Reliability sketch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A9BCC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`learning-lab/exercises/week17_metrics.py` in Cursor</a:t>
            </a:r>
            <a:br/>
            <a:r>
              <a:t>2. Run: `Reliability sketch`</a:t>
            </a:r>
            <a:br/>
            <a:r>
              <a:t>3. Output matches: 1 paragraph for BA audience</a:t>
            </a:r>
            <a:br/>
            <a:r>
              <a:t>4. Skill checkpoint: ✓ ROC plot · decline 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19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5 · METRICS &amp; SHAP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20 — SHAP explainability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decline_story.md + plot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SHAP intro notebook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AUC, thresholds, SHAP explainability.</a:t>
            </a:r>
            <a:br/>
            <a:br/>
            <a:r>
              <a:t>Phase tip: Connect every metric to business language: NPL, false decline, approval rate.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20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7: METRICS &amp; SHAP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20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SHAP intro notebook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sklearn metrics · SHAP docs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Link metrics to false decline vs false approve.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SHAP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20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20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learning-lab/exercises/week20_shap.py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week20_shap.py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A9BCC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`learning-lab/exercises/week20_shap.py` in Cursor</a:t>
            </a:r>
            <a:br/>
            <a:r>
              <a:t>2. Run: `python3 week20_shap.py`</a:t>
            </a:r>
            <a:br/>
            <a:r>
              <a:t>3. Output matches: decline_story.md + plot</a:t>
            </a:r>
            <a:br/>
            <a:r>
              <a:t>4. Skill checkpoint: ✓ ROC plot · decline 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20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6 · EMBEDDINGS &amp;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21 — Sentence embeddings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Top-3 similar policy lines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HF NLP Ch 1–2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Text vectors, similarity, doc classification.</a:t>
            </a:r>
            <a:br/>
            <a:br/>
            <a:r>
              <a:t>Phase tip: Always log which source chunk grounded your answer.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21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8: EMBEDDINGS &amp;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21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HF NLP Ch 1–2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HF NLP Ch 1–3 · LangChain embeddings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Embed policy sentences; top-3 similar.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HF NLP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21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21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learning-lab/exercises/week21_embed.py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week21_embed.py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`learning-lab/exercises/week21_embed.py` in Cursor</a:t>
            </a:r>
            <a:br/>
            <a:r>
              <a:t>2. Run: `python3 week21_embed.py`</a:t>
            </a:r>
            <a:br/>
            <a:r>
              <a:t>3. Output matches: Top-3 similar policy lines</a:t>
            </a:r>
            <a:br/>
            <a:r>
              <a:t>4. Skill checkpoint: ✓ chunk pipeline · classifier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21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6 · EMBEDDINGS &amp;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22 — Chunk policy 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chunk manifest 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HF NLP Ch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Text vectors, similarity, doc classification.</a:t>
            </a:r>
            <a:br/>
            <a:br/>
            <a:r>
              <a:t>Phase tip: Always log which source chunk grounded your answer.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22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8: EMBEDDINGS &amp;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22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HF NLP Ch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HF NLP Ch 1–3 · LangChain embeddings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Embed policy sentences; top-3 similar.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HF NLP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22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22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learning-lab/data/sample_policy.txt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Chunk into 500-token pieces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`learning-lab/data/sample_policy.txt` in Cursor</a:t>
            </a:r>
            <a:br/>
            <a:r>
              <a:t>2. Run: `Chunk into 500-token pieces`</a:t>
            </a:r>
            <a:br/>
            <a:r>
              <a:t>3. Output matches: chunk manifest JSON</a:t>
            </a:r>
            <a:br/>
            <a:r>
              <a:t>4. Skill checkpoint: ✓ chunk pipeline · classifier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22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6 · EMBEDDINGS &amp;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23 — Cosine similarity 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Sub-200ms local benchmark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LangChain embedding docs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Text vectors, similarity, doc classification.</a:t>
            </a:r>
            <a:br/>
            <a:br/>
            <a:r>
              <a:t>Phase tip: Always log which source chunk grounded your answer.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23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8: EMBEDDINGS &amp;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23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LangChain embedding docs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HF NLP Ch 1–3 · LangChain embeddings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Embed policy sentences; top-3 similar.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HF NLP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23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23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learning-lab/exercises/week21_embed.py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Query latency measured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`learning-lab/exercises/week21_embed.py` in Cursor</a:t>
            </a:r>
            <a:br/>
            <a:r>
              <a:t>2. Run: `Query latency measured`</a:t>
            </a:r>
            <a:br/>
            <a:r>
              <a:t>3. Output matches: Sub-200ms local benchmark</a:t>
            </a:r>
            <a:br/>
            <a:r>
              <a:t>4. Skill checkpoint: ✓ chunk pipeline · classifier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23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6 · EMBEDDINGS &amp;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24 — Document classifier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80%+ on tiny test 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Text classification sklearn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Text vectors, similarity, doc classification.</a:t>
            </a:r>
            <a:br/>
            <a:br/>
            <a:r>
              <a:t>Phase tip: Always log which source chunk grounded your answer.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480560"/>
            <a:ext cx="11155680" cy="502920"/>
          </a:xfrm>
          <a:prstGeom prst="roundRect">
            <a:avLst/>
          </a:prstGeom>
          <a:solidFill>
            <a:srgbClr val="E8E6DC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9943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Checkpoint CP3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24 · 1/3</a:t>
            </a:r>
          </a:p>
        </p:txBody>
      </p:sp>
      <p:sp>
        <p:nvSpPr>
          <p:cNvPr id="20" name="Rounded Rectangle 19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2" name="Rounded Rectangle 21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8: EMBEDDINGS &amp;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24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Text classification sklearn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HF NLP Ch 1–3 · LangChain embeddings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Embed policy sentences; top-3 similar.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HF NLP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24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24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learning-lab/exercises/week24_doc_classifier.py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week24_doc_classifier.py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`learning-lab/exercises/week24_doc_classifier.py` in Cursor</a:t>
            </a:r>
            <a:br/>
            <a:r>
              <a:t>2. Run: `python3 week24_doc_classifier.py`</a:t>
            </a:r>
            <a:br/>
            <a:r>
              <a:t>3. Output matches: 80%+ on tiny test set</a:t>
            </a:r>
            <a:br/>
            <a:r>
              <a:t>4. Skill checkpoint: ✓ chunk pipeline · classifier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24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7 · RAG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25 — LangChain RAG quickstart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One Q&amp;A with source cite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DL.AI LangChain short course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Retrieve → augment → generate with citation.</a:t>
            </a:r>
            <a:br/>
            <a:br/>
            <a:r>
              <a:t>Phase tip: Refuse when context is missing — escalation is a feature, not failure.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25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9: RAG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25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DL.AI LangChain short course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DL.AI LangChain · LangChain RAG tutorial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Log sources every call.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LangChain RAG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25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25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learning-lab/exercises/week25_rag_cli.py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week25_rag_cli.py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6686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`learning-lab/exercises/week25_rag_cli.py` in Cursor</a:t>
            </a:r>
            <a:br/>
            <a:r>
              <a:t>2. Run: `python3 week25_rag_cli.py`</a:t>
            </a:r>
            <a:br/>
            <a:r>
              <a:t>3. Output matches: One Q&amp;A with source cite</a:t>
            </a:r>
            <a:br/>
            <a:r>
              <a:t>4. Skill checkpoint: ✓ grounded answer · refusal if no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25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7 · RAG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26 — Chroma vector store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Reload index works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ChromaDB docs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Retrieve → augment → generate with citation.</a:t>
            </a:r>
            <a:br/>
            <a:br/>
            <a:r>
              <a:t>Phase tip: Refuse when context is missing — escalation is a feature, not failure.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26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9: RAG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26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ChromaDB docs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DL.AI LangChain · LangChain RAG tutorial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Log sources every call.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LangChain RAG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26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26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learning-lab/exercises/week25_rag_cli.py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Persist index to ./chroma_db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6686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`learning-lab/exercises/week25_rag_cli.py` in Cursor</a:t>
            </a:r>
            <a:br/>
            <a:r>
              <a:t>2. Run: `Persist index to ./chroma_db`</a:t>
            </a:r>
            <a:br/>
            <a:r>
              <a:t>3. Output matches: Reload index works</a:t>
            </a:r>
            <a:br/>
            <a:r>
              <a:t>4. Skill checkpoint: ✓ grounded answer · refusal if no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26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7 · RAG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27 — PDF / markdown loader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CLI over repo BRD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LangChain document loaders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Retrieve → augment → generate with citation.</a:t>
            </a:r>
            <a:br/>
            <a:br/>
            <a:r>
              <a:t>Phase tip: Refuse when context is missing — escalation is a feature, not failure.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27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9: RAG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27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LangChain document loaders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DL.AI LangChain · LangChain RAG tutorial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Log sources every call.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LangChain RAG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27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27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learning-lab/projects/policy-rag/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Index examples/04a-brd-pos-lending.md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6686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`learning-lab/projects/policy-rag/` in Cursor</a:t>
            </a:r>
            <a:br/>
            <a:r>
              <a:t>2. Run: `Index examples/04a-brd-pos-lending.md`</a:t>
            </a:r>
            <a:br/>
            <a:r>
              <a:t>3. Output matches: CLI over repo BRD</a:t>
            </a:r>
            <a:br/>
            <a:r>
              <a:t>4. Skill checkpoint: ✓ grounded answer · refusal if no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27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7 · RAG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28 — Refusal without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10-question golden set started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RAG eval patterns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Retrieve → augment → generate with citation.</a:t>
            </a:r>
            <a:br/>
            <a:br/>
            <a:r>
              <a:t>Phase tip: Refuse when context is missing — escalation is a feature, not failure.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28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9: RAG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28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RAG eval patterns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DL.AI LangChain · LangChain RAG tutorial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Log sources every call.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LangChain RAG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28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28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learning-lab/projects/policy-rag/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Return escalate if no chunk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6686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`learning-lab/projects/policy-rag/` in Cursor</a:t>
            </a:r>
            <a:br/>
            <a:r>
              <a:t>2. Run: `Return escalate if no chunk`</a:t>
            </a:r>
            <a:br/>
            <a:r>
              <a:t>3. Output matches: 10-question golden set started</a:t>
            </a:r>
            <a:br/>
            <a:r>
              <a:t>4. Skill checkpoint: ✓ grounded answer · refusal if no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28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8 · LANGGRAPH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29 — LLM structured JSON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Valid schema 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Anthropic API docs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Stateful agent, tools, escalation.</a:t>
            </a:r>
            <a:br/>
            <a:br/>
            <a:r>
              <a:t>Phase tip: Refuse when context is missing — escalation is a feature, not failure.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29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10: LANGGRAPH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29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Anthropic API docs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DL.AI LangGraph · LangGraph docs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policy_lookup · escalate_human tools.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DL.AI LangGraph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29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29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learning-lab/exercises/week29_structured_llm.py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Extract policy fields to JSON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6686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`learning-lab/exercises/week29_structured_llm.py` in Cursor</a:t>
            </a:r>
            <a:br/>
            <a:r>
              <a:t>2. Run: `Extract policy fields to JSON`</a:t>
            </a:r>
            <a:br/>
            <a:r>
              <a:t>3. Output matches: Valid schema output</a:t>
            </a:r>
            <a:br/>
            <a:r>
              <a:t>4. Skill checkpoint: ✓ eval ≥85% grounded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29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8 · LANGGRAPH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30 — LangGraph intro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State diagram in README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DL.AI LangGraph course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Stateful agent, tools, escalation.</a:t>
            </a:r>
            <a:br/>
            <a:br/>
            <a:r>
              <a:t>Phase tip: Refuse when context is missing — escalation is a feature, not failure.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30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10: LANGGRAPH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30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DL.AI LangGraph course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DL.AI LangGraph · LangGraph docs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policy_lookup · escalate_human tools.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DL.AI LangGraph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30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30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learning-lab/exercises/week30_langgraph.py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week30_langgraph.py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6686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`learning-lab/exercises/week30_langgraph.py` in Cursor</a:t>
            </a:r>
            <a:br/>
            <a:r>
              <a:t>2. Run: `python3 week30_langgraph.py`</a:t>
            </a:r>
            <a:br/>
            <a:r>
              <a:t>3. Output matches: State diagram in README</a:t>
            </a:r>
            <a:br/>
            <a:r>
              <a:t>4. Skill checkpoint: ✓ eval ≥85% grounded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30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8 · LANGGRAPH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31 — Agent tools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Multi-step trace logged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LangGraph tool calling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Stateful agent, tools, escalation.</a:t>
            </a:r>
            <a:br/>
            <a:br/>
            <a:r>
              <a:t>Phase tip: Refuse when context is missing — escalation is a feature, not failure.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31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10: LANGGRAPH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31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LangGraph tool calling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DL.AI LangGraph · LangGraph docs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policy_lookup · escalate_human tools.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DL.AI LangGraph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31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31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learning-lab/projects/policy-copilot-agent/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3 tools: lookup, calc, escalate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6686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`learning-lab/projects/policy-copilot-agent/` in Cursor</a:t>
            </a:r>
            <a:br/>
            <a:r>
              <a:t>2. Run: `3 tools: lookup, calc, escalate`</a:t>
            </a:r>
            <a:br/>
            <a:r>
              <a:t>3. Output matches: Multi-step trace logged</a:t>
            </a:r>
            <a:br/>
            <a:r>
              <a:t>4. Skill checkpoint: ✓ eval ≥85% grounded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31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8 · LANGGRAPH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32 — Eval harness ≥85%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Automated eval report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ragas</a:t>
            </a:r>
            <a:br/>
            <a:r>
              <a:t>• data/eval_questions.json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Stateful agent, tools, escalation.</a:t>
            </a:r>
            <a:br/>
            <a:br/>
            <a:r>
              <a:t>Phase tip: Refuse when context is missing — escalation is a feature, not failure.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480560"/>
            <a:ext cx="11155680" cy="502920"/>
          </a:xfrm>
          <a:prstGeom prst="roundRect">
            <a:avLst/>
          </a:prstGeom>
          <a:solidFill>
            <a:srgbClr val="E8E6DC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9943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Checkpoint CP4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32 · 1/3</a:t>
            </a:r>
          </a:p>
        </p:txBody>
      </p:sp>
      <p:sp>
        <p:nvSpPr>
          <p:cNvPr id="20" name="Rounded Rectangle 19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2" name="Rounded Rectangle 21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10: LANGGRAPH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32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ragas; data/eval_questions.json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DL.AI LangGraph · LangGraph docs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policy_lookup · escalate_human tools.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DL.AI LangGraph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32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32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learning-lab/data/eval_questions.json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week32_run_eval.py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6686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`learning-lab/data/eval_questions.json` in Cursor</a:t>
            </a:r>
            <a:br/>
            <a:r>
              <a:t>2. Run: `python3 week32_run_eval.py`</a:t>
            </a:r>
            <a:br/>
            <a:r>
              <a:t>3. Output matches: Automated eval report</a:t>
            </a:r>
            <a:br/>
            <a:r>
              <a:t>4. Skill checkpoint: ✓ eval ≥85% grounded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32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9 · PRODUCTION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33 — FastAPI /ask endpoint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curl POST /ask works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FastAPI tutorial §1–5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FastAPI, Docker, health checks.</a:t>
            </a:r>
            <a:br/>
            <a:br/>
            <a:r>
              <a:t>Phase tip: If a friend cannot curl your API, it is not done.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33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11: PRODUCTION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33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FastAPI tutorial §1–5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FastAPI tutorial · Docker get-started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POST /ask → JSON; docker compose up.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FastAPI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33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33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learning-lab/projects/week33_fastapi/main.py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uvicorn main:app --reload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BCD1CA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`learning-lab/projects/week33_fastapi/main.py` in Cursor</a:t>
            </a:r>
            <a:br/>
            <a:r>
              <a:t>2. Run: `uvicorn main:app --reload`</a:t>
            </a:r>
            <a:br/>
            <a:r>
              <a:t>3. Output matches: curl POST /ask works</a:t>
            </a:r>
            <a:br/>
            <a:r>
              <a:t>4. Skill checkpoint: ✓ curl works · another machine runs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33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9 · PRODUCTION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34 — Pydantic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Invalid input rejected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FastAPI body models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FastAPI, Docker, health checks.</a:t>
            </a:r>
            <a:br/>
            <a:br/>
            <a:r>
              <a:t>Phase tip: If a friend cannot curl your API, it is not done.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34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11: PRODUCTION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34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FastAPI body models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FastAPI tutorial · Docker get-started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POST /ask → JSON; docker compose up.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FastAPI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34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34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learning-lab/projects/week33_fastapi/main.py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pytest test_health.py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BCD1CA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`learning-lab/projects/week33_fastapi/main.py` in Cursor</a:t>
            </a:r>
            <a:br/>
            <a:r>
              <a:t>2. Run: `pytest test_health.py`</a:t>
            </a:r>
            <a:br/>
            <a:r>
              <a:t>3. Output matches: Invalid input rejected</a:t>
            </a:r>
            <a:br/>
            <a:r>
              <a:t>4. Skill checkpoint: ✓ curl works · another machine runs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34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9 · PRODUCTION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35 — Dockerfile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Image builds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Docker get-started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FastAPI, Docker, health checks.</a:t>
            </a:r>
            <a:br/>
            <a:br/>
            <a:r>
              <a:t>Phase tip: If a friend cannot curl your API, it is not done.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35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11: PRODUCTION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35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Docker get-started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FastAPI tutorial · Docker get-started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POST /ask → JSON; docker compose up.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FastAPI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35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35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learning-lab/projects/week35_docker/Dockerfile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docker build -t copilot 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BCD1CA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`learning-lab/projects/week35_docker/Dockerfile` in Cursor</a:t>
            </a:r>
            <a:br/>
            <a:r>
              <a:t>2. Run: `docker build -t copilot .`</a:t>
            </a:r>
            <a:br/>
            <a:r>
              <a:t>3. Output matches: Image builds</a:t>
            </a:r>
            <a:br/>
            <a:r>
              <a:t>4. Skill checkpoint: ✓ curl works · another machine runs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35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9 · PRODUCTION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36 — docker compose 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Healthcheck passes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docker-compose reference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FastAPI, Docker, health checks.</a:t>
            </a:r>
            <a:br/>
            <a:br/>
            <a:r>
              <a:t>Phase tip: If a friend cannot curl your API, it is not done.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36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11: PRODUCTION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36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docker-compose reference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FastAPI tutorial · Docker get-started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POST /ask → JSON; docker compose up.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FastAPI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36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36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learning-lab/projects/week35_docker/docker-compose.yml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docker compose 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BCD1CA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`learning-lab/projects/week35_docker/docker-compose.yml` in Cursor</a:t>
            </a:r>
            <a:br/>
            <a:r>
              <a:t>2. Run: `docker compose up`</a:t>
            </a:r>
            <a:br/>
            <a:r>
              <a:t>3. Output matches: Healthcheck passes</a:t>
            </a:r>
            <a:br/>
            <a:r>
              <a:t>4. Skill checkpoint: ✓ curl works · another machine runs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36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10 · GUARDRAILS &amp;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37 — PII guardrails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Redacted audit.log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governance-mlops.md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PII redaction, eval in CI, governance gates.</a:t>
            </a:r>
            <a:br/>
            <a:br/>
            <a:r>
              <a:t>Phase tip: If a friend cannot curl your API, it is not done.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37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12: GUARDRAILS &amp;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37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governance-mlops.md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governance-mlops.md · ragas · GitHub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CI fails if eval score drops.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ragas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37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37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learning-lab/exercises/week37_guardrails.py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week37_guardrails.py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BCD1CA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`learning-lab/exercises/week37_guardrails.py` in Cursor</a:t>
            </a:r>
            <a:br/>
            <a:r>
              <a:t>2. Run: `python3 week37_guardrails.py`</a:t>
            </a:r>
            <a:br/>
            <a:r>
              <a:t>3. Output matches: Redacted audit.log</a:t>
            </a:r>
            <a:br/>
            <a:r>
              <a:t>4. Skill checkpoint: ✓ PII blocked · green 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37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10 · GUARDRAILS &amp;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38 — Model card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3 governance gates documented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Responsible AI template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PII redaction, eval in CI, governance gates.</a:t>
            </a:r>
            <a:br/>
            <a:br/>
            <a:r>
              <a:t>Phase tip: If a friend cannot curl your API, it is not done.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38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12: GUARDRAILS &amp;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38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Responsible AI template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governance-mlops.md · ragas · GitHub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CI fails if eval score drops.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ragas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38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38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learning-lab/projects/model_card.md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Fill purpose, limits, risks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BCD1CA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`learning-lab/projects/model_card.md` in Cursor</a:t>
            </a:r>
            <a:br/>
            <a:r>
              <a:t>2. Run: `Fill purpose, limits, risks`</a:t>
            </a:r>
            <a:br/>
            <a:r>
              <a:t>3. Output matches: 3 governance gates documented</a:t>
            </a:r>
            <a:br/>
            <a:r>
              <a:t>4. Skill checkpoint: ✓ PII blocked · green 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38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10 · GUARDRAILS &amp;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39 — GitHub Actions CI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CI badge green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GitHub Actions Python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PII redaction, eval in CI, governance gates.</a:t>
            </a:r>
            <a:br/>
            <a:br/>
            <a:r>
              <a:t>Phase tip: If a friend cannot curl your API, it is not done.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39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12: GUARDRAILS &amp;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39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GitHub Actions Python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governance-mlops.md · ragas · GitHub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CI fails if eval score drops.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ragas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39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39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learning-lab/projects/week39_ci/.github/workflows/ci.yml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Push triggers pytest + eval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BCD1CA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`learning-lab/projects/week39_ci/.github/workflows/ci.yml` in Cursor</a:t>
            </a:r>
            <a:br/>
            <a:r>
              <a:t>2. Run: `Push triggers pytest + eval`</a:t>
            </a:r>
            <a:br/>
            <a:r>
              <a:t>3. Output matches: CI badge green</a:t>
            </a:r>
            <a:br/>
            <a:r>
              <a:t>4. Skill checkpoint: ✓ PII blocked · green 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39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10 · GUARDRAILS &amp;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40 — Eval gate in CI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Friend runs Docker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Harness engineering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PII redaction, eval in CI, governance gates.</a:t>
            </a:r>
            <a:br/>
            <a:br/>
            <a:r>
              <a:t>Phase tip: If a friend cannot curl your API, it is not done.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480560"/>
            <a:ext cx="11155680" cy="502920"/>
          </a:xfrm>
          <a:prstGeom prst="roundRect">
            <a:avLst/>
          </a:prstGeom>
          <a:solidFill>
            <a:srgbClr val="E8E6DC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9943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Checkpoint CP5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40 · 1/3</a:t>
            </a:r>
          </a:p>
        </p:txBody>
      </p:sp>
      <p:sp>
        <p:nvSpPr>
          <p:cNvPr id="20" name="Rounded Rectangle 19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2" name="Rounded Rectangle 21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12: GUARDRAILS &amp;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40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Harness engineering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governance-mlops.md · ragas · GitHub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CI fails if eval score drops.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ragas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40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40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learning-lab/projects/week39_ci/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Fail if grounded &lt; 85%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BCD1CA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`learning-lab/projects/week39_ci/` in Cursor</a:t>
            </a:r>
            <a:br/>
            <a:r>
              <a:t>2. Run: `Fail if grounded &lt; 85%`</a:t>
            </a:r>
            <a:br/>
            <a:r>
              <a:t>3. Output matches: Friend runs Docker API</a:t>
            </a:r>
            <a:br/>
            <a:r>
              <a:t>4. Skill checkpoint: ✓ PII blocked · green 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40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11 · BANKING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41 — Second use case BRD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1-page quantified metric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examples/04a</a:t>
            </a:r>
            <a:br/>
            <a:r>
              <a:t>• strategy-and-roadmap.md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Map AI to CIR, TAT, NPL; second use case.</a:t>
            </a:r>
            <a:br/>
            <a:br/>
            <a:r>
              <a:t>Phase tip: Quantify impact in VND or bps — hiring managers need numbers.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41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13: BANKING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41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examples/04a; strategy-and-roadmap.md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examples/04a-brd · job-skills-adaptation.md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One-page value case with VND metric.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41 · 2/3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41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learning-lab/exercises/week41_value_case.md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Fill value case template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`learning-lab/exercises/week41_value_case.md` in Cursor</a:t>
            </a:r>
            <a:br/>
            <a:r>
              <a:t>2. Run: `Fill value case template`</a:t>
            </a:r>
            <a:br/>
            <a:r>
              <a:t>3. Output matches: 1-page quantified metric</a:t>
            </a:r>
            <a:br/>
            <a:r>
              <a:t>4. Skill checkpoint: ✓ BRD problem · quantified 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41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11 · BANKING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42 — AML triage OR doc OCR 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STAR outline draft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job-skills-adaptation.md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Map AI to CIR, TAT, NPL; second use case.</a:t>
            </a:r>
            <a:br/>
            <a:br/>
            <a:r>
              <a:t>Phase tip: Quantify impact in VND or bps — hiring managers need numbers.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42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13: BANKING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42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job-skills-adaptation.md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examples/04a-brd · job-skills-adaptation.md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One-page value case with VND metric.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42 · 2/3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42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learning-lab/projects/use-case-2/README.md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Pick and scope use case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`learning-lab/projects/use-case-2/README.md` in Cursor</a:t>
            </a:r>
            <a:br/>
            <a:r>
              <a:t>2. Run: `Pick and scope use case`</a:t>
            </a:r>
            <a:br/>
            <a:r>
              <a:t>3. Output matches: STAR outline draft</a:t>
            </a:r>
            <a:br/>
            <a:r>
              <a:t>4. Skill checkpoint: ✓ BRD problem · quantified 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42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11 · BANKING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43 — Portfolio README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Single index page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GitHub portfolio patterns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Map AI to CIR, TAT, NPL; second use case.</a:t>
            </a:r>
            <a:br/>
            <a:br/>
            <a:r>
              <a:t>Phase tip: Quantify impact in VND or bps — hiring managers need numbers.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43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13: BANKING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43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GitHub portfolio patterns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examples/04a-brd · job-skills-adaptation.md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One-page value case with VND metric.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43 · 2/3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43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learning-lab/projects/PORTFOLIO.md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Link all repos +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`learning-lab/projects/PORTFOLIO.md` in Cursor</a:t>
            </a:r>
            <a:br/>
            <a:r>
              <a:t>2. Run: `Link all repos + metrics`</a:t>
            </a:r>
            <a:br/>
            <a:r>
              <a:t>3. Output matches: Single index page</a:t>
            </a:r>
            <a:br/>
            <a:r>
              <a:t>4. Skill checkpoint: ✓ BRD problem · quantified 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43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11 · BANKING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44 — Architecture diagram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Diagram in README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Mermaid / draw.io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Map AI to CIR, TAT, NPL; second use case.</a:t>
            </a:r>
            <a:br/>
            <a:br/>
            <a:r>
              <a:t>Phase tip: Quantify impact in VND or bps — hiring managers need numbers.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44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13: BANKING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44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Mermaid / draw.io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examples/04a-brd · job-skills-adaptation.md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One-page value case with VND metric.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44 · 2/3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44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learning-lab/projects/PORTFOLIO.md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Copilot architecture diagram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`learning-lab/projects/PORTFOLIO.md` in Cursor</a:t>
            </a:r>
            <a:br/>
            <a:r>
              <a:t>2. Run: `Copilot architecture diagram`</a:t>
            </a:r>
            <a:br/>
            <a:r>
              <a:t>3. Output matches: Diagram in README</a:t>
            </a:r>
            <a:br/>
            <a:r>
              <a:t>4. Skill checkpoint: ✓ BRD problem · quantified 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44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12 ·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45 — CV update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CV draft v1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cv-cover-letter.md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CV, demo video, STAR stories, apply.</a:t>
            </a:r>
            <a:br/>
            <a:br/>
            <a:r>
              <a:t>Phase tip: Quantify impact in VND or bps — hiring managers need numbers.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45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14: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45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cv-cover-letter.md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cv-cover-letter.md · interview-kit.md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5-min demo · 5 STAR stories.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45 · 2/3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45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ai-factory/cv-cover-letter.md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Fill real project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`ai-factory/cv-cover-letter.md` in Cursor</a:t>
            </a:r>
            <a:br/>
            <a:r>
              <a:t>2. Run: `Fill real project metrics`</a:t>
            </a:r>
            <a:br/>
            <a:r>
              <a:t>3. Output matches: CV draft v1</a:t>
            </a:r>
            <a:br/>
            <a:r>
              <a:t>4. Skill checkpoint: ✓ 2 repos · mock interview done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45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12 ·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46 — Apply OCB / NAB / VPBank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Application tracker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job-skills-adaptation.md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CV, demo video, STAR stories, apply.</a:t>
            </a:r>
            <a:br/>
            <a:br/>
            <a:r>
              <a:t>Phase tip: Quantify impact in VND or bps — hiring managers need numbers.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46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14: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46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job-skills-adaptation.md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cv-cover-letter.md · interview-kit.md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5-min demo · 5 STAR stories.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46 · 2/3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144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46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ai-factory/interview-kit.md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Submit 3 applications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`ai-factory/interview-kit.md` in Cursor</a:t>
            </a:r>
            <a:br/>
            <a:r>
              <a:t>2. Run: `Submit 3 applications`</a:t>
            </a:r>
            <a:br/>
            <a:r>
              <a:t>3. Output matches: Application tracker</a:t>
            </a:r>
            <a:br/>
            <a:r>
              <a:t>4. Skill checkpoint: ✓ 2 repos · mock interview done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46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12 ·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47 — STAR stories ×5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Stories reviewed aloud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interview-kit.md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CV, demo video, STAR stories, apply.</a:t>
            </a:r>
            <a:br/>
            <a:br/>
            <a:r>
              <a:t>Phase tip: Quantify impact in VND or bps — hiring managers need numbers.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47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14: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47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interview-kit.md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cv-cover-letter.md · interview-kit.md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5-min demo · 5 STAR stories.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47 · 2/3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47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learning-lab/exercises/week47_star_stories.md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Write 5 STAR stories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`learning-lab/exercises/week47_star_stories.md` in Cursor</a:t>
            </a:r>
            <a:br/>
            <a:r>
              <a:t>2. Run: `Write 5 STAR stories`</a:t>
            </a:r>
            <a:br/>
            <a:r>
              <a:t>3. Output matches: Stories reviewed aloud</a:t>
            </a:r>
            <a:br/>
            <a:r>
              <a:t>4. Skill checkpoint: ✓ 2 repos · mock interview done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47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12 ·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48 — Mock interview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Feedback notes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interview-kit.md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CV, demo video, STAR stories, apply.</a:t>
            </a:r>
            <a:br/>
            <a:br/>
            <a:r>
              <a:t>Phase tip: Quantify impact in VND or bps — hiring managers need numbers.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480560"/>
            <a:ext cx="11155680" cy="502920"/>
          </a:xfrm>
          <a:prstGeom prst="roundRect">
            <a:avLst/>
          </a:prstGeom>
          <a:solidFill>
            <a:srgbClr val="E8E6DC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9943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Checkpoint CP6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48 · 1/3</a:t>
            </a:r>
          </a:p>
        </p:txBody>
      </p:sp>
      <p:sp>
        <p:nvSpPr>
          <p:cNvPr id="20" name="Rounded Rectangle 19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2" name="Rounded Rectangle 21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14: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48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interview-kit.md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cv-cover-letter.md · interview-kit.md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5-min demo · 5 STAR stories.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48 · 2/3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48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learning-lab/exercises/week47_star_stories.md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45-min mock with peer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`learning-lab/exercises/week47_star_stories.md` in Cursor</a:t>
            </a:r>
            <a:br/>
            <a:r>
              <a:t>2. Run: `45-min mock with peer`</a:t>
            </a:r>
            <a:br/>
            <a:r>
              <a:t>3. Output matches: Feedback notes</a:t>
            </a:r>
            <a:br/>
            <a:r>
              <a:t>4. Skill checkpoint: ✓ 2 repos · mock interview done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48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13 ·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49 — Demo video 5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Video link in README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Record Loom / OBS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CV, demo video, STAR stories, apply.</a:t>
            </a:r>
            <a:br/>
            <a:br/>
            <a:r>
              <a:t>Phase tip: Quantify impact in VND or bps — hiring managers need numbers.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49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152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14: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49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Record Loom / OBS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cv-cover-letter.md · interview-kit.md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5-min demo · 5 STAR stories.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49 · 2/3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49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learning-lab/projects/PORTFOLIO.md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English demo of copilot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`learning-lab/projects/PORTFOLIO.md` in Cursor</a:t>
            </a:r>
            <a:br/>
            <a:r>
              <a:t>2. Run: `English demo of copilot`</a:t>
            </a:r>
            <a:br/>
            <a:r>
              <a:t>3. Output matches: Video link in README</a:t>
            </a:r>
            <a:br/>
            <a:r>
              <a:t>4. Skill checkpoint: ✓ 2 repos · mock interview done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49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13 ·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50 — Anthropic stretch research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Gap 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anthropic-career-adaptation.md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CV, demo video, STAR stories, apply.</a:t>
            </a:r>
            <a:br/>
            <a:br/>
            <a:r>
              <a:t>Phase tip: Quantify impact in VND or bps — hiring managers need numbers.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50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155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14: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50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anthropic-career-adaptation.md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cv-cover-letter.md · interview-kit.md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5-min demo · 5 STAR stories.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50 · 2/3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156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50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ai-factory/anthropic-career-adaptation.md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Map skills to Claude roles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`ai-factory/anthropic-career-adaptation.md` in Cursor</a:t>
            </a:r>
            <a:br/>
            <a:r>
              <a:t>2. Run: `Map skills to Claude roles`</a:t>
            </a:r>
            <a:br/>
            <a:r>
              <a:t>3. Output matches: Gap list</a:t>
            </a:r>
            <a:br/>
            <a:r>
              <a:t>4. Skill checkpoint: ✓ 2 repos · mock interview done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50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157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13 ·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51 — Review weak weeks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All CP0–CP6 passed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Re-run failed checkpoints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CV, demo video, STAR stories, apply.</a:t>
            </a:r>
            <a:br/>
            <a:br/>
            <a:r>
              <a:t>Phase tip: Quantify impact in VND or bps — hiring managers need numbers.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51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158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14: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51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Re-run failed checkpoints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cv-cover-letter.md · interview-kit.md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5-min demo · 5 STAR stories.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51 · 2/3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159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51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learning-data.json + workbook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Fix lowest eval score week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`learning-data.json + workbook` in Cursor</a:t>
            </a:r>
            <a:br/>
            <a:r>
              <a:t>2. Run: `Fix lowest eval score week`</a:t>
            </a:r>
            <a:br/>
            <a:r>
              <a:t>3. Output matches: All CP0–CP6 passed</a:t>
            </a:r>
            <a:br/>
            <a:r>
              <a:t>4. Skill checkpoint: ✓ 2 repos · mock interview done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51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13 ·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52 — Graduation checklist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Hire-ready checklist 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ai-skills-workbook.md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CV, demo video, STAR stories, apply.</a:t>
            </a:r>
            <a:br/>
            <a:br/>
            <a:r>
              <a:t>Phase tip: Quantify impact in VND or bps — hiring managers need numbers.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52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161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14: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52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ai-skills-workbook.md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cv-cover-letter.md · interview-kit.md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5-min demo · 5 STAR stories.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52 · 2/3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162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52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learning-lab/WEEKS.md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Verify 2 repos + CV + apply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`learning-lab/WEEKS.md` in Cursor</a:t>
            </a:r>
            <a:br/>
            <a:r>
              <a:t>2. Run: `Verify 2 repos + CV + apply`</a:t>
            </a:r>
            <a:br/>
            <a:r>
              <a:t>3. Output matches: Hire-ready checklist ✓</a:t>
            </a:r>
            <a:br/>
            <a:r>
              <a:t>4. Skill checkpoint: ✓ 2 repos · mock interview done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52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163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PASS BEFORE ACCELERATING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Checkpoints — do not skip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737360"/>
            <a:ext cx="105156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47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CP0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828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After week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828800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Write 50-line script without googling every 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395728"/>
            <a:ext cx="105156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505456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CP1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48716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After week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487168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SQL JOIN + pandas groupby without tutorial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054096"/>
            <a:ext cx="105156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163824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CP2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145536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After week 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145536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Train model, report AUC, explain one prediction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712464"/>
            <a:ext cx="105156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82219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CP3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3803904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After week 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803904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RAG cites source chunk in answer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370831"/>
            <a:ext cx="105156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480559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CP4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4462271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After week 32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462271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LangGraph agent + 30-question eval ≥85%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5029200"/>
            <a:ext cx="105156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13892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CP5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512064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After week 40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5120640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Friend runs your Docker API on their laptop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5687568"/>
            <a:ext cx="105156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5797296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CP6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0" y="577900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After week 48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5779008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30-min interview: business metric + tech stack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Master  ·  3 slides/week  ·  Click W## to jump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164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