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fastapi.tiangolo.com/tutorial/" TargetMode="External"/><Relationship Id="rId3" Type="http://schemas.openxmlformats.org/officeDocument/2006/relationships/slide" Target="slide1.xml"/><Relationship Id="rId4" Type="http://schemas.openxmlformats.org/officeDocument/2006/relationships/slide" Target="slide2.xml"/><Relationship Id="rId5" Type="http://schemas.openxmlformats.org/officeDocument/2006/relationships/slide" Target="slide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slide" Target="slide1.xml"/><Relationship Id="rId3" Type="http://schemas.openxmlformats.org/officeDocument/2006/relationships/slide" Target="slide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51960"/>
            <a:ext cx="12191695" cy="7315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10378440" y="685800"/>
            <a:ext cx="320040" cy="320040"/>
          </a:xfrm>
          <a:prstGeom prst="ellipse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972800" y="685800"/>
            <a:ext cx="320040" cy="320040"/>
          </a:xfrm>
          <a:prstGeom prst="ellipse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10378440" y="1280160"/>
            <a:ext cx="320040" cy="320040"/>
          </a:xfrm>
          <a:prstGeom prst="ellipse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22960" y="1965960"/>
            <a:ext cx="100584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300" b="1">
                <a:solidFill>
                  <a:srgbClr val="D97757"/>
                </a:solidFill>
                <a:latin typeface="Lora"/>
              </a:defRPr>
            </a:pPr>
            <a:r>
              <a:t>WEEK 36 · MONTH 9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2377440"/>
            <a:ext cx="10515600" cy="11887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4400" b="1">
                <a:solidFill>
                  <a:srgbClr val="FAF9F5"/>
                </a:solidFill>
                <a:latin typeface="Poppins"/>
              </a:defRPr>
            </a:pPr>
            <a:r>
              <a:t>docker compose up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22960" y="3703320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Production API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22960" y="4178808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Healthcheck passes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60" y="4654296"/>
            <a:ext cx="10515600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600" b="0">
                <a:solidFill>
                  <a:srgbClr val="B0AEA5"/>
                </a:solidFill>
                <a:latin typeface="Lora"/>
              </a:defRPr>
            </a:pPr>
            <a:r>
              <a:t>Exercise: learning-lab/projects/week35_docker/docker-compose.yml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MONTH 9 · PRODUCTION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36 — docker compose up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00200"/>
            <a:ext cx="11155680" cy="502920"/>
          </a:xfrm>
          <a:prstGeom prst="roundRect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40080" y="1709928"/>
            <a:ext cx="1078992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200" b="1">
                <a:solidFill>
                  <a:srgbClr val="FAF9F5"/>
                </a:solidFill>
                <a:latin typeface="Lora"/>
              </a:defRPr>
            </a:pPr>
            <a:r>
              <a:t>Deliverable: Healthcheck passes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02920" y="2286000"/>
            <a:ext cx="539496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502920" y="2286000"/>
            <a:ext cx="5394960" cy="347472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40080" y="2350008"/>
            <a:ext cx="512064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THIS WEEK YOU WILL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2743200"/>
            <a:ext cx="512064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• docker-compose reference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080760" y="2286000"/>
            <a:ext cx="5577840" cy="20116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6080760" y="2286000"/>
            <a:ext cx="557784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17920" y="2350008"/>
            <a:ext cx="53035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SKILL CONTEXT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217920" y="2743200"/>
            <a:ext cx="5303520" cy="1417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FastAPI, Docker, health checks.</a:t>
            </a:r>
            <a:br/>
            <a:br/>
            <a:r>
              <a:t>Phase tip: If a friend cannot curl your API, it is not done.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36 · 1/3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SKILL 11: PRODUCTION API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36 — Study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3258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BCD1C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READ &amp; WATCH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0">
                <a:solidFill>
                  <a:srgbClr val="141413"/>
                </a:solidFill>
                <a:latin typeface="Lora"/>
              </a:defRPr>
            </a:pPr>
            <a:r>
              <a:t>docker-compose reference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50292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tangle 11"/>
          <p:cNvSpPr/>
          <p:nvPr/>
        </p:nvSpPr>
        <p:spPr>
          <a:xfrm>
            <a:off x="502920" y="3108960"/>
            <a:ext cx="5486400" cy="320040"/>
          </a:xfrm>
          <a:prstGeom prst="rect">
            <a:avLst/>
          </a:prstGeom>
          <a:solidFill>
            <a:srgbClr val="788C5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SOURCES (skill)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008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★ FastAPI tutorial · Docker get-started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172200" y="3108960"/>
            <a:ext cx="5486400" cy="14173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172200" y="3108960"/>
            <a:ext cx="5486400" cy="320040"/>
          </a:xfrm>
          <a:prstGeom prst="rect">
            <a:avLst/>
          </a:prstGeom>
          <a:solidFill>
            <a:srgbClr val="C4668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09360" y="3172968"/>
            <a:ext cx="52120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PRACTICE HABIT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09360" y="3538728"/>
            <a:ext cx="5212080" cy="868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POST /ask → JSON; docker compose up.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46634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Click resources: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56048"/>
            <a:ext cx="5486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000">
                <a:solidFill>
                  <a:srgbClr val="B0AEA5"/>
                </a:solidFill>
                <a:hlinkClick r:id="rId2"/>
              </a:rPr>
              <a:t>FastAPI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36 · 2/3</a:t>
            </a:r>
          </a:p>
        </p:txBody>
      </p:sp>
      <p:sp>
        <p:nvSpPr>
          <p:cNvPr id="22" name="Rounded Rectangle 21">
            <a:hlinkClick action="ppaction://hlinksldjump" r:id="rId4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4" name="Rounded Rectangle 23">
            <a:hlinkClick action="ppaction://hlinksldjump" r:id="rId5"/>
          </p:cNvPr>
          <p:cNvSpPr/>
          <p:nvPr/>
        </p:nvSpPr>
        <p:spPr>
          <a:xfrm>
            <a:off x="8183879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22960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Next →</a:t>
            </a:r>
          </a:p>
        </p:txBody>
      </p:sp>
      <p:sp>
        <p:nvSpPr>
          <p:cNvPr id="26" name="Rounded Rectangle 25">
            <a:hlinkClick action="ppaction://hlinksldjump" r:id="rId3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AF9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051560"/>
          </a:xfrm>
          <a:prstGeom prst="rect">
            <a:avLst/>
          </a:prstGeom>
          <a:solidFill>
            <a:srgbClr val="14141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051560"/>
            <a:ext cx="12191695" cy="54864"/>
          </a:xfrm>
          <a:prstGeom prst="rect">
            <a:avLst/>
          </a:prstGeom>
          <a:solidFill>
            <a:srgbClr val="D9775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46304"/>
            <a:ext cx="1115568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100" b="1">
                <a:solidFill>
                  <a:srgbClr val="D97757"/>
                </a:solidFill>
                <a:latin typeface="Lora"/>
              </a:defRPr>
            </a:pPr>
            <a:r>
              <a:t>EXERCISE · RUN · PROVE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384048"/>
            <a:ext cx="1115568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2300" b="1">
                <a:solidFill>
                  <a:srgbClr val="FAF9F5"/>
                </a:solidFill>
                <a:latin typeface="Poppins"/>
              </a:defRPr>
            </a:pPr>
            <a:r>
              <a:t>Week 36 — Lab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" y="1645920"/>
            <a:ext cx="11155680" cy="1051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02920" y="1645920"/>
            <a:ext cx="11155680" cy="347472"/>
          </a:xfrm>
          <a:prstGeom prst="rect">
            <a:avLst/>
          </a:prstGeom>
          <a:solidFill>
            <a:srgbClr val="6A9BC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709928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FAF9F5"/>
                </a:solidFill>
                <a:latin typeface="Lora"/>
              </a:defRPr>
            </a:pPr>
            <a:r>
              <a:t>EXERCISE FILE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075688"/>
            <a:ext cx="1078992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learning-lab/projects/week35_docker/docker-compose.yml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02920" y="2834640"/>
            <a:ext cx="1115568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1">
                <a:solidFill>
                  <a:srgbClr val="141413"/>
                </a:solidFill>
                <a:latin typeface="Lora"/>
              </a:defRPr>
            </a:pPr>
            <a:r>
              <a:t>Run command: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502920" y="3108960"/>
            <a:ext cx="11155680" cy="68580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" y="3218688"/>
            <a:ext cx="10881359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1000" b="0">
                <a:solidFill>
                  <a:srgbClr val="141413"/>
                </a:solidFill>
                <a:latin typeface="Lora"/>
              </a:defRPr>
            </a:pPr>
            <a:r>
              <a:t>docker compose up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2920" y="3931920"/>
            <a:ext cx="11155680" cy="960120"/>
          </a:xfrm>
          <a:prstGeom prst="roundRect">
            <a:avLst/>
          </a:prstGeom>
          <a:solidFill>
            <a:srgbClr val="FFFFFF"/>
          </a:solidFill>
          <a:ln w="25400">
            <a:solidFill>
              <a:srgbClr val="BCD1CA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40080" y="4050791"/>
            <a:ext cx="10789920" cy="256032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1">
                <a:solidFill>
                  <a:srgbClr val="BCD1CA"/>
                </a:solidFill>
                <a:latin typeface="Lora"/>
              </a:defRPr>
            </a:pPr>
            <a:r>
              <a:t>DONE WHEN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40080" y="4361688"/>
            <a:ext cx="10789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50" b="0">
                <a:solidFill>
                  <a:srgbClr val="141413"/>
                </a:solidFill>
                <a:latin typeface="Lora"/>
              </a:defRPr>
            </a:pPr>
            <a:r>
              <a:t>1. Open `learning-lab/projects/week35_docker/docker-compose.yml` in Cursor</a:t>
            </a:r>
            <a:br/>
            <a:r>
              <a:t>2. Run: `docker compose up`</a:t>
            </a:r>
            <a:br/>
            <a:r>
              <a:t>3. Output matches: Healthcheck passes</a:t>
            </a:r>
            <a:br/>
            <a:r>
              <a:t>4. Skill checkpoint: ✓ curl works · another machine runs it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1527048"/>
            <a:ext cx="36576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Week 36 · 3/3</a:t>
            </a:r>
          </a:p>
        </p:txBody>
      </p:sp>
      <p:sp>
        <p:nvSpPr>
          <p:cNvPr id="18" name="Rounded Rectangle 17">
            <a:hlinkClick action="ppaction://hlinksldjump" r:id="rId3"/>
          </p:cNvPr>
          <p:cNvSpPr/>
          <p:nvPr/>
        </p:nvSpPr>
        <p:spPr>
          <a:xfrm>
            <a:off x="6858000" y="1463040"/>
            <a:ext cx="123444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903720" y="1527048"/>
            <a:ext cx="114300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800" b="1">
                <a:solidFill>
                  <a:srgbClr val="141413"/>
                </a:solidFill>
                <a:latin typeface="Lora"/>
              </a:defRPr>
            </a:pPr>
            <a:r>
              <a:t>← Prev</a:t>
            </a:r>
          </a:p>
        </p:txBody>
      </p:sp>
      <p:sp>
        <p:nvSpPr>
          <p:cNvPr id="20" name="Rounded Rectangle 19">
            <a:hlinkClick action="ppaction://hlinksldjump" r:id="rId2"/>
          </p:cNvPr>
          <p:cNvSpPr/>
          <p:nvPr/>
        </p:nvSpPr>
        <p:spPr>
          <a:xfrm>
            <a:off x="9326880" y="1463040"/>
            <a:ext cx="2286000" cy="411480"/>
          </a:xfrm>
          <a:prstGeom prst="roundRect">
            <a:avLst/>
          </a:prstGeom>
          <a:solidFill>
            <a:srgbClr val="E8E6DC"/>
          </a:solidFill>
          <a:ln w="12700">
            <a:solidFill>
              <a:srgbClr val="E8E6D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418320" y="1527048"/>
            <a:ext cx="2103120" cy="292608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defRPr sz="900" b="1">
                <a:solidFill>
                  <a:srgbClr val="141413"/>
                </a:solidFill>
                <a:latin typeface="Lora"/>
              </a:defRPr>
            </a:pPr>
            <a:r>
              <a:t>← Index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6446520"/>
            <a:ext cx="82296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defRPr sz="900" b="0">
                <a:solidFill>
                  <a:srgbClr val="5E5D59"/>
                </a:solidFill>
                <a:latin typeface="Lora"/>
              </a:defRPr>
            </a:pPr>
            <a:r>
              <a:t>Learning  ·  learning_data.py  ·  Anthropic theme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789920" y="6446520"/>
            <a:ext cx="9144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defRPr sz="900" b="1">
                <a:solidFill>
                  <a:srgbClr val="5E5D59"/>
                </a:solidFill>
                <a:latin typeface="Lora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