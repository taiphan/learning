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251960"/>
            <a:ext cx="12191695" cy="7315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378440" y="685800"/>
            <a:ext cx="320040" cy="32004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972800" y="685800"/>
            <a:ext cx="320040" cy="320040"/>
          </a:xfrm>
          <a:prstGeom prst="ellipse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78440" y="1280160"/>
            <a:ext cx="320040" cy="320040"/>
          </a:xfrm>
          <a:prstGeom prst="ellipse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6596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D97757"/>
                </a:solidFill>
                <a:latin typeface="Lora"/>
              </a:defRPr>
            </a:pPr>
            <a:r>
              <a:t>LEARNING ROADMAP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77440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400" b="1">
                <a:solidFill>
                  <a:srgbClr val="FAF9F5"/>
                </a:solidFill>
                <a:latin typeface="Poppins"/>
              </a:defRPr>
            </a:pPr>
            <a:r>
              <a:t>Zero to AI Expert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703320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B0AEA5"/>
                </a:solidFill>
                <a:latin typeface="Lora"/>
              </a:defRPr>
            </a:pPr>
            <a:r>
              <a:t>Banking domain · Start from zero Python · 12-month plan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178808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B0AEA5"/>
                </a:solidFill>
                <a:latin typeface="Lora"/>
              </a:defRPr>
            </a:pPr>
            <a:r>
              <a:t>10 hrs/week → job-ready · 15 hrs/week → ~9 months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STARTING POINT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Where you are → where you're going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0867" y="1737360"/>
            <a:ext cx="534924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0867" y="1737360"/>
            <a:ext cx="109728" cy="2377440"/>
          </a:xfrm>
          <a:prstGeom prst="round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9467" y="1901952"/>
            <a:ext cx="4983479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400" b="1">
                <a:solidFill>
                  <a:srgbClr val="D97757"/>
                </a:solidFill>
                <a:latin typeface="Poppins"/>
              </a:defRPr>
            </a:pPr>
            <a:r>
              <a:t>YOU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6899" y="2743200"/>
            <a:ext cx="493775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41413"/>
                </a:solidFill>
                <a:latin typeface="Poppins"/>
              </a:defRPr>
            </a:pPr>
            <a:r>
              <a:t>Today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6899" y="3127248"/>
            <a:ext cx="4937759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5E5D59"/>
                </a:solidFill>
                <a:latin typeface="Lora"/>
              </a:defRPr>
            </a:pPr>
            <a:r>
              <a:t>Banking domain · BRD/UAT · compliance mindset · Python = 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1587" y="1737360"/>
            <a:ext cx="534924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01587" y="1737360"/>
            <a:ext cx="109728" cy="2377440"/>
          </a:xfrm>
          <a:prstGeom prst="round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0187" y="1901952"/>
            <a:ext cx="4983479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400" b="1">
                <a:solidFill>
                  <a:srgbClr val="788C5D"/>
                </a:solidFill>
                <a:latin typeface="Poppins"/>
              </a:defRPr>
            </a:pPr>
            <a:r>
              <a:t>HIRE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57619" y="2743200"/>
            <a:ext cx="493775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41413"/>
                </a:solidFill>
                <a:latin typeface="Poppins"/>
              </a:defRPr>
            </a:pPr>
            <a:r>
              <a:t>Month 12 target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57619" y="3127248"/>
            <a:ext cx="4937759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5E5D59"/>
                </a:solidFill>
                <a:latin typeface="Lora"/>
              </a:defRPr>
            </a:pPr>
            <a:r>
              <a:t>2 banking AI projects · LangGraph copilot · ML model · GitHub portfolio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343400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141413"/>
                </a:solidFill>
                <a:latin typeface="Lora"/>
              </a:defRPr>
            </a:pPr>
            <a:r>
              <a:t>Expert in industry = job-ready portfolio + 2–3 yrs production — domain saves you ~1 year of "what problem?"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937760"/>
            <a:ext cx="111556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>
                <a:solidFill>
                  <a:srgbClr val="5E5D59"/>
                </a:solidFill>
                <a:latin typeface="Lora"/>
              </a:defRPr>
            </a:pPr>
            <a:r>
              <a:t>Learn every phase through banking exercises — never abstract-only tutorials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Zero to AI Expert  ·  Banking domain path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AT 10 HOURS PER WEEK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12-month master timeline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3657600"/>
            <a:ext cx="10515600" cy="54864"/>
          </a:xfrm>
          <a:prstGeom prst="rect">
            <a:avLst/>
          </a:prstGeom>
          <a:solidFill>
            <a:srgbClr val="B0A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2423160"/>
            <a:ext cx="822960" cy="1051560"/>
          </a:xfrm>
          <a:prstGeom prst="round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6072" y="2496312"/>
            <a:ext cx="67665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AF9F5"/>
                </a:solidFill>
                <a:latin typeface="Lora"/>
              </a:defRPr>
            </a:pPr>
            <a:r>
              <a:t>M1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" y="2807208"/>
            <a:ext cx="676656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AF9F5"/>
                </a:solidFill>
                <a:latin typeface="Lora"/>
              </a:defRPr>
            </a:pPr>
            <a:r>
              <a:t>Python</a:t>
            </a:r>
            <a:br/>
            <a:r>
              <a:t>+ Git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17320" y="2423160"/>
            <a:ext cx="822960" cy="1051560"/>
          </a:xfrm>
          <a:prstGeom prst="roundRect">
            <a:avLst/>
          </a:prstGeom>
          <a:solidFill>
            <a:srgbClr val="BCD1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90472" y="2496312"/>
            <a:ext cx="67665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AF9F5"/>
                </a:solidFill>
                <a:latin typeface="Lora"/>
              </a:defRPr>
            </a:pPr>
            <a:r>
              <a:t>M2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90472" y="2807208"/>
            <a:ext cx="676656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AF9F5"/>
                </a:solidFill>
                <a:latin typeface="Lora"/>
              </a:defRPr>
            </a:pPr>
            <a:r>
              <a:t>SQL</a:t>
            </a:r>
            <a:br/>
            <a:r>
              <a:t>+ pandas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331720" y="2423160"/>
            <a:ext cx="1645920" cy="1051560"/>
          </a:xfrm>
          <a:prstGeom prst="round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04872" y="2496312"/>
            <a:ext cx="149961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AF9F5"/>
                </a:solidFill>
                <a:latin typeface="Lora"/>
              </a:defRPr>
            </a:pPr>
            <a:r>
              <a:t>M3–4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04872" y="2807208"/>
            <a:ext cx="1499616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AF9F5"/>
                </a:solidFill>
                <a:latin typeface="Lora"/>
              </a:defRPr>
            </a:pPr>
            <a:r>
              <a:t>Classical</a:t>
            </a:r>
            <a:br/>
            <a:r>
              <a:t>ML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069080" y="2423160"/>
            <a:ext cx="1645920" cy="1051560"/>
          </a:xfrm>
          <a:prstGeom prst="round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42232" y="2496312"/>
            <a:ext cx="149961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AF9F5"/>
                </a:solidFill>
                <a:latin typeface="Lora"/>
              </a:defRPr>
            </a:pPr>
            <a:r>
              <a:t>M5–6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42232" y="2807208"/>
            <a:ext cx="1499616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AF9F5"/>
                </a:solidFill>
                <a:latin typeface="Lora"/>
              </a:defRPr>
            </a:pPr>
            <a:r>
              <a:t>NLP</a:t>
            </a:r>
            <a:br/>
            <a:r>
              <a:t>+ docs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806440" y="2423160"/>
            <a:ext cx="1645920" cy="1051560"/>
          </a:xfrm>
          <a:prstGeom prst="round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79592" y="2496312"/>
            <a:ext cx="149961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AF9F5"/>
                </a:solidFill>
                <a:latin typeface="Lora"/>
              </a:defRPr>
            </a:pPr>
            <a:r>
              <a:t>M7–8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79592" y="2807208"/>
            <a:ext cx="1499616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AF9F5"/>
                </a:solidFill>
                <a:latin typeface="Lora"/>
              </a:defRPr>
            </a:pPr>
            <a:r>
              <a:t>RAG</a:t>
            </a:r>
            <a:br/>
            <a:r>
              <a:t>+ LangGraph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543800" y="2423160"/>
            <a:ext cx="1645920" cy="1051560"/>
          </a:xfrm>
          <a:prstGeom prst="round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16952" y="2496312"/>
            <a:ext cx="149961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AF9F5"/>
                </a:solidFill>
                <a:latin typeface="Lora"/>
              </a:defRPr>
            </a:pPr>
            <a:r>
              <a:t>M9–10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16952" y="2807208"/>
            <a:ext cx="1499616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AF9F5"/>
                </a:solidFill>
                <a:latin typeface="Lora"/>
              </a:defRPr>
            </a:pPr>
            <a:r>
              <a:t>FastAPI</a:t>
            </a:r>
            <a:br/>
            <a:r>
              <a:t>+ Docker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281160" y="2423160"/>
            <a:ext cx="1645920" cy="1051560"/>
          </a:xfrm>
          <a:prstGeom prst="round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54312" y="2496312"/>
            <a:ext cx="149961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AF9F5"/>
                </a:solidFill>
                <a:latin typeface="Lora"/>
              </a:defRPr>
            </a:pPr>
            <a:r>
              <a:t>M11–12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54312" y="2807208"/>
            <a:ext cx="1499616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AF9F5"/>
                </a:solidFill>
                <a:latin typeface="Lora"/>
              </a:defRPr>
            </a:pPr>
            <a:r>
              <a:t>Portfolio</a:t>
            </a:r>
            <a:br/>
            <a:r>
              <a:t>+ apply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3840480"/>
            <a:ext cx="150222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141413"/>
                </a:solidFill>
                <a:latin typeface="Lora"/>
              </a:defRPr>
            </a:pPr>
            <a:r>
              <a:t>BRD scorer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05148" y="3840480"/>
            <a:ext cx="150222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141413"/>
                </a:solidFill>
                <a:latin typeface="Lora"/>
              </a:defRPr>
            </a:pPr>
            <a:r>
              <a:t>KPI SQL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07377" y="3840480"/>
            <a:ext cx="150222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141413"/>
                </a:solidFill>
                <a:latin typeface="Lora"/>
              </a:defRPr>
            </a:pPr>
            <a:r>
              <a:t>PD model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09605" y="3840480"/>
            <a:ext cx="150222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141413"/>
                </a:solidFill>
                <a:latin typeface="Lora"/>
              </a:defRPr>
            </a:pPr>
            <a:r>
              <a:t>Doc classifier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11834" y="3840480"/>
            <a:ext cx="150222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141413"/>
                </a:solidFill>
                <a:latin typeface="Lora"/>
              </a:defRPr>
            </a:pPr>
            <a:r>
              <a:t>Policy copilot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14062" y="3840480"/>
            <a:ext cx="150222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141413"/>
                </a:solidFill>
                <a:latin typeface="Lora"/>
              </a:defRPr>
            </a:pPr>
            <a:r>
              <a:t>API + eval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16291" y="3840480"/>
            <a:ext cx="150222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141413"/>
                </a:solidFill>
                <a:latin typeface="Lora"/>
              </a:defRPr>
            </a:pPr>
            <a:r>
              <a:t>Job apps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Zero to AI Expert  ·  Banking domain path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FOUNDATION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Phase 0–1 · Python &amp; data (Months 1–3)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0867" y="1737360"/>
            <a:ext cx="260604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0867" y="1737360"/>
            <a:ext cx="109728" cy="1417320"/>
          </a:xfrm>
          <a:prstGeom prst="round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6899" y="1901952"/>
            <a:ext cx="2194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41413"/>
                </a:solidFill>
                <a:latin typeface="Poppins"/>
              </a:defRPr>
            </a:pPr>
            <a:r>
              <a:t>Python syntax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6899" y="2286000"/>
            <a:ext cx="2194560" cy="7955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5E5D59"/>
                </a:solidFill>
                <a:latin typeface="Lora"/>
              </a:defRPr>
            </a:pPr>
            <a:r>
              <a:t>Variables · loops · functions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75507" y="1737360"/>
            <a:ext cx="260604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375507" y="1737360"/>
            <a:ext cx="109728" cy="1417320"/>
          </a:xfrm>
          <a:prstGeom prst="roundRect">
            <a:avLst/>
          </a:prstGeom>
          <a:solidFill>
            <a:srgbClr val="BCD1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31539" y="1901952"/>
            <a:ext cx="2194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41413"/>
                </a:solidFill>
                <a:latin typeface="Poppins"/>
              </a:defRPr>
            </a:pPr>
            <a:r>
              <a:t>Git + GitHub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1539" y="2286000"/>
            <a:ext cx="2194560" cy="7955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5E5D59"/>
                </a:solidFill>
                <a:latin typeface="Lora"/>
              </a:defRPr>
            </a:pPr>
            <a:r>
              <a:t>Commit every week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0147" y="1737360"/>
            <a:ext cx="260604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10147" y="1737360"/>
            <a:ext cx="109728" cy="1417320"/>
          </a:xfrm>
          <a:prstGeom prst="round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66179" y="1901952"/>
            <a:ext cx="2194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41413"/>
                </a:solidFill>
                <a:latin typeface="Poppins"/>
              </a:defRPr>
            </a:pPr>
            <a:r>
              <a:t>SQL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66179" y="2286000"/>
            <a:ext cx="2194560" cy="7955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5E5D59"/>
                </a:solidFill>
                <a:latin typeface="Lora"/>
              </a:defRPr>
            </a:pPr>
            <a:r>
              <a:t>JOIN · GROUP BY · windows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44787" y="1737360"/>
            <a:ext cx="260604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044787" y="1737360"/>
            <a:ext cx="109728" cy="1417320"/>
          </a:xfrm>
          <a:prstGeom prst="round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00819" y="1901952"/>
            <a:ext cx="2194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41413"/>
                </a:solidFill>
                <a:latin typeface="Poppins"/>
              </a:defRPr>
            </a:pPr>
            <a:r>
              <a:t>pandas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00819" y="2286000"/>
            <a:ext cx="2194560" cy="7955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5E5D59"/>
                </a:solidFill>
                <a:latin typeface="Lora"/>
              </a:defRPr>
            </a:pPr>
            <a:r>
              <a:t>CSV · groupby · plots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0867" y="3410712"/>
            <a:ext cx="260604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40867" y="3410712"/>
            <a:ext cx="109728" cy="1417320"/>
          </a:xfrm>
          <a:prstGeom prst="round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6899" y="3575304"/>
            <a:ext cx="2194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41413"/>
                </a:solidFill>
                <a:latin typeface="Poppins"/>
              </a:defRPr>
            </a:pPr>
            <a:r>
              <a:t>Deliverable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6899" y="3959352"/>
            <a:ext cx="2194560" cy="7955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5E5D59"/>
                </a:solidFill>
                <a:latin typeface="Lora"/>
              </a:defRPr>
            </a:pPr>
            <a:r>
              <a:t>BRD scorer + KPI queries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375507" y="3410712"/>
            <a:ext cx="260604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3375507" y="3410712"/>
            <a:ext cx="109728" cy="1417320"/>
          </a:xfrm>
          <a:prstGeom prst="round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31539" y="3575304"/>
            <a:ext cx="2194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41413"/>
                </a:solidFill>
                <a:latin typeface="Poppins"/>
              </a:defRPr>
            </a:pPr>
            <a:r>
              <a:t>Resources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31539" y="3959352"/>
            <a:ext cx="2194560" cy="7955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5E5D59"/>
                </a:solidFill>
                <a:latin typeface="Lora"/>
              </a:defRPr>
            </a:pPr>
            <a:r>
              <a:t>Python.org · SQLBolt · Kaggle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Zero to AI Expert  ·  Banking domain path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CLASSICAL ML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Phase 2 · Machine learning (Months 4–5)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0867" y="1737360"/>
            <a:ext cx="260604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0867" y="1737360"/>
            <a:ext cx="109728" cy="1417320"/>
          </a:xfrm>
          <a:prstGeom prst="round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6899" y="1901952"/>
            <a:ext cx="2194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41413"/>
                </a:solidFill>
                <a:latin typeface="Poppins"/>
              </a:defRPr>
            </a:pPr>
            <a:r>
              <a:t>scikit-learn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6899" y="2286000"/>
            <a:ext cx="2194560" cy="7955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5E5D59"/>
                </a:solidFill>
                <a:latin typeface="Lora"/>
              </a:defRPr>
            </a:pPr>
            <a:r>
              <a:t>Logistic · trees · RF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75507" y="1737360"/>
            <a:ext cx="260604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375507" y="1737360"/>
            <a:ext cx="109728" cy="1417320"/>
          </a:xfrm>
          <a:prstGeom prst="round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31539" y="1901952"/>
            <a:ext cx="2194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41413"/>
                </a:solidFill>
                <a:latin typeface="Poppins"/>
              </a:defRPr>
            </a:pPr>
            <a:r>
              <a:t>XGBoost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1539" y="2286000"/>
            <a:ext cx="2194560" cy="7955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5E5D59"/>
                </a:solidFill>
                <a:latin typeface="Lora"/>
              </a:defRPr>
            </a:pPr>
            <a:r>
              <a:t>Credit PD model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0147" y="1737360"/>
            <a:ext cx="260604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10147" y="1737360"/>
            <a:ext cx="109728" cy="1417320"/>
          </a:xfrm>
          <a:prstGeom prst="roundRect">
            <a:avLst/>
          </a:prstGeom>
          <a:solidFill>
            <a:srgbClr val="BCD1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66179" y="1901952"/>
            <a:ext cx="2194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41413"/>
                </a:solidFill>
                <a:latin typeface="Poppins"/>
              </a:defRPr>
            </a:pPr>
            <a:r>
              <a:t>Metrics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66179" y="2286000"/>
            <a:ext cx="2194560" cy="7955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5E5D59"/>
                </a:solidFill>
                <a:latin typeface="Lora"/>
              </a:defRPr>
            </a:pPr>
            <a:r>
              <a:t>AUC · KS · calibration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44787" y="1737360"/>
            <a:ext cx="260604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044787" y="1737360"/>
            <a:ext cx="109728" cy="1417320"/>
          </a:xfrm>
          <a:prstGeom prst="round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00819" y="1901952"/>
            <a:ext cx="2194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41413"/>
                </a:solidFill>
                <a:latin typeface="Poppins"/>
              </a:defRPr>
            </a:pPr>
            <a:r>
              <a:t>SHAP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00819" y="2286000"/>
            <a:ext cx="2194560" cy="7955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5E5D59"/>
                </a:solidFill>
                <a:latin typeface="Lora"/>
              </a:defRPr>
            </a:pPr>
            <a:r>
              <a:t>Explain declines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0867" y="3410712"/>
            <a:ext cx="260604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40867" y="3410712"/>
            <a:ext cx="109728" cy="1417320"/>
          </a:xfrm>
          <a:prstGeom prst="round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6899" y="3575304"/>
            <a:ext cx="2194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41413"/>
                </a:solidFill>
                <a:latin typeface="Poppins"/>
              </a:defRPr>
            </a:pPr>
            <a:r>
              <a:t>Deliverable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6899" y="3959352"/>
            <a:ext cx="2194560" cy="7955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5E5D59"/>
                </a:solidFill>
                <a:latin typeface="Lora"/>
              </a:defRPr>
            </a:pPr>
            <a:r>
              <a:t>credit-pd-model repo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375507" y="3410712"/>
            <a:ext cx="260604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3375507" y="3410712"/>
            <a:ext cx="109728" cy="1417320"/>
          </a:xfrm>
          <a:prstGeom prst="round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31539" y="3575304"/>
            <a:ext cx="2194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41413"/>
                </a:solidFill>
                <a:latin typeface="Poppins"/>
              </a:defRPr>
            </a:pPr>
            <a:r>
              <a:t>Domain tie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31539" y="3959352"/>
            <a:ext cx="2194560" cy="7955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5E5D59"/>
                </a:solidFill>
                <a:latin typeface="Lora"/>
              </a:defRPr>
            </a:pPr>
            <a:r>
              <a:t>BRD-style business metric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Zero to AI Expert  ·  Banking domain path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HIRE-CRITICAL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Phase 3–4 · GenAI &amp; agents (Months 6–8)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0867" y="1737360"/>
            <a:ext cx="260604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0867" y="1737360"/>
            <a:ext cx="109728" cy="1417320"/>
          </a:xfrm>
          <a:prstGeom prst="round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6899" y="1901952"/>
            <a:ext cx="2194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41413"/>
                </a:solidFill>
                <a:latin typeface="Poppins"/>
              </a:defRPr>
            </a:pPr>
            <a:r>
              <a:t>Embeddings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6899" y="2286000"/>
            <a:ext cx="2194560" cy="7955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5E5D59"/>
                </a:solidFill>
                <a:latin typeface="Lora"/>
              </a:defRPr>
            </a:pPr>
            <a:r>
              <a:t>Policy chunks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75507" y="1737360"/>
            <a:ext cx="260604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375507" y="1737360"/>
            <a:ext cx="109728" cy="1417320"/>
          </a:xfrm>
          <a:prstGeom prst="round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31539" y="1901952"/>
            <a:ext cx="2194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41413"/>
                </a:solidFill>
                <a:latin typeface="Poppins"/>
              </a:defRPr>
            </a:pPr>
            <a:r>
              <a:t>RAG pipeline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1539" y="2286000"/>
            <a:ext cx="2194560" cy="7955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5E5D59"/>
                </a:solidFill>
                <a:latin typeface="Lora"/>
              </a:defRPr>
            </a:pPr>
            <a:r>
              <a:t>Retrieve + generate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0147" y="1737360"/>
            <a:ext cx="260604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10147" y="1737360"/>
            <a:ext cx="109728" cy="1417320"/>
          </a:xfrm>
          <a:prstGeom prst="round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66179" y="1901952"/>
            <a:ext cx="2194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41413"/>
                </a:solidFill>
                <a:latin typeface="Poppins"/>
              </a:defRPr>
            </a:pPr>
            <a:r>
              <a:t>LangGraph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66179" y="2286000"/>
            <a:ext cx="2194560" cy="7955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5E5D59"/>
                </a:solidFill>
                <a:latin typeface="Lora"/>
              </a:defRPr>
            </a:pPr>
            <a:r>
              <a:t>Tools · state · escalate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44787" y="1737360"/>
            <a:ext cx="260604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044787" y="1737360"/>
            <a:ext cx="109728" cy="1417320"/>
          </a:xfrm>
          <a:prstGeom prst="round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00819" y="1901952"/>
            <a:ext cx="2194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41413"/>
                </a:solidFill>
                <a:latin typeface="Poppins"/>
              </a:defRPr>
            </a:pPr>
            <a:r>
              <a:t>Eval set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00819" y="2286000"/>
            <a:ext cx="2194560" cy="7955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5E5D59"/>
                </a:solidFill>
                <a:latin typeface="Lora"/>
              </a:defRPr>
            </a:pPr>
            <a:r>
              <a:t>20–50 golden Q&amp;A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0867" y="3410712"/>
            <a:ext cx="260604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40867" y="3410712"/>
            <a:ext cx="109728" cy="1417320"/>
          </a:xfrm>
          <a:prstGeom prst="roundRect">
            <a:avLst/>
          </a:prstGeom>
          <a:solidFill>
            <a:srgbClr val="BCD1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6899" y="3575304"/>
            <a:ext cx="2194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41413"/>
                </a:solidFill>
                <a:latin typeface="Poppins"/>
              </a:defRPr>
            </a:pPr>
            <a:r>
              <a:t>Doc classifier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6899" y="3959352"/>
            <a:ext cx="2194560" cy="7955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5E5D59"/>
                </a:solidFill>
                <a:latin typeface="Lora"/>
              </a:defRPr>
            </a:pPr>
            <a:r>
              <a:t>Loan file types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375507" y="3410712"/>
            <a:ext cx="260604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3375507" y="3410712"/>
            <a:ext cx="109728" cy="1417320"/>
          </a:xfrm>
          <a:prstGeom prst="round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31539" y="3575304"/>
            <a:ext cx="2194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41413"/>
                </a:solidFill>
                <a:latin typeface="Poppins"/>
              </a:defRPr>
            </a:pPr>
            <a:r>
              <a:t>Deliverable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31539" y="3959352"/>
            <a:ext cx="2194560" cy="7955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5E5D59"/>
                </a:solidFill>
                <a:latin typeface="Lora"/>
              </a:defRPr>
            </a:pPr>
            <a:r>
              <a:t>policy-copilot-agent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Zero to AI Expert  ·  Banking domain path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EXPERT POLISH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Phase 5–7 · Production &amp; job hunt (Months 9–12)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0867" y="1737360"/>
            <a:ext cx="260604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0867" y="1737360"/>
            <a:ext cx="109728" cy="1417320"/>
          </a:xfrm>
          <a:prstGeom prst="round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6899" y="1901952"/>
            <a:ext cx="2194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41413"/>
                </a:solidFill>
                <a:latin typeface="Poppins"/>
              </a:defRPr>
            </a:pPr>
            <a:r>
              <a:t>FastAPI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6899" y="2286000"/>
            <a:ext cx="2194560" cy="7955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5E5D59"/>
                </a:solidFill>
                <a:latin typeface="Lora"/>
              </a:defRPr>
            </a:pPr>
            <a:r>
              <a:t>REST /ask endpoint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75507" y="1737360"/>
            <a:ext cx="260604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375507" y="1737360"/>
            <a:ext cx="109728" cy="1417320"/>
          </a:xfrm>
          <a:prstGeom prst="round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31539" y="1901952"/>
            <a:ext cx="2194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41413"/>
                </a:solidFill>
                <a:latin typeface="Poppins"/>
              </a:defRPr>
            </a:pPr>
            <a:r>
              <a:t>Docker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1539" y="2286000"/>
            <a:ext cx="2194560" cy="7955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5E5D59"/>
                </a:solidFill>
                <a:latin typeface="Lora"/>
              </a:defRPr>
            </a:pPr>
            <a:r>
              <a:t>docker compose up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0147" y="1737360"/>
            <a:ext cx="260604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10147" y="1737360"/>
            <a:ext cx="109728" cy="1417320"/>
          </a:xfrm>
          <a:prstGeom prst="round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66179" y="1901952"/>
            <a:ext cx="2194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41413"/>
                </a:solidFill>
                <a:latin typeface="Poppins"/>
              </a:defRPr>
            </a:pPr>
            <a:r>
              <a:t>Guardrails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66179" y="2286000"/>
            <a:ext cx="2194560" cy="7955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5E5D59"/>
                </a:solidFill>
                <a:latin typeface="Lora"/>
              </a:defRPr>
            </a:pPr>
            <a:r>
              <a:t>PII · audit trail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44787" y="1737360"/>
            <a:ext cx="260604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044787" y="1737360"/>
            <a:ext cx="109728" cy="1417320"/>
          </a:xfrm>
          <a:prstGeom prst="round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00819" y="1901952"/>
            <a:ext cx="2194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41413"/>
                </a:solidFill>
                <a:latin typeface="Poppins"/>
              </a:defRPr>
            </a:pPr>
            <a:r>
              <a:t>Use case #2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00819" y="2286000"/>
            <a:ext cx="2194560" cy="7955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5E5D59"/>
                </a:solidFill>
                <a:latin typeface="Lora"/>
              </a:defRPr>
            </a:pPr>
            <a:r>
              <a:t>AML or NBO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0867" y="3410712"/>
            <a:ext cx="260604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40867" y="3410712"/>
            <a:ext cx="109728" cy="1417320"/>
          </a:xfrm>
          <a:prstGeom prst="roundRect">
            <a:avLst/>
          </a:prstGeom>
          <a:solidFill>
            <a:srgbClr val="BCD1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6899" y="3575304"/>
            <a:ext cx="2194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41413"/>
                </a:solidFill>
                <a:latin typeface="Poppins"/>
              </a:defRPr>
            </a:pPr>
            <a:r>
              <a:t>Portfolio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6899" y="3959352"/>
            <a:ext cx="2194560" cy="7955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5E5D59"/>
                </a:solidFill>
                <a:latin typeface="Lora"/>
              </a:defRPr>
            </a:pPr>
            <a:r>
              <a:t>GitHub + README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375507" y="3410712"/>
            <a:ext cx="260604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3375507" y="3410712"/>
            <a:ext cx="109728" cy="1417320"/>
          </a:xfrm>
          <a:prstGeom prst="round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31539" y="3575304"/>
            <a:ext cx="2194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41413"/>
                </a:solidFill>
                <a:latin typeface="Poppins"/>
              </a:defRPr>
            </a:pPr>
            <a:r>
              <a:t>Apply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31539" y="3959352"/>
            <a:ext cx="2194560" cy="7955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5E5D59"/>
                </a:solidFill>
                <a:latin typeface="Lora"/>
              </a:defRPr>
            </a:pPr>
            <a:r>
              <a:t>NAB · OCB · VPBank · Anthropic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Zero to AI Expert  ·  Banking domain path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SUSTAINABLE PACE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Weekly rhythm (10 hrs)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8007" y="1874519"/>
            <a:ext cx="16916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18007" y="1874519"/>
            <a:ext cx="1691640" cy="502920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8007" y="1947672"/>
            <a:ext cx="1691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FAF9F5"/>
                </a:solidFill>
                <a:latin typeface="Lora"/>
              </a:defRPr>
            </a:pPr>
            <a:r>
              <a:t>Mon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7735" y="2560320"/>
            <a:ext cx="147218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6A9BCC"/>
                </a:solidFill>
                <a:latin typeface="Poppins"/>
              </a:defRPr>
            </a:pPr>
            <a:r>
              <a:t>2h learn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7735" y="3017520"/>
            <a:ext cx="1472184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5E5D59"/>
                </a:solidFill>
                <a:latin typeface="Lora"/>
              </a:defRPr>
            </a:pPr>
            <a:r>
              <a:t>Course + notes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10815" y="1874519"/>
            <a:ext cx="16916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410815" y="1874519"/>
            <a:ext cx="1691640" cy="502920"/>
          </a:xfrm>
          <a:prstGeom prst="rect">
            <a:avLst/>
          </a:prstGeom>
          <a:solidFill>
            <a:srgbClr val="BCD1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410815" y="1947672"/>
            <a:ext cx="1691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FAF9F5"/>
                </a:solidFill>
                <a:latin typeface="Lora"/>
              </a:defRPr>
            </a:pPr>
            <a:r>
              <a:t>Tue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20543" y="2560320"/>
            <a:ext cx="147218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BCD1CA"/>
                </a:solidFill>
                <a:latin typeface="Poppins"/>
              </a:defRPr>
            </a:pPr>
            <a:r>
              <a:t>2h code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20543" y="3017520"/>
            <a:ext cx="1472184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5E5D59"/>
                </a:solidFill>
                <a:latin typeface="Lora"/>
              </a:defRPr>
            </a:pPr>
            <a:r>
              <a:t>Exercises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03623" y="1874519"/>
            <a:ext cx="16916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03623" y="1874519"/>
            <a:ext cx="1691640" cy="502920"/>
          </a:xfrm>
          <a:prstGeom prst="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03623" y="1947672"/>
            <a:ext cx="1691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FAF9F5"/>
                </a:solidFill>
                <a:latin typeface="Lora"/>
              </a:defRPr>
            </a:pPr>
            <a:r>
              <a:t>Wed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13351" y="2560320"/>
            <a:ext cx="147218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788C5D"/>
                </a:solidFill>
                <a:latin typeface="Poppins"/>
              </a:defRPr>
            </a:pPr>
            <a:r>
              <a:t>1h domain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13351" y="3017520"/>
            <a:ext cx="1472184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5E5D59"/>
                </a:solidFill>
                <a:latin typeface="Lora"/>
              </a:defRPr>
            </a:pPr>
            <a:r>
              <a:t>Banking exercise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96431" y="1874519"/>
            <a:ext cx="16916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96431" y="1874519"/>
            <a:ext cx="1691640" cy="502920"/>
          </a:xfrm>
          <a:prstGeom prst="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96431" y="1947672"/>
            <a:ext cx="1691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FAF9F5"/>
                </a:solidFill>
                <a:latin typeface="Lora"/>
              </a:defRPr>
            </a:pPr>
            <a:r>
              <a:t>Thu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6159" y="2560320"/>
            <a:ext cx="147218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C46686"/>
                </a:solidFill>
                <a:latin typeface="Poppins"/>
              </a:defRPr>
            </a:pPr>
            <a:r>
              <a:t>2h project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6159" y="3017520"/>
            <a:ext cx="1472184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5E5D59"/>
                </a:solidFill>
                <a:latin typeface="Lora"/>
              </a:defRPr>
            </a:pPr>
            <a:r>
              <a:t>Deliverable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89239" y="1874519"/>
            <a:ext cx="16916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89239" y="1874519"/>
            <a:ext cx="1691640" cy="5029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89239" y="1947672"/>
            <a:ext cx="1691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FAF9F5"/>
                </a:solidFill>
                <a:latin typeface="Lora"/>
              </a:defRPr>
            </a:pPr>
            <a:r>
              <a:t>Fri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98967" y="2560320"/>
            <a:ext cx="147218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D97757"/>
                </a:solidFill>
                <a:latin typeface="Poppins"/>
              </a:defRPr>
            </a:pPr>
            <a:r>
              <a:t>1h ship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98967" y="3017520"/>
            <a:ext cx="1472184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5E5D59"/>
                </a:solidFill>
                <a:latin typeface="Lora"/>
              </a:defRPr>
            </a:pPr>
            <a:r>
              <a:t>Git + README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982047" y="1874519"/>
            <a:ext cx="16916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982047" y="1874519"/>
            <a:ext cx="1691640" cy="502920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982047" y="1947672"/>
            <a:ext cx="1691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FAF9F5"/>
                </a:solidFill>
                <a:latin typeface="Lora"/>
              </a:defRPr>
            </a:pPr>
            <a:r>
              <a:t>Sat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91775" y="2560320"/>
            <a:ext cx="147218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6A9BCC"/>
                </a:solidFill>
                <a:latin typeface="Poppins"/>
              </a:defRPr>
            </a:pPr>
            <a:r>
              <a:t>2h build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91775" y="3017520"/>
            <a:ext cx="1472184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5E5D59"/>
                </a:solidFill>
                <a:latin typeface="Lora"/>
              </a:defRPr>
            </a:pPr>
            <a:r>
              <a:t>Debug / stretch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4160520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141413"/>
                </a:solidFill>
                <a:latin typeface="Lora"/>
              </a:defRPr>
            </a:pPr>
            <a:r>
              <a:t>Rule: never watch without coding the same day · Sun = rest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Zero to AI Expert  ·  Banking domain path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PROJECT 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Use banking domain as your edge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0867" y="1737360"/>
            <a:ext cx="352044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0867" y="1737360"/>
            <a:ext cx="109728" cy="1325880"/>
          </a:xfrm>
          <a:prstGeom prst="round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6899" y="1901952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41413"/>
                </a:solidFill>
                <a:latin typeface="Poppins"/>
              </a:defRPr>
            </a:pPr>
            <a:r>
              <a:t>Credit PD 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6899" y="2286000"/>
            <a:ext cx="3108960" cy="7040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5E5D59"/>
                </a:solidFill>
                <a:latin typeface="Lora"/>
              </a:defRPr>
            </a:pPr>
            <a:r>
              <a:t>Classical ML · Month 4–5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35627" y="1737360"/>
            <a:ext cx="352044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35627" y="1737360"/>
            <a:ext cx="109728" cy="1325880"/>
          </a:xfrm>
          <a:prstGeom prst="round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1659" y="1901952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41413"/>
                </a:solidFill>
                <a:latin typeface="Poppins"/>
              </a:defRPr>
            </a:pPr>
            <a:r>
              <a:t>Policy RAG copilot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1659" y="2286000"/>
            <a:ext cx="3108960" cy="7040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5E5D59"/>
                </a:solidFill>
                <a:latin typeface="Lora"/>
              </a:defRPr>
            </a:pPr>
            <a:r>
              <a:t>LangGraph · Month 7–8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0387" y="1737360"/>
            <a:ext cx="352044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30387" y="1737360"/>
            <a:ext cx="109728" cy="1325880"/>
          </a:xfrm>
          <a:prstGeom prst="round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86419" y="1901952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41413"/>
                </a:solidFill>
                <a:latin typeface="Poppins"/>
              </a:defRPr>
            </a:pPr>
            <a:r>
              <a:t>Loan doc classifier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86419" y="2286000"/>
            <a:ext cx="3108960" cy="7040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5E5D59"/>
                </a:solidFill>
                <a:latin typeface="Lora"/>
              </a:defRPr>
            </a:pPr>
            <a:r>
              <a:t>NLP · Month 6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0867" y="3337560"/>
            <a:ext cx="352044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40867" y="3337560"/>
            <a:ext cx="109728" cy="1325880"/>
          </a:xfrm>
          <a:prstGeom prst="round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6899" y="3502152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41413"/>
                </a:solidFill>
                <a:latin typeface="Poppins"/>
              </a:defRPr>
            </a:pPr>
            <a:r>
              <a:t>AML triage agent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6899" y="3886200"/>
            <a:ext cx="3108960" cy="7040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5E5D59"/>
                </a:solidFill>
                <a:latin typeface="Lora"/>
              </a:defRPr>
            </a:pPr>
            <a:r>
              <a:t>Optional · Month 11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35627" y="3337560"/>
            <a:ext cx="352044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335627" y="3337560"/>
            <a:ext cx="109728" cy="1325880"/>
          </a:xfrm>
          <a:prstGeom prst="roundRect">
            <a:avLst/>
          </a:prstGeom>
          <a:solidFill>
            <a:srgbClr val="BCD1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91659" y="3502152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41413"/>
                </a:solidFill>
                <a:latin typeface="Poppins"/>
              </a:defRPr>
            </a:pPr>
            <a:r>
              <a:t>BRD quality scorer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91659" y="3886200"/>
            <a:ext cx="3108960" cy="7040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5E5D59"/>
                </a:solidFill>
                <a:latin typeface="Lora"/>
              </a:defRPr>
            </a:pPr>
            <a:r>
              <a:t>Python · Month 1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30387" y="3337560"/>
            <a:ext cx="352044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130387" y="3337560"/>
            <a:ext cx="109728" cy="1325880"/>
          </a:xfrm>
          <a:prstGeom prst="round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86419" y="3502152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41413"/>
                </a:solidFill>
                <a:latin typeface="Poppins"/>
              </a:defRPr>
            </a:pPr>
            <a:r>
              <a:t>Lending KPI SQL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6419" y="3886200"/>
            <a:ext cx="3108960" cy="7040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5E5D59"/>
                </a:solidFill>
                <a:latin typeface="Lora"/>
              </a:defRPr>
            </a:pPr>
            <a:r>
              <a:t>SQL · Month 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Zero to AI Expert  ·  Banking domain path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SYLLABUS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What to learn — core stack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1645920"/>
            <a:ext cx="2286000" cy="658368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39" y="1645920"/>
            <a:ext cx="201168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FAF9F5"/>
                </a:solidFill>
                <a:latin typeface="Lora"/>
              </a:defRPr>
            </a:pPr>
            <a:r>
              <a:t>Month 1–2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80" y="1645920"/>
            <a:ext cx="7711135" cy="658368"/>
          </a:xfrm>
          <a:prstGeom prst="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20439" y="1645920"/>
            <a:ext cx="7528255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141413"/>
                </a:solidFill>
                <a:latin typeface="Lora"/>
              </a:defRPr>
            </a:pPr>
            <a:r>
              <a:t>Python · Git · SQL · pandas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97280" y="2432304"/>
            <a:ext cx="2286000" cy="658368"/>
          </a:xfrm>
          <a:prstGeom prst="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34439" y="2432304"/>
            <a:ext cx="201168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FAF9F5"/>
                </a:solidFill>
                <a:latin typeface="Lora"/>
              </a:defRPr>
            </a:pPr>
            <a:r>
              <a:t>Month 3–5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83280" y="2432304"/>
            <a:ext cx="7711135" cy="658368"/>
          </a:xfrm>
          <a:prstGeom prst="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20439" y="2432304"/>
            <a:ext cx="7528255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141413"/>
                </a:solidFill>
                <a:latin typeface="Lora"/>
              </a:defRPr>
            </a:pPr>
            <a:r>
              <a:t>scikit-learn · XGBoost · SHAP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97280" y="3218688"/>
            <a:ext cx="2286000" cy="658368"/>
          </a:xfrm>
          <a:prstGeom prst="rect">
            <a:avLst/>
          </a:prstGeom>
          <a:solidFill>
            <a:srgbClr val="BCD1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34439" y="3218688"/>
            <a:ext cx="201168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FAF9F5"/>
                </a:solidFill>
                <a:latin typeface="Lora"/>
              </a:defRPr>
            </a:pPr>
            <a:r>
              <a:t>Month 5–6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83280" y="3218688"/>
            <a:ext cx="7711135" cy="658368"/>
          </a:xfrm>
          <a:prstGeom prst="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20439" y="3218688"/>
            <a:ext cx="7528255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141413"/>
                </a:solidFill>
                <a:latin typeface="Lora"/>
              </a:defRPr>
            </a:pPr>
            <a:r>
              <a:t>Embeddings · vector DB · NLP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97280" y="4005072"/>
            <a:ext cx="2286000" cy="658368"/>
          </a:xfrm>
          <a:prstGeom prst="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34439" y="4005072"/>
            <a:ext cx="201168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FAF9F5"/>
                </a:solidFill>
                <a:latin typeface="Lora"/>
              </a:defRPr>
            </a:pPr>
            <a:r>
              <a:t>Month 7–8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83280" y="4005072"/>
            <a:ext cx="7711135" cy="658368"/>
          </a:xfrm>
          <a:prstGeom prst="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20439" y="4005072"/>
            <a:ext cx="7528255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141413"/>
                </a:solidFill>
                <a:latin typeface="Lora"/>
              </a:defRPr>
            </a:pPr>
            <a:r>
              <a:t>LLM · RAG · LangGraph · eval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97280" y="4791456"/>
            <a:ext cx="2286000" cy="65836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234439" y="4791456"/>
            <a:ext cx="201168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FAF9F5"/>
                </a:solidFill>
                <a:latin typeface="Lora"/>
              </a:defRPr>
            </a:pPr>
            <a:r>
              <a:t>Month 9–10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383280" y="4791456"/>
            <a:ext cx="7711135" cy="658368"/>
          </a:xfrm>
          <a:prstGeom prst="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20439" y="4791456"/>
            <a:ext cx="7528255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141413"/>
                </a:solidFill>
                <a:latin typeface="Lora"/>
              </a:defRPr>
            </a:pPr>
            <a:r>
              <a:t>FastAPI · Docker · guardrails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97280" y="5577840"/>
            <a:ext cx="2286000" cy="658368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234439" y="5577840"/>
            <a:ext cx="201168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FAF9F5"/>
                </a:solidFill>
                <a:latin typeface="Lora"/>
              </a:defRPr>
            </a:pPr>
            <a:r>
              <a:t>Always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383280" y="5577840"/>
            <a:ext cx="7711135" cy="658368"/>
          </a:xfrm>
          <a:prstGeom prst="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20439" y="5577840"/>
            <a:ext cx="7528255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141413"/>
                </a:solidFill>
                <a:latin typeface="Lora"/>
              </a:defRPr>
            </a:pPr>
            <a:r>
              <a:t>Banking metrics · governance · English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Zero to AI Expert  ·  Banking domain path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KNOW WHEN YOU'RE READY TO APPLY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Milestone checklist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5147" y="1783080"/>
            <a:ext cx="3520440" cy="1508760"/>
          </a:xfrm>
          <a:prstGeom prst="round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3747" y="1920240"/>
            <a:ext cx="3063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FAF9F5"/>
                </a:solidFill>
                <a:latin typeface="Poppins"/>
              </a:defRPr>
            </a:pPr>
            <a: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3747" y="2560320"/>
            <a:ext cx="3063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AF9F5"/>
                </a:solidFill>
                <a:latin typeface="Lora"/>
              </a:defRPr>
            </a:pPr>
            <a:r>
              <a:t>Python + SQL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3747" y="2926080"/>
            <a:ext cx="3063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B0AEA5"/>
                </a:solidFill>
                <a:latin typeface="Lora"/>
              </a:defRPr>
            </a:pPr>
            <a:r>
              <a:t>Month 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35627" y="1783080"/>
            <a:ext cx="3520440" cy="1508760"/>
          </a:xfrm>
          <a:prstGeom prst="round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64227" y="1920240"/>
            <a:ext cx="3063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FAF9F5"/>
                </a:solidFill>
                <a:latin typeface="Poppins"/>
              </a:defRPr>
            </a:pPr>
            <a: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4227" y="2560320"/>
            <a:ext cx="3063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AF9F5"/>
                </a:solidFill>
                <a:latin typeface="Lora"/>
              </a:defRPr>
            </a:pPr>
            <a:r>
              <a:t>ML + metrics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64227" y="2926080"/>
            <a:ext cx="3063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B0AEA5"/>
                </a:solidFill>
                <a:latin typeface="Lora"/>
              </a:defRPr>
            </a:pPr>
            <a:r>
              <a:t>Month 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76107" y="1783080"/>
            <a:ext cx="3520440" cy="1508760"/>
          </a:xfrm>
          <a:prstGeom prst="round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04707" y="1920240"/>
            <a:ext cx="3063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FAF9F5"/>
                </a:solidFill>
                <a:latin typeface="Poppins"/>
              </a:defRPr>
            </a:pPr>
            <a: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04707" y="2560320"/>
            <a:ext cx="3063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AF9F5"/>
                </a:solidFill>
                <a:latin typeface="Lora"/>
              </a:defRPr>
            </a:pPr>
            <a:r>
              <a:t>RAG + LangGraph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04707" y="2926080"/>
            <a:ext cx="3063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B0AEA5"/>
                </a:solidFill>
                <a:latin typeface="Lora"/>
              </a:defRPr>
            </a:pPr>
            <a:r>
              <a:t>Month 8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95147" y="3611880"/>
            <a:ext cx="3520440" cy="1508760"/>
          </a:xfrm>
          <a:prstGeom prst="round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747" y="3749040"/>
            <a:ext cx="3063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FAF9F5"/>
                </a:solidFill>
                <a:latin typeface="Poppins"/>
              </a:defRPr>
            </a:pPr>
            <a: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747" y="4389120"/>
            <a:ext cx="3063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AF9F5"/>
                </a:solidFill>
                <a:latin typeface="Lora"/>
              </a:defRPr>
            </a:pPr>
            <a:r>
              <a:t>API + Docker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3747" y="4754880"/>
            <a:ext cx="3063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B0AEA5"/>
                </a:solidFill>
                <a:latin typeface="Lora"/>
              </a:defRPr>
            </a:pPr>
            <a:r>
              <a:t>Month 10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35627" y="3611880"/>
            <a:ext cx="3520440" cy="1508760"/>
          </a:xfrm>
          <a:prstGeom prst="roundRect">
            <a:avLst/>
          </a:prstGeom>
          <a:solidFill>
            <a:srgbClr val="BCD1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64227" y="3749040"/>
            <a:ext cx="3063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FAF9F5"/>
                </a:solidFill>
                <a:latin typeface="Poppins"/>
              </a:defRPr>
            </a:pPr>
            <a: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64227" y="4389120"/>
            <a:ext cx="3063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AF9F5"/>
                </a:solidFill>
                <a:latin typeface="Lora"/>
              </a:defRPr>
            </a:pPr>
            <a:r>
              <a:t>2 bank use cases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64227" y="4754880"/>
            <a:ext cx="3063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B0AEA5"/>
                </a:solidFill>
                <a:latin typeface="Lora"/>
              </a:defRPr>
            </a:pPr>
            <a:r>
              <a:t>Month 11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76107" y="3611880"/>
            <a:ext cx="3520440" cy="1508760"/>
          </a:xfrm>
          <a:prstGeom prst="round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04707" y="3749040"/>
            <a:ext cx="3063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FAF9F5"/>
                </a:solidFill>
                <a:latin typeface="Poppins"/>
              </a:defRPr>
            </a:pPr>
            <a: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04707" y="4389120"/>
            <a:ext cx="3063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AF9F5"/>
                </a:solidFill>
                <a:latin typeface="Lora"/>
              </a:defRPr>
            </a:pPr>
            <a:r>
              <a:t>CV + GitHub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04707" y="4754880"/>
            <a:ext cx="3063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B0AEA5"/>
                </a:solidFill>
                <a:latin typeface="Lora"/>
              </a:defRPr>
            </a:pPr>
            <a:r>
              <a:t>Month 12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Zero to AI Expert  ·  Banking domain path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ACTION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First 30 days — start tomorrow</a:t>
            </a:r>
          </a:p>
        </p:txBody>
      </p:sp>
      <p:sp>
        <p:nvSpPr>
          <p:cNvPr id="7" name="Rectangle 6"/>
          <p:cNvSpPr/>
          <p:nvPr/>
        </p:nvSpPr>
        <p:spPr>
          <a:xfrm>
            <a:off x="472287" y="1737360"/>
            <a:ext cx="11247120" cy="73152"/>
          </a:xfrm>
          <a:prstGeom prst="rect">
            <a:avLst/>
          </a:prstGeom>
          <a:solidFill>
            <a:srgbClr val="B0A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29003" y="1664208"/>
            <a:ext cx="292608" cy="292608"/>
          </a:xfrm>
          <a:prstGeom prst="ellipse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72287" y="2194560"/>
            <a:ext cx="260604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2287" y="2194560"/>
            <a:ext cx="2606040" cy="594360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2287" y="2258568"/>
            <a:ext cx="2606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FAF9F5"/>
                </a:solidFill>
                <a:latin typeface="Poppins"/>
              </a:defRPr>
            </a:pPr>
            <a:r>
              <a:t>Week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5167" y="2926080"/>
            <a:ext cx="224028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141413"/>
                </a:solidFill>
                <a:latin typeface="Lora"/>
              </a:defRPr>
            </a:pPr>
            <a:r>
              <a:t>Install Python, Git, VS Code · Python tutorial §1–4 · GitHub repo</a:t>
            </a:r>
          </a:p>
        </p:txBody>
      </p:sp>
      <p:sp>
        <p:nvSpPr>
          <p:cNvPr id="13" name="Oval 12"/>
          <p:cNvSpPr/>
          <p:nvPr/>
        </p:nvSpPr>
        <p:spPr>
          <a:xfrm>
            <a:off x="4509363" y="1664208"/>
            <a:ext cx="292608" cy="292608"/>
          </a:xfrm>
          <a:prstGeom prst="ellipse">
            <a:avLst/>
          </a:prstGeom>
          <a:solidFill>
            <a:srgbClr val="BCD1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352647" y="2194560"/>
            <a:ext cx="260604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52647" y="2194560"/>
            <a:ext cx="2606040" cy="594360"/>
          </a:xfrm>
          <a:prstGeom prst="rect">
            <a:avLst/>
          </a:prstGeom>
          <a:solidFill>
            <a:srgbClr val="BCD1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52647" y="2258568"/>
            <a:ext cx="2606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FAF9F5"/>
                </a:solidFill>
                <a:latin typeface="Poppins"/>
              </a:defRPr>
            </a:pPr>
            <a:r>
              <a:t>Week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35527" y="2926080"/>
            <a:ext cx="224028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141413"/>
                </a:solidFill>
                <a:latin typeface="Lora"/>
              </a:defRPr>
            </a:pPr>
            <a:r>
              <a:t>Functions + files · BRD section checker (5 sections)</a:t>
            </a:r>
          </a:p>
        </p:txBody>
      </p:sp>
      <p:sp>
        <p:nvSpPr>
          <p:cNvPr id="18" name="Oval 17"/>
          <p:cNvSpPr/>
          <p:nvPr/>
        </p:nvSpPr>
        <p:spPr>
          <a:xfrm>
            <a:off x="7389723" y="1664208"/>
            <a:ext cx="292608" cy="292608"/>
          </a:xfrm>
          <a:prstGeom prst="ellipse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33007" y="2194560"/>
            <a:ext cx="260604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33007" y="2194560"/>
            <a:ext cx="2606040" cy="594360"/>
          </a:xfrm>
          <a:prstGeom prst="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33007" y="2258568"/>
            <a:ext cx="2606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FAF9F5"/>
                </a:solidFill>
                <a:latin typeface="Poppins"/>
              </a:defRPr>
            </a:pPr>
            <a:r>
              <a:t>Week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5887" y="2926080"/>
            <a:ext cx="224028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141413"/>
                </a:solidFill>
                <a:latin typeface="Lora"/>
              </a:defRPr>
            </a:pPr>
            <a:r>
              <a:t>SQLBolt 1–12 · SQLite + Python query</a:t>
            </a:r>
          </a:p>
        </p:txBody>
      </p:sp>
      <p:sp>
        <p:nvSpPr>
          <p:cNvPr id="23" name="Oval 22"/>
          <p:cNvSpPr/>
          <p:nvPr/>
        </p:nvSpPr>
        <p:spPr>
          <a:xfrm>
            <a:off x="10270083" y="1664208"/>
            <a:ext cx="292608" cy="292608"/>
          </a:xfrm>
          <a:prstGeom prst="ellipse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113367" y="2194560"/>
            <a:ext cx="260604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113367" y="2194560"/>
            <a:ext cx="2606040" cy="594360"/>
          </a:xfrm>
          <a:prstGeom prst="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13367" y="2258568"/>
            <a:ext cx="2606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FAF9F5"/>
                </a:solidFill>
                <a:latin typeface="Poppins"/>
              </a:defRPr>
            </a:pPr>
            <a:r>
              <a:t>Week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96247" y="2926080"/>
            <a:ext cx="224028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141413"/>
                </a:solidFill>
                <a:latin typeface="Lora"/>
              </a:defRPr>
            </a:pPr>
            <a:r>
              <a:t>pandas read_csv · one lending KPI chart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4663440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141413"/>
                </a:solidFill>
                <a:latin typeface="Lora"/>
              </a:defRPr>
            </a:pPr>
            <a:r>
              <a:t>Full syllabus: ai-factory/zero-to-ai-expert-syllabus.md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Zero to AI Expert  ·  Banking domain path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D97757"/>
                </a:solidFill>
                <a:latin typeface="Lora"/>
              </a:defRPr>
            </a:pPr>
            <a: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5156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FAF9F5"/>
                </a:solidFill>
                <a:latin typeface="Poppins"/>
              </a:defRPr>
            </a:pPr>
            <a:r>
              <a:t>Three rules for your path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12467" y="2240280"/>
            <a:ext cx="2606040" cy="2331720"/>
          </a:xfrm>
          <a:prstGeom prst="roundRect">
            <a:avLst/>
          </a:prstGeom>
          <a:solidFill>
            <a:srgbClr val="3D3D3A"/>
          </a:solidFill>
          <a:ln w="25400">
            <a:solidFill>
              <a:srgbClr val="6A9B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941167" y="2468880"/>
            <a:ext cx="548640" cy="548640"/>
          </a:xfrm>
          <a:prstGeom prst="ellipse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AF9F5"/>
                </a:solidFill>
                <a:latin typeface="Poppins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95347" y="3200400"/>
            <a:ext cx="2240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FAF9F5"/>
                </a:solidFill>
                <a:latin typeface="Poppins"/>
              </a:defRPr>
            </a:pPr>
            <a:r>
              <a:t>Learn through banking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13635" y="3657600"/>
            <a:ext cx="21488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50" b="0">
                <a:solidFill>
                  <a:srgbClr val="B0AEA5"/>
                </a:solidFill>
                <a:latin typeface="Lora"/>
              </a:defRPr>
            </a:pPr>
            <a:r>
              <a:t>Every phase = BRD, credit, or ops artifact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92827" y="2240280"/>
            <a:ext cx="2606040" cy="2331720"/>
          </a:xfrm>
          <a:prstGeom prst="roundRect">
            <a:avLst/>
          </a:prstGeom>
          <a:solidFill>
            <a:srgbClr val="3D3D3A"/>
          </a:solidFill>
          <a:ln w="25400">
            <a:solidFill>
              <a:srgbClr val="788C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821527" y="2468880"/>
            <a:ext cx="548640" cy="548640"/>
          </a:xfrm>
          <a:prstGeom prst="ellipse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AF9F5"/>
                </a:solidFill>
                <a:latin typeface="Poppins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75707" y="3200400"/>
            <a:ext cx="2240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FAF9F5"/>
                </a:solidFill>
                <a:latin typeface="Poppins"/>
              </a:defRPr>
            </a:pPr>
            <a:r>
              <a:t>Ship, don't watch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93995" y="3657600"/>
            <a:ext cx="21488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50" b="0">
                <a:solidFill>
                  <a:srgbClr val="B0AEA5"/>
                </a:solidFill>
                <a:latin typeface="Lora"/>
              </a:defRPr>
            </a:pPr>
            <a:r>
              <a:t>GitHub commit every week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73187" y="2240280"/>
            <a:ext cx="2606040" cy="2331720"/>
          </a:xfrm>
          <a:prstGeom prst="roundRect">
            <a:avLst/>
          </a:prstGeom>
          <a:solidFill>
            <a:srgbClr val="3D3D3A"/>
          </a:solidFill>
          <a:ln w="254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701887" y="2468880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AF9F5"/>
                </a:solidFill>
                <a:latin typeface="Poppins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56067" y="3200400"/>
            <a:ext cx="2240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FAF9F5"/>
                </a:solidFill>
                <a:latin typeface="Poppins"/>
              </a:defRPr>
            </a:pPr>
            <a:r>
              <a:t>Production beats PoC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74355" y="3657600"/>
            <a:ext cx="21488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50" b="0">
                <a:solidFill>
                  <a:srgbClr val="B0AEA5"/>
                </a:solidFill>
                <a:latin typeface="Lora"/>
              </a:defRPr>
            </a:pPr>
            <a:r>
              <a:t>API + eval by month 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5074920"/>
            <a:ext cx="10515600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5257800"/>
            <a:ext cx="105156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FAF9F5"/>
                </a:solidFill>
                <a:latin typeface="Poppins"/>
              </a:defRPr>
            </a:pPr>
            <a:r>
              <a:t>Run: python3 ai-factory/generate_ai_roadmap_slides.py  ·  Read: zero-to-ai-expert-syllabus.md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