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ENTERPRISE DATA SCIENCE &amp;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Head of AI 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Turning AI opportunity into trusted, scaled 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Predictive AI  ·  Generative AI  ·  Platform  ·  Governance  ·  People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ROLE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Why this role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E5D59"/>
                </a:solidFill>
                <a:latin typeface="Lora"/>
              </a:defRPr>
            </a:pPr>
            <a:r>
              <a:t>Lead AI &amp; analytics that move three business needles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" y="205740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6567" y="2057400"/>
            <a:ext cx="109728" cy="274320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167" y="2221992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6A9BCC"/>
                </a:solidFill>
                <a:latin typeface="Poppi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599" y="3063240"/>
            <a:ext cx="3154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Smarter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" y="3447288"/>
            <a:ext cx="315467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Data-driven choices across the enterprise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2767" y="205740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2767" y="2057400"/>
            <a:ext cx="109728" cy="274320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1367" y="2221992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788C5D"/>
                </a:solidFill>
                <a:latin typeface="Poppi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799" y="3063240"/>
            <a:ext cx="3154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Lower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799" y="3447288"/>
            <a:ext cx="315467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Better risk management and early warning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8967" y="205740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98967" y="2057400"/>
            <a:ext cx="109728" cy="27432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7567" y="2221992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D97757"/>
                </a:solidFill>
                <a:latin typeface="Poppin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4999" y="3063240"/>
            <a:ext cx="3154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Better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4999" y="3447288"/>
            <a:ext cx="315467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Personalized, faster customer journeys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206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1413"/>
                </a:solidFill>
                <a:latin typeface="Lora"/>
              </a:defRPr>
            </a:pPr>
            <a:r>
              <a:t>Trusted advisor to executives — drives a culture of innovation and data-driven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MANDATE &amp;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What the AI Factory owns</a:t>
            </a:r>
          </a:p>
        </p:txBody>
      </p:sp>
      <p:sp>
        <p:nvSpPr>
          <p:cNvPr id="7" name="Oval 6"/>
          <p:cNvSpPr/>
          <p:nvPr/>
        </p:nvSpPr>
        <p:spPr>
          <a:xfrm>
            <a:off x="5044287" y="2926079"/>
            <a:ext cx="2103120" cy="2103120"/>
          </a:xfrm>
          <a:prstGeom prst="ellipse">
            <a:avLst/>
          </a:prstGeom>
          <a:solidFill>
            <a:srgbClr val="141413"/>
          </a:solidFill>
          <a:ln w="254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AF9F5"/>
                </a:solidFill>
                <a:latin typeface="Poppins"/>
              </a:defRPr>
            </a:pPr>
            <a:r>
              <a:t>AI</a:t>
            </a:r>
          </a:p>
          <a:p>
            <a:pPr algn="ctr">
              <a:defRPr sz="1400" b="1">
                <a:solidFill>
                  <a:srgbClr val="D97757"/>
                </a:solidFill>
                <a:latin typeface="Poppins"/>
              </a:defRPr>
            </a:pPr>
            <a:r>
              <a:t>FACTORY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5847" y="1645919"/>
            <a:ext cx="0" cy="2331720"/>
          </a:xfrm>
          <a:prstGeom prst="line">
            <a:avLst/>
          </a:prstGeom>
          <a:ln w="2540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29987" y="1211579"/>
            <a:ext cx="2331720" cy="86868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Predictive AI</a:t>
            </a:r>
          </a:p>
          <a:p>
            <a:pPr algn="ctr">
              <a:defRPr sz="950" b="0">
                <a:solidFill>
                  <a:srgbClr val="B0AEA5"/>
                </a:solidFill>
                <a:latin typeface="Lora"/>
              </a:defRPr>
            </a:pPr>
            <a:r>
              <a:t>forecasting · scoring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095847" y="3257098"/>
            <a:ext cx="3437276" cy="720541"/>
          </a:xfrm>
          <a:prstGeom prst="line">
            <a:avLst/>
          </a:prstGeom>
          <a:ln w="2540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67263" y="2822758"/>
            <a:ext cx="2331720" cy="86868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Generative AI</a:t>
            </a:r>
          </a:p>
          <a:p>
            <a:pPr algn="ctr">
              <a:defRPr sz="950" b="0">
                <a:solidFill>
                  <a:srgbClr val="B0AEA5"/>
                </a:solidFill>
                <a:latin typeface="Lora"/>
              </a:defRPr>
            </a:pPr>
            <a:r>
              <a:t>LLMs · RAG · agents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3977639"/>
            <a:ext cx="2124354" cy="1886402"/>
          </a:xfrm>
          <a:prstGeom prst="line">
            <a:avLst/>
          </a:prstGeom>
          <a:ln w="2540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54341" y="5429701"/>
            <a:ext cx="2331720" cy="868680"/>
          </a:xfrm>
          <a:prstGeom prst="roundRect">
            <a:avLst/>
          </a:prstGeom>
          <a:solidFill>
            <a:srgbClr val="BCD1C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Platform</a:t>
            </a:r>
          </a:p>
          <a:p>
            <a:pPr algn="ctr">
              <a:defRPr sz="950" b="0">
                <a:solidFill>
                  <a:srgbClr val="B0AEA5"/>
                </a:solidFill>
                <a:latin typeface="Lora"/>
              </a:defRPr>
            </a:pPr>
            <a:r>
              <a:t>reusable assets · infra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971494" y="3977639"/>
            <a:ext cx="2124353" cy="1886402"/>
          </a:xfrm>
          <a:prstGeom prst="line">
            <a:avLst/>
          </a:prstGeom>
          <a:ln w="2540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05634" y="5429701"/>
            <a:ext cx="2331720" cy="86868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Governance</a:t>
            </a:r>
          </a:p>
          <a:p>
            <a:pPr algn="ctr">
              <a:defRPr sz="950" b="0">
                <a:solidFill>
                  <a:srgbClr val="B0AEA5"/>
                </a:solidFill>
                <a:latin typeface="Lora"/>
              </a:defRPr>
            </a:pPr>
            <a:r>
              <a:t>security · ethics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2658571" y="3257098"/>
            <a:ext cx="3437276" cy="720541"/>
          </a:xfrm>
          <a:prstGeom prst="line">
            <a:avLst/>
          </a:prstGeom>
          <a:ln w="2540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492711" y="2822758"/>
            <a:ext cx="2331720" cy="868680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People</a:t>
            </a:r>
          </a:p>
          <a:p>
            <a:pPr algn="ctr">
              <a:defRPr sz="950" b="0">
                <a:solidFill>
                  <a:srgbClr val="B0AEA5"/>
                </a:solidFill>
                <a:latin typeface="Lora"/>
              </a:defRPr>
            </a:pPr>
            <a:r>
              <a:t>talent · culture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How the AI Factory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5D59"/>
                </a:solidFill>
                <a:latin typeface="Lora"/>
              </a:defRPr>
            </a:pPr>
            <a:r>
              <a:t>A repeatable value loop — reuse platform, governance &amp; MLOps every cycle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423160"/>
            <a:ext cx="3563521" cy="845820"/>
          </a:xfrm>
          <a:prstGeom prst="line">
            <a:avLst/>
          </a:prstGeom>
          <a:ln w="28575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59368" y="3268980"/>
            <a:ext cx="0" cy="1691640"/>
          </a:xfrm>
          <a:prstGeom prst="line">
            <a:avLst/>
          </a:prstGeom>
          <a:ln w="28575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95847" y="4960620"/>
            <a:ext cx="3563521" cy="845820"/>
          </a:xfrm>
          <a:prstGeom prst="line">
            <a:avLst/>
          </a:prstGeom>
          <a:ln w="28575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532326" y="4960620"/>
            <a:ext cx="3563521" cy="845820"/>
          </a:xfrm>
          <a:prstGeom prst="line">
            <a:avLst/>
          </a:prstGeom>
          <a:ln w="28575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532326" y="3268980"/>
            <a:ext cx="0" cy="1691640"/>
          </a:xfrm>
          <a:prstGeom prst="line">
            <a:avLst/>
          </a:prstGeom>
          <a:ln w="28575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532326" y="2423160"/>
            <a:ext cx="3563521" cy="845820"/>
          </a:xfrm>
          <a:prstGeom prst="line">
            <a:avLst/>
          </a:prstGeom>
          <a:ln w="28575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410047" y="1737360"/>
            <a:ext cx="1371600" cy="1371600"/>
          </a:xfrm>
          <a:prstGeom prst="ellipse">
            <a:avLst/>
          </a:prstGeom>
          <a:solidFill>
            <a:srgbClr val="6A9BCC"/>
          </a:solidFill>
          <a:ln w="254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Intake</a:t>
            </a:r>
            <a:br/>
            <a:r>
              <a:t>use-case</a:t>
            </a:r>
          </a:p>
        </p:txBody>
      </p:sp>
      <p:sp>
        <p:nvSpPr>
          <p:cNvPr id="15" name="Oval 14"/>
          <p:cNvSpPr/>
          <p:nvPr/>
        </p:nvSpPr>
        <p:spPr>
          <a:xfrm>
            <a:off x="8973568" y="2583180"/>
            <a:ext cx="1371600" cy="1371600"/>
          </a:xfrm>
          <a:prstGeom prst="ellipse">
            <a:avLst/>
          </a:prstGeom>
          <a:solidFill>
            <a:srgbClr val="6A9BCC"/>
          </a:solidFill>
          <a:ln w="254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Prioritize</a:t>
            </a:r>
            <a:br/>
            <a:r>
              <a:t>by value</a:t>
            </a:r>
          </a:p>
        </p:txBody>
      </p:sp>
      <p:sp>
        <p:nvSpPr>
          <p:cNvPr id="16" name="Oval 15"/>
          <p:cNvSpPr/>
          <p:nvPr/>
        </p:nvSpPr>
        <p:spPr>
          <a:xfrm>
            <a:off x="8973568" y="4274820"/>
            <a:ext cx="1371600" cy="1371600"/>
          </a:xfrm>
          <a:prstGeom prst="ellipse">
            <a:avLst/>
          </a:prstGeom>
          <a:solidFill>
            <a:srgbClr val="788C5D"/>
          </a:solidFill>
          <a:ln w="254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Build &amp;</a:t>
            </a:r>
            <a:br/>
            <a:r>
              <a:t>validate</a:t>
            </a:r>
          </a:p>
        </p:txBody>
      </p:sp>
      <p:sp>
        <p:nvSpPr>
          <p:cNvPr id="17" name="Oval 16"/>
          <p:cNvSpPr/>
          <p:nvPr/>
        </p:nvSpPr>
        <p:spPr>
          <a:xfrm>
            <a:off x="5410047" y="5120640"/>
            <a:ext cx="1371600" cy="1371600"/>
          </a:xfrm>
          <a:prstGeom prst="ellipse">
            <a:avLst/>
          </a:prstGeom>
          <a:solidFill>
            <a:srgbClr val="C46686"/>
          </a:solidFill>
          <a:ln w="254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Governance</a:t>
            </a:r>
            <a:br/>
            <a:r>
              <a:t>gate</a:t>
            </a:r>
          </a:p>
        </p:txBody>
      </p:sp>
      <p:sp>
        <p:nvSpPr>
          <p:cNvPr id="18" name="Oval 17"/>
          <p:cNvSpPr/>
          <p:nvPr/>
        </p:nvSpPr>
        <p:spPr>
          <a:xfrm>
            <a:off x="1846526" y="4274820"/>
            <a:ext cx="1371600" cy="1371600"/>
          </a:xfrm>
          <a:prstGeom prst="ellipse">
            <a:avLst/>
          </a:prstGeom>
          <a:solidFill>
            <a:srgbClr val="D97757"/>
          </a:solidFill>
          <a:ln w="254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Deploy</a:t>
            </a:r>
            <a:br/>
            <a:r>
              <a:t>(MLOps)</a:t>
            </a:r>
          </a:p>
        </p:txBody>
      </p:sp>
      <p:sp>
        <p:nvSpPr>
          <p:cNvPr id="19" name="Oval 18"/>
          <p:cNvSpPr/>
          <p:nvPr/>
        </p:nvSpPr>
        <p:spPr>
          <a:xfrm>
            <a:off x="1846526" y="2583180"/>
            <a:ext cx="1371600" cy="1371600"/>
          </a:xfrm>
          <a:prstGeom prst="ellipse">
            <a:avLst/>
          </a:prstGeom>
          <a:solidFill>
            <a:srgbClr val="C46686"/>
          </a:solidFill>
          <a:ln w="254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Monitor</a:t>
            </a:r>
            <a:br/>
            <a:r>
              <a:t>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Areas of responsibility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719" y="1737360"/>
            <a:ext cx="21214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4311" y="19019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239" y="1920240"/>
            <a:ext cx="1252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41413"/>
                </a:solidFill>
                <a:latin typeface="Lora"/>
              </a:defRPr>
            </a:pPr>
            <a:r>
              <a:t>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2514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Enterprise DS &amp; AI strategy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7431" y="1737360"/>
            <a:ext cx="21214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32023" y="1901952"/>
            <a:ext cx="457200" cy="45720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8951" y="1920240"/>
            <a:ext cx="1252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41413"/>
                </a:solidFill>
                <a:latin typeface="Lora"/>
              </a:defRPr>
            </a:pPr>
            <a:r>
              <a:t>Advisory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8599" y="2514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Advise C-level on growth &amp;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5143" y="1737360"/>
            <a:ext cx="21214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99735" y="1901952"/>
            <a:ext cx="457200" cy="45720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6663" y="1920240"/>
            <a:ext cx="1252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41413"/>
                </a:solidFill>
                <a:latin typeface="Lora"/>
              </a:defRPr>
            </a:pPr>
            <a: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6311" y="2514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Predictive + Generative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2855" y="1737360"/>
            <a:ext cx="21214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67447" y="1901952"/>
            <a:ext cx="457200" cy="457200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4375" y="1920240"/>
            <a:ext cx="1252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41413"/>
                </a:solidFill>
                <a:latin typeface="Lora"/>
              </a:defRPr>
            </a:pPr>
            <a:r>
              <a:t>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4023" y="2514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MLOps/LLMOps &amp; lifecycle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70567" y="1737360"/>
            <a:ext cx="21214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5159" y="1901952"/>
            <a:ext cx="457200" cy="457200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2087" y="1920240"/>
            <a:ext cx="1252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41413"/>
                </a:solidFill>
                <a:latin typeface="Lora"/>
              </a:defRPr>
            </a:pPr>
            <a: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1735" y="2514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Reusable assets &amp; infra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9719" y="3566160"/>
            <a:ext cx="21214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4311" y="3730752"/>
            <a:ext cx="457200" cy="457200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1239" y="3749039"/>
            <a:ext cx="1252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41413"/>
                </a:solidFill>
                <a:latin typeface="Lora"/>
              </a:defRPr>
            </a:pPr>
            <a:r>
              <a:t>Partnership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887" y="43434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IT &amp; Data Architecture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67431" y="3566160"/>
            <a:ext cx="21214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32023" y="37307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8951" y="3749039"/>
            <a:ext cx="1252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41413"/>
                </a:solidFill>
                <a:latin typeface="Lora"/>
              </a:defRPr>
            </a:pPr>
            <a:r>
              <a:t>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8599" y="43434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Security, privacy, ethics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35143" y="3566160"/>
            <a:ext cx="21214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99735" y="3730752"/>
            <a:ext cx="457200" cy="45720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6663" y="3749039"/>
            <a:ext cx="1252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41413"/>
                </a:solidFill>
                <a:latin typeface="Lora"/>
              </a:defRPr>
            </a:pPr>
            <a:r>
              <a:t>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6311" y="43434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Use cases, ROI, outcomes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02855" y="3566160"/>
            <a:ext cx="21214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67447" y="3730752"/>
            <a:ext cx="457200" cy="45720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4375" y="3749039"/>
            <a:ext cx="1252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41413"/>
                </a:solidFill>
                <a:latin typeface="Lora"/>
              </a:defRPr>
            </a:pPr>
            <a:r>
              <a:t>People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04023" y="43434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Talent &amp; capability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70567" y="3566160"/>
            <a:ext cx="21214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35159" y="3730752"/>
            <a:ext cx="457200" cy="457200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02087" y="3749039"/>
            <a:ext cx="1252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41413"/>
                </a:solidFill>
                <a:latin typeface="Lora"/>
              </a:defRPr>
            </a:pPr>
            <a:r>
              <a:t>Culture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71735" y="43434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Develop future AI leaders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TEAM &amp;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AI Factory organization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75607" y="1554480"/>
            <a:ext cx="3840480" cy="685800"/>
          </a:xfrm>
          <a:prstGeom prst="roundRect">
            <a:avLst/>
          </a:prstGeom>
          <a:solidFill>
            <a:srgbClr val="141413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Head of AI Factory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358158" y="2240280"/>
            <a:ext cx="4737689" cy="411480"/>
          </a:xfrm>
          <a:prstGeom prst="line">
            <a:avLst/>
          </a:prstGeom>
          <a:ln w="15875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" y="2651760"/>
            <a:ext cx="2167676" cy="68580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Data Science / 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611880"/>
            <a:ext cx="1948220" cy="548640"/>
          </a:xfrm>
          <a:prstGeom prst="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Data Scientists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4325112"/>
            <a:ext cx="1948220" cy="548640"/>
          </a:xfrm>
          <a:prstGeom prst="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ML Engineers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727002" y="2240280"/>
            <a:ext cx="2368845" cy="411480"/>
          </a:xfrm>
          <a:prstGeom prst="line">
            <a:avLst/>
          </a:prstGeom>
          <a:ln w="15875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43164" y="2651760"/>
            <a:ext cx="2167676" cy="68580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Generative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2892" y="3611880"/>
            <a:ext cx="1948220" cy="548640"/>
          </a:xfrm>
          <a:prstGeom prst="rect">
            <a:avLst/>
          </a:prstGeom>
          <a:solidFill>
            <a:srgbClr val="E8E6DC"/>
          </a:solidFill>
          <a:ln w="127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LLM / NLP Eng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52892" y="4325112"/>
            <a:ext cx="1948220" cy="548640"/>
          </a:xfrm>
          <a:prstGeom prst="rect">
            <a:avLst/>
          </a:prstGeom>
          <a:solidFill>
            <a:srgbClr val="E8E6DC"/>
          </a:solidFill>
          <a:ln w="127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Prompt / RAG Eng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2240280"/>
            <a:ext cx="0" cy="411480"/>
          </a:xfrm>
          <a:prstGeom prst="line">
            <a:avLst/>
          </a:prstGeom>
          <a:ln w="15875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12009" y="2651760"/>
            <a:ext cx="2167676" cy="685800"/>
          </a:xfrm>
          <a:prstGeom prst="roundRect">
            <a:avLst/>
          </a:prstGeom>
          <a:solidFill>
            <a:srgbClr val="BCD1C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Platform / MLOps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1737" y="3611880"/>
            <a:ext cx="1948220" cy="548640"/>
          </a:xfrm>
          <a:prstGeom prst="rect">
            <a:avLst/>
          </a:prstGeom>
          <a:solidFill>
            <a:srgbClr val="E8E6DC"/>
          </a:solidFill>
          <a:ln w="127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MLOps / DevOps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1737" y="4325112"/>
            <a:ext cx="1948220" cy="548640"/>
          </a:xfrm>
          <a:prstGeom prst="rect">
            <a:avLst/>
          </a:prstGeom>
          <a:solidFill>
            <a:srgbClr val="E8E6DC"/>
          </a:solidFill>
          <a:ln w="127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Data Eng liaison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5847" y="2240280"/>
            <a:ext cx="2368845" cy="411480"/>
          </a:xfrm>
          <a:prstGeom prst="line">
            <a:avLst/>
          </a:prstGeom>
          <a:ln w="15875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80853" y="2651760"/>
            <a:ext cx="2167676" cy="68580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Governance &amp;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0581" y="3611880"/>
            <a:ext cx="1948220" cy="548640"/>
          </a:xfrm>
          <a:prstGeom prst="rect">
            <a:avLst/>
          </a:prstGeom>
          <a:solidFill>
            <a:srgbClr val="E8E6DC"/>
          </a:solidFill>
          <a:ln w="127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Model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0581" y="4325112"/>
            <a:ext cx="1948220" cy="548640"/>
          </a:xfrm>
          <a:prstGeom prst="rect">
            <a:avLst/>
          </a:prstGeom>
          <a:solidFill>
            <a:srgbClr val="E8E6DC"/>
          </a:solidFill>
          <a:ln w="127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Responsible AI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5847" y="2240280"/>
            <a:ext cx="4737689" cy="411480"/>
          </a:xfrm>
          <a:prstGeom prst="line">
            <a:avLst/>
          </a:prstGeom>
          <a:ln w="15875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49698" y="2651760"/>
            <a:ext cx="2167676" cy="685800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Business / 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59426" y="3611880"/>
            <a:ext cx="1948220" cy="548640"/>
          </a:xfrm>
          <a:prstGeom prst="rect">
            <a:avLst/>
          </a:prstGeom>
          <a:solidFill>
            <a:srgbClr val="E8E6DC"/>
          </a:solidFill>
          <a:ln w="127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Use-case owners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59426" y="4325112"/>
            <a:ext cx="1948220" cy="548640"/>
          </a:xfrm>
          <a:prstGeom prst="rect">
            <a:avLst/>
          </a:prstGeom>
          <a:solidFill>
            <a:srgbClr val="E8E6DC"/>
          </a:solidFill>
          <a:ln w="127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ROI &amp; adoption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USE-CASE PORTFOLIO (ILLUSTRATIVE)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Where AI creates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707" y="1737360"/>
            <a:ext cx="3611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3707" y="1737360"/>
            <a:ext cx="109728" cy="16916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739" y="190195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Credit &amp;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739" y="2286000"/>
            <a:ext cx="320040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Scoring · PD/LGD · early warning · policy copilots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9907" y="1737360"/>
            <a:ext cx="3611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9907" y="1737360"/>
            <a:ext cx="109728" cy="16916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5939" y="190195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Growth &amp; 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5939" y="2286000"/>
            <a:ext cx="320040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Propensity · churn · NBO · service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6107" y="1737360"/>
            <a:ext cx="3611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6107" y="1737360"/>
            <a:ext cx="109728" cy="169164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139" y="190195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139" y="2286000"/>
            <a:ext cx="320040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Forecasting · optimization · knowledge RAG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46807" y="3657600"/>
            <a:ext cx="3611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46807" y="3657600"/>
            <a:ext cx="109728" cy="16916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2839" y="3822191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Fraud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2839" y="4206240"/>
            <a:ext cx="320040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Anomaly detection · investigation assistants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657600"/>
            <a:ext cx="3611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33007" y="3657600"/>
            <a:ext cx="109728" cy="16916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9039" y="3822191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9039" y="4206240"/>
            <a:ext cx="320040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Cashflow forecast · report-gen copilots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141413"/>
                </a:solidFill>
                <a:latin typeface="Lora"/>
              </a:defRPr>
            </a:pPr>
            <a:r>
              <a:t>Selection: business value · data readiness · feasibility · regulatory · reuse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PLATFORM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600200"/>
            <a:ext cx="3108960" cy="603504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39" y="1600200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Languages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6522415" cy="6035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6339535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Python · R · 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2313432"/>
            <a:ext cx="3108960" cy="603504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39" y="2313432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ML / Deep Learning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313432"/>
            <a:ext cx="6522415" cy="6035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13432"/>
            <a:ext cx="6339535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scikit-learn · XGBoost · PyTorch · TensorFlow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3026664"/>
            <a:ext cx="3108960" cy="603504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39" y="3026664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Generative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026664"/>
            <a:ext cx="6522415" cy="6035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026664"/>
            <a:ext cx="6339535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LLMs · RAG · vector DBs · agent frameworks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3739896"/>
            <a:ext cx="3108960" cy="603504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39" y="3739896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Distributed compute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739896"/>
            <a:ext cx="6522415" cy="6035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739896"/>
            <a:ext cx="6339535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Spark · Hadoop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4453128"/>
            <a:ext cx="3108960" cy="603504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39" y="4453128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Cloud (multi-cloud)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453128"/>
            <a:ext cx="6522415" cy="6035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453128"/>
            <a:ext cx="6339535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AWS · GCP · Azure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5166360"/>
            <a:ext cx="3108960" cy="6035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39" y="5166360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MLOps / LLMOps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5166360"/>
            <a:ext cx="6522415" cy="6035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166360"/>
            <a:ext cx="6339535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pipelines · registry · eval · guardrails · monitoring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5879592"/>
            <a:ext cx="3108960" cy="603504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39" y="5879592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Data foundation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879592"/>
            <a:ext cx="6522415" cy="6035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5879592"/>
            <a:ext cx="6339535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lakehouse · feature store · lineage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PREDICTIVE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MLOps lifecycle</a:t>
            </a:r>
          </a:p>
        </p:txBody>
      </p:sp>
      <p:sp>
        <p:nvSpPr>
          <p:cNvPr id="7" name="Chevron 6"/>
          <p:cNvSpPr/>
          <p:nvPr/>
        </p:nvSpPr>
        <p:spPr>
          <a:xfrm>
            <a:off x="457200" y="2194560"/>
            <a:ext cx="1788109" cy="1554480"/>
          </a:xfrm>
          <a:prstGeom prst="chevron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1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Data &amp;</a:t>
            </a:r>
            <a:br/>
            <a:r>
              <a:t>features</a:t>
            </a:r>
          </a:p>
        </p:txBody>
      </p:sp>
      <p:sp>
        <p:nvSpPr>
          <p:cNvPr id="8" name="Chevron 7"/>
          <p:cNvSpPr/>
          <p:nvPr/>
        </p:nvSpPr>
        <p:spPr>
          <a:xfrm>
            <a:off x="2355037" y="2194560"/>
            <a:ext cx="1788109" cy="1554480"/>
          </a:xfrm>
          <a:prstGeom prst="chevron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2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Train &amp;</a:t>
            </a:r>
            <a:br/>
            <a:r>
              <a:t>tune</a:t>
            </a:r>
          </a:p>
        </p:txBody>
      </p:sp>
      <p:sp>
        <p:nvSpPr>
          <p:cNvPr id="9" name="Chevron 8"/>
          <p:cNvSpPr/>
          <p:nvPr/>
        </p:nvSpPr>
        <p:spPr>
          <a:xfrm>
            <a:off x="4252874" y="2194560"/>
            <a:ext cx="1788109" cy="1554480"/>
          </a:xfrm>
          <a:prstGeom prst="chevron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3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Validate</a:t>
            </a:r>
            <a:br/>
            <a:r>
              <a:t>&amp; test</a:t>
            </a:r>
          </a:p>
        </p:txBody>
      </p:sp>
      <p:sp>
        <p:nvSpPr>
          <p:cNvPr id="10" name="Chevron 9"/>
          <p:cNvSpPr/>
          <p:nvPr/>
        </p:nvSpPr>
        <p:spPr>
          <a:xfrm>
            <a:off x="6150711" y="2194560"/>
            <a:ext cx="1788109" cy="1554480"/>
          </a:xfrm>
          <a:prstGeom prst="chevron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4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Registry</a:t>
            </a:r>
          </a:p>
        </p:txBody>
      </p:sp>
      <p:sp>
        <p:nvSpPr>
          <p:cNvPr id="11" name="Chevron 10"/>
          <p:cNvSpPr/>
          <p:nvPr/>
        </p:nvSpPr>
        <p:spPr>
          <a:xfrm>
            <a:off x="8048548" y="2194560"/>
            <a:ext cx="1788109" cy="1554480"/>
          </a:xfrm>
          <a:prstGeom prst="chevron">
            <a:avLst/>
          </a:prstGeom>
          <a:solidFill>
            <a:srgbClr val="BCD1C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5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Deploy</a:t>
            </a:r>
          </a:p>
        </p:txBody>
      </p:sp>
      <p:sp>
        <p:nvSpPr>
          <p:cNvPr id="12" name="Chevron 11"/>
          <p:cNvSpPr/>
          <p:nvPr/>
        </p:nvSpPr>
        <p:spPr>
          <a:xfrm>
            <a:off x="9946386" y="2194560"/>
            <a:ext cx="1788109" cy="1554480"/>
          </a:xfrm>
          <a:prstGeom prst="chevron">
            <a:avLst/>
          </a:prstGeom>
          <a:solidFill>
            <a:srgbClr val="3D3D3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6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Monitor &amp;</a:t>
            </a:r>
            <a:br/>
            <a:r>
              <a:t>retrain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062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5E5D59"/>
                </a:solidFill>
                <a:latin typeface="Lora"/>
              </a:defRPr>
            </a:pPr>
            <a:r>
              <a:t>Reproducible pipelines · drift triggers retraining · rollback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LLMOps lifecycle</a:t>
            </a:r>
          </a:p>
        </p:txBody>
      </p:sp>
      <p:sp>
        <p:nvSpPr>
          <p:cNvPr id="7" name="Chevron 6"/>
          <p:cNvSpPr/>
          <p:nvPr/>
        </p:nvSpPr>
        <p:spPr>
          <a:xfrm>
            <a:off x="457200" y="2194560"/>
            <a:ext cx="1788109" cy="1554480"/>
          </a:xfrm>
          <a:prstGeom prst="chevron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1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Index /</a:t>
            </a:r>
            <a:br/>
            <a:r>
              <a:t>embeddings</a:t>
            </a:r>
          </a:p>
        </p:txBody>
      </p:sp>
      <p:sp>
        <p:nvSpPr>
          <p:cNvPr id="8" name="Chevron 7"/>
          <p:cNvSpPr/>
          <p:nvPr/>
        </p:nvSpPr>
        <p:spPr>
          <a:xfrm>
            <a:off x="2355037" y="2194560"/>
            <a:ext cx="1788109" cy="1554480"/>
          </a:xfrm>
          <a:prstGeom prst="chevron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2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RAG /</a:t>
            </a:r>
            <a:br/>
            <a:r>
              <a:t>ground</a:t>
            </a:r>
          </a:p>
        </p:txBody>
      </p:sp>
      <p:sp>
        <p:nvSpPr>
          <p:cNvPr id="9" name="Chevron 8"/>
          <p:cNvSpPr/>
          <p:nvPr/>
        </p:nvSpPr>
        <p:spPr>
          <a:xfrm>
            <a:off x="4252874" y="2194560"/>
            <a:ext cx="1788109" cy="1554480"/>
          </a:xfrm>
          <a:prstGeom prst="chevron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3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Prompt &amp;</a:t>
            </a:r>
            <a:br/>
            <a:r>
              <a:t>orchestrate</a:t>
            </a:r>
          </a:p>
        </p:txBody>
      </p:sp>
      <p:sp>
        <p:nvSpPr>
          <p:cNvPr id="10" name="Chevron 9"/>
          <p:cNvSpPr/>
          <p:nvPr/>
        </p:nvSpPr>
        <p:spPr>
          <a:xfrm>
            <a:off x="6150711" y="2194560"/>
            <a:ext cx="1788109" cy="1554480"/>
          </a:xfrm>
          <a:prstGeom prst="chevron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4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Eval:</a:t>
            </a:r>
            <a:br/>
            <a:r>
              <a:t>quality+safety</a:t>
            </a:r>
          </a:p>
        </p:txBody>
      </p:sp>
      <p:sp>
        <p:nvSpPr>
          <p:cNvPr id="11" name="Chevron 10"/>
          <p:cNvSpPr/>
          <p:nvPr/>
        </p:nvSpPr>
        <p:spPr>
          <a:xfrm>
            <a:off x="8048548" y="2194560"/>
            <a:ext cx="1788109" cy="1554480"/>
          </a:xfrm>
          <a:prstGeom prst="chevron">
            <a:avLst/>
          </a:prstGeom>
          <a:solidFill>
            <a:srgbClr val="BCD1C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5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Guardrails</a:t>
            </a:r>
          </a:p>
        </p:txBody>
      </p:sp>
      <p:sp>
        <p:nvSpPr>
          <p:cNvPr id="12" name="Chevron 11"/>
          <p:cNvSpPr/>
          <p:nvPr/>
        </p:nvSpPr>
        <p:spPr>
          <a:xfrm>
            <a:off x="9946386" y="2194560"/>
            <a:ext cx="1788109" cy="1554480"/>
          </a:xfrm>
          <a:prstGeom prst="chevron">
            <a:avLst/>
          </a:prstGeom>
          <a:solidFill>
            <a:srgbClr val="3D3D3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F9F5"/>
                </a:solidFill>
                <a:latin typeface="Poppins"/>
              </a:defRPr>
            </a:pPr>
            <a:r>
              <a:t>6</a:t>
            </a:r>
          </a:p>
          <a:p>
            <a:pPr algn="ctr">
              <a:defRPr sz="1150" b="1">
                <a:solidFill>
                  <a:srgbClr val="FAF9F5"/>
                </a:solidFill>
                <a:latin typeface="Lora"/>
              </a:defRPr>
            </a:pPr>
            <a:r>
              <a:t>Serve &amp;</a:t>
            </a:r>
            <a:br/>
            <a:r>
              <a:t>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062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5E5D59"/>
                </a:solidFill>
                <a:latin typeface="Lora"/>
              </a:defRPr>
            </a:pPr>
            <a:r>
              <a:t>Grounded retrieval · automated + human eval · guardrails · cost/quality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TRUST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AI governance — three gates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7987" y="1691640"/>
            <a:ext cx="3611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7987" y="1691640"/>
            <a:ext cx="3611880" cy="64008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7987" y="1691640"/>
            <a:ext cx="3611880" cy="64008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Gate 1 —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87" y="242316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A9BCC"/>
                </a:solidFill>
                <a:latin typeface="Lora"/>
              </a:defRPr>
            </a:pPr>
            <a:r>
              <a:t>BEFORE BUILD</a:t>
            </a:r>
          </a:p>
        </p:txBody>
      </p:sp>
      <p:sp>
        <p:nvSpPr>
          <p:cNvPr id="11" name="Oval 10"/>
          <p:cNvSpPr/>
          <p:nvPr/>
        </p:nvSpPr>
        <p:spPr>
          <a:xfrm>
            <a:off x="614019" y="2862072"/>
            <a:ext cx="237744" cy="23774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779" y="2834640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Business value</a:t>
            </a:r>
          </a:p>
        </p:txBody>
      </p:sp>
      <p:sp>
        <p:nvSpPr>
          <p:cNvPr id="13" name="Oval 12"/>
          <p:cNvSpPr/>
          <p:nvPr/>
        </p:nvSpPr>
        <p:spPr>
          <a:xfrm>
            <a:off x="614019" y="3319272"/>
            <a:ext cx="237744" cy="23774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779" y="3291840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Data availability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614019" y="3776472"/>
            <a:ext cx="237744" cy="23774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779" y="3749039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Legal basis</a:t>
            </a:r>
          </a:p>
        </p:txBody>
      </p:sp>
      <p:sp>
        <p:nvSpPr>
          <p:cNvPr id="17" name="Oval 16"/>
          <p:cNvSpPr/>
          <p:nvPr/>
        </p:nvSpPr>
        <p:spPr>
          <a:xfrm>
            <a:off x="614019" y="4233672"/>
            <a:ext cx="237744" cy="23774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779" y="4206240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Risk tier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988155" y="2971800"/>
            <a:ext cx="283464" cy="457200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89907" y="1691640"/>
            <a:ext cx="3611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89907" y="1691640"/>
            <a:ext cx="3611880" cy="64008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9907" y="1691640"/>
            <a:ext cx="3611880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Gate 2 — Pre-deploy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8507" y="242316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57"/>
                </a:solidFill>
                <a:latin typeface="Lora"/>
              </a:defRPr>
            </a:pPr>
            <a:r>
              <a:t>BEFORE PRODUCTION</a:t>
            </a:r>
          </a:p>
        </p:txBody>
      </p:sp>
      <p:sp>
        <p:nvSpPr>
          <p:cNvPr id="24" name="Oval 23"/>
          <p:cNvSpPr/>
          <p:nvPr/>
        </p:nvSpPr>
        <p:spPr>
          <a:xfrm>
            <a:off x="4545939" y="2862072"/>
            <a:ext cx="237744" cy="23774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1699" y="2834640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Validation</a:t>
            </a:r>
          </a:p>
        </p:txBody>
      </p:sp>
      <p:sp>
        <p:nvSpPr>
          <p:cNvPr id="26" name="Oval 25"/>
          <p:cNvSpPr/>
          <p:nvPr/>
        </p:nvSpPr>
        <p:spPr>
          <a:xfrm>
            <a:off x="4545939" y="3319272"/>
            <a:ext cx="237744" cy="23774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1699" y="3291840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Risk &amp; ethics</a:t>
            </a:r>
          </a:p>
        </p:txBody>
      </p:sp>
      <p:sp>
        <p:nvSpPr>
          <p:cNvPr id="28" name="Oval 27"/>
          <p:cNvSpPr/>
          <p:nvPr/>
        </p:nvSpPr>
        <p:spPr>
          <a:xfrm>
            <a:off x="4545939" y="3776472"/>
            <a:ext cx="237744" cy="23774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1699" y="3749039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Security &amp; privacy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920075" y="2971800"/>
            <a:ext cx="283464" cy="457200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1827" y="1691640"/>
            <a:ext cx="3611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1827" y="1691640"/>
            <a:ext cx="3611880" cy="64008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1827" y="1691640"/>
            <a:ext cx="3611880" cy="64008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Gate 3 — In-life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0427" y="242316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88C5D"/>
                </a:solidFill>
                <a:latin typeface="Lora"/>
              </a:defRPr>
            </a:pPr>
            <a:r>
              <a:t>CONTINUOUS</a:t>
            </a:r>
          </a:p>
        </p:txBody>
      </p:sp>
      <p:sp>
        <p:nvSpPr>
          <p:cNvPr id="35" name="Oval 34"/>
          <p:cNvSpPr/>
          <p:nvPr/>
        </p:nvSpPr>
        <p:spPr>
          <a:xfrm>
            <a:off x="8477859" y="2862072"/>
            <a:ext cx="237744" cy="23774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3619" y="2834640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Drift monitoring</a:t>
            </a:r>
          </a:p>
        </p:txBody>
      </p:sp>
      <p:sp>
        <p:nvSpPr>
          <p:cNvPr id="37" name="Oval 36"/>
          <p:cNvSpPr/>
          <p:nvPr/>
        </p:nvSpPr>
        <p:spPr>
          <a:xfrm>
            <a:off x="8477859" y="3319272"/>
            <a:ext cx="237744" cy="23774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3619" y="3291840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Performance</a:t>
            </a:r>
          </a:p>
        </p:txBody>
      </p:sp>
      <p:sp>
        <p:nvSpPr>
          <p:cNvPr id="39" name="Oval 38"/>
          <p:cNvSpPr/>
          <p:nvPr/>
        </p:nvSpPr>
        <p:spPr>
          <a:xfrm>
            <a:off x="8477859" y="3776472"/>
            <a:ext cx="237744" cy="23774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43619" y="3749039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Audit trail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0749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141413"/>
                </a:solidFill>
                <a:latin typeface="Lora"/>
              </a:defRPr>
            </a:pPr>
            <a:r>
              <a:t>Risk tiers: Low · Medium · High · Critical → deeper control at higher tiers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PRINCIPLES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Responsible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3520440" cy="1097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187" y="196596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A9BCC"/>
                </a:solidFill>
                <a:latin typeface="Poppins"/>
              </a:defRPr>
            </a:pPr>
            <a:r>
              <a:t>Fairness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187" y="24688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E5D59"/>
                </a:solidFill>
                <a:latin typeface="Lora"/>
              </a:defRPr>
            </a:pPr>
            <a:r>
              <a:t>Bias testing + mitigation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173736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5627" y="1737360"/>
            <a:ext cx="3520440" cy="10972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947" y="196596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CD1CA"/>
                </a:solidFill>
                <a:latin typeface="Poppins"/>
              </a:defRPr>
            </a:pPr>
            <a:r>
              <a:t>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9947" y="24688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E5D59"/>
                </a:solidFill>
                <a:latin typeface="Lora"/>
              </a:defRPr>
            </a:pPr>
            <a:r>
              <a:t>Model cards · explainability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0387" y="173736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0387" y="1737360"/>
            <a:ext cx="3520440" cy="109728"/>
          </a:xfrm>
          <a:prstGeom prst="round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4707" y="196596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Accountability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707" y="24688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E5D59"/>
                </a:solidFill>
                <a:latin typeface="Lora"/>
              </a:defRPr>
            </a:pPr>
            <a:r>
              <a:t>Named business + model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867" y="342900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0867" y="3429000"/>
            <a:ext cx="3520440" cy="1097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187" y="36576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788C5D"/>
                </a:solidFill>
                <a:latin typeface="Poppins"/>
              </a:defRPr>
            </a:pPr>
            <a:r>
              <a:t>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187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E5D59"/>
                </a:solidFill>
                <a:latin typeface="Lora"/>
              </a:defRPr>
            </a:pPr>
            <a:r>
              <a:t>Minimization · consent · DLP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5627" y="342900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35627" y="3429000"/>
            <a:ext cx="3520440" cy="1097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9947" y="36576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46686"/>
                </a:solidFill>
                <a:latin typeface="Poppins"/>
              </a:defRPr>
            </a:pPr>
            <a: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9947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E5D59"/>
                </a:solidFill>
                <a:latin typeface="Lora"/>
              </a:defRPr>
            </a:pPr>
            <a:r>
              <a:t>Access · adversarial robustness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0387" y="342900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0387" y="3429000"/>
            <a:ext cx="3520440" cy="1097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4707" y="36576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46686"/>
                </a:solidFill>
                <a:latin typeface="Poppins"/>
              </a:defRPr>
            </a:pPr>
            <a:r>
              <a:t>Human oversight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707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E5D59"/>
                </a:solidFill>
                <a:latin typeface="Lora"/>
              </a:defRPr>
            </a:pPr>
            <a:r>
              <a:t>Human-in-the-loop high/critical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KPI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How we measure success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691640"/>
            <a:ext cx="2606040" cy="16916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467" y="1856232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AF9F5"/>
                </a:solidFill>
                <a:latin typeface="Poppins"/>
              </a:defRPr>
            </a:pPr>
            <a:r>
              <a:t>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" y="25603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AF9F5"/>
                </a:solidFill>
                <a:latin typeface="Poppins"/>
              </a:defRPr>
            </a:pPr>
            <a:r>
              <a:t>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2926080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Net AI portfolio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691640"/>
            <a:ext cx="2606040" cy="169164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4107" y="1856232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AF9F5"/>
                </a:solidFill>
                <a:latin typeface="Poppins"/>
              </a:defRPr>
            </a:pPr>
            <a:r>
              <a:t>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4107" y="25603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AF9F5"/>
                </a:solidFill>
                <a:latin typeface="Poppins"/>
              </a:defRPr>
            </a:pPr>
            <a:r>
              <a:t>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4107" y="2926080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Use cases live / quarter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691640"/>
            <a:ext cx="2606040" cy="16916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747" y="1856232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AF9F5"/>
                </a:solidFill>
                <a:latin typeface="Poppins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25603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AF9F5"/>
                </a:solidFill>
                <a:latin typeface="Poppins"/>
              </a:defRPr>
            </a:pPr>
            <a:r>
              <a:t>Time-to-value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7" y="2926080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Idea →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691640"/>
            <a:ext cx="2606040" cy="169164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3387" y="1856232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AF9F5"/>
                </a:solidFill>
                <a:latin typeface="Poppins"/>
              </a:defRPr>
            </a:pPr>
            <a:r>
              <a:t>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3387" y="25603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AF9F5"/>
                </a:solidFill>
                <a:latin typeface="Poppins"/>
              </a:defRPr>
            </a:pPr>
            <a:r>
              <a:t>Reuse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3387" y="2926080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% on shared platform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" y="3657600"/>
            <a:ext cx="2606040" cy="16916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467" y="3822191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AF9F5"/>
                </a:solidFill>
                <a:latin typeface="Poppins"/>
              </a:defRPr>
            </a:pPr>
            <a:r>
              <a:t>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467" y="45262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AF9F5"/>
                </a:solidFill>
                <a:latin typeface="Poppins"/>
              </a:defRPr>
            </a:pPr>
            <a:r>
              <a:t>GenAI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467" y="4892040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Grounded-response 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5507" y="3657600"/>
            <a:ext cx="2606040" cy="1691640"/>
          </a:xfrm>
          <a:prstGeom prst="round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4107" y="3822191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AF9F5"/>
                </a:solidFill>
                <a:latin typeface="Poppins"/>
              </a:defRPr>
            </a:pPr>
            <a: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4107" y="45262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AF9F5"/>
                </a:solidFill>
                <a:latin typeface="Poppins"/>
              </a:defRPr>
            </a:pPr>
            <a:r>
              <a:t>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4107" y="4892040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Gate first-pass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0147" y="3657600"/>
            <a:ext cx="2606040" cy="169164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8747" y="3822191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AF9F5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747" y="45262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AF9F5"/>
                </a:solidFill>
                <a:latin typeface="Poppins"/>
              </a:defRPr>
            </a:pPr>
            <a:r>
              <a:t>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8747" y="4892040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vs baseline; drift stable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4787" y="3657600"/>
            <a:ext cx="2606040" cy="16916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73387" y="3822191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AF9F5"/>
                </a:solidFill>
                <a:latin typeface="Poppins"/>
              </a:defRPr>
            </a:pPr>
            <a: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3387" y="45262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AF9F5"/>
                </a:solidFill>
                <a:latin typeface="Poppins"/>
              </a:defRPr>
            </a:pPr>
            <a:r>
              <a:t>Talent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3387" y="4892040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Key-talent attrition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REQUIREMENTS /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Who we are looking for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1783080"/>
            <a:ext cx="5394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8007" y="1783080"/>
            <a:ext cx="109728" cy="160020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039" y="19476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039" y="2331720"/>
            <a:ext cx="49834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Master's / Ph.D. — Data Science, CS, Statistics, Math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394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783080"/>
            <a:ext cx="109728" cy="160020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19476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2331720"/>
            <a:ext cx="49834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10+ yrs DS/analytics · 5+ yrs leadership · large-scale 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007" y="3703320"/>
            <a:ext cx="5394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8007" y="3703320"/>
            <a:ext cx="109728" cy="160020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039" y="386791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Technical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039" y="4251960"/>
            <a:ext cx="498348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ML · DL · NLP · big data · Python/R/SQL · Spark/Hadoop · AWS/GCP/Azure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3703320"/>
            <a:ext cx="5394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3703320"/>
            <a:ext cx="109728" cy="16002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4759" y="386791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759" y="4251960"/>
            <a:ext cx="498348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Stakeholder management · influence at executive 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First 90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7987" y="1737360"/>
            <a:ext cx="11475720" cy="73152"/>
          </a:xfrm>
          <a:prstGeom prst="rect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7623" y="1664208"/>
            <a:ext cx="292608" cy="292608"/>
          </a:xfrm>
          <a:prstGeom prst="ellipse">
            <a:avLst/>
          </a:prstGeom>
          <a:solidFill>
            <a:srgbClr val="6A9BCC"/>
          </a:solidFill>
          <a:ln w="254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7987" y="2194560"/>
            <a:ext cx="3611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7987" y="2194560"/>
            <a:ext cx="3611880" cy="68580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7987" y="2194560"/>
            <a:ext cx="3611880" cy="68580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0–30 days</a:t>
            </a:r>
          </a:p>
          <a:p>
            <a:pPr algn="ctr">
              <a:defRPr sz="1100" b="1">
                <a:solidFill>
                  <a:srgbClr val="B0AEA5"/>
                </a:solidFill>
                <a:latin typeface="Lora"/>
              </a:defRPr>
            </a:pPr>
            <a:r>
              <a:t>Listen &amp; assess</a:t>
            </a:r>
          </a:p>
        </p:txBody>
      </p:sp>
      <p:sp>
        <p:nvSpPr>
          <p:cNvPr id="12" name="Oval 11"/>
          <p:cNvSpPr/>
          <p:nvPr/>
        </p:nvSpPr>
        <p:spPr>
          <a:xfrm>
            <a:off x="632307" y="3118104"/>
            <a:ext cx="164592" cy="164592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4915" y="30632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Maturity &amp; data audit</a:t>
            </a:r>
          </a:p>
        </p:txBody>
      </p:sp>
      <p:sp>
        <p:nvSpPr>
          <p:cNvPr id="14" name="Oval 13"/>
          <p:cNvSpPr/>
          <p:nvPr/>
        </p:nvSpPr>
        <p:spPr>
          <a:xfrm>
            <a:off x="632307" y="3666744"/>
            <a:ext cx="164592" cy="164592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915" y="36118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Meet executives &amp; BUs</a:t>
            </a:r>
          </a:p>
        </p:txBody>
      </p:sp>
      <p:sp>
        <p:nvSpPr>
          <p:cNvPr id="16" name="Oval 15"/>
          <p:cNvSpPr/>
          <p:nvPr/>
        </p:nvSpPr>
        <p:spPr>
          <a:xfrm>
            <a:off x="632307" y="4215383"/>
            <a:ext cx="164592" cy="164592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4915" y="41605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Quick-win shortlist</a:t>
            </a:r>
          </a:p>
        </p:txBody>
      </p:sp>
      <p:sp>
        <p:nvSpPr>
          <p:cNvPr id="18" name="Oval 17"/>
          <p:cNvSpPr/>
          <p:nvPr/>
        </p:nvSpPr>
        <p:spPr>
          <a:xfrm>
            <a:off x="5949543" y="1664208"/>
            <a:ext cx="292608" cy="292608"/>
          </a:xfrm>
          <a:prstGeom prst="ellipse">
            <a:avLst/>
          </a:prstGeom>
          <a:solidFill>
            <a:srgbClr val="D97757"/>
          </a:solidFill>
          <a:ln w="254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89907" y="2194560"/>
            <a:ext cx="3611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89907" y="2194560"/>
            <a:ext cx="3611880" cy="6858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9907" y="2194560"/>
            <a:ext cx="3611880" cy="6858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30–60 days</a:t>
            </a:r>
          </a:p>
          <a:p>
            <a:pPr algn="ctr">
              <a:defRPr sz="1100" b="1">
                <a:solidFill>
                  <a:srgbClr val="B0AEA5"/>
                </a:solidFill>
                <a:latin typeface="Lora"/>
              </a:defRPr>
            </a:pPr>
            <a:r>
              <a:t>Frame &amp; fund</a:t>
            </a:r>
          </a:p>
        </p:txBody>
      </p:sp>
      <p:sp>
        <p:nvSpPr>
          <p:cNvPr id="22" name="Oval 21"/>
          <p:cNvSpPr/>
          <p:nvPr/>
        </p:nvSpPr>
        <p:spPr>
          <a:xfrm>
            <a:off x="4564227" y="3118104"/>
            <a:ext cx="164592" cy="16459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6835" y="30632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Ratify AI strategy</a:t>
            </a:r>
          </a:p>
        </p:txBody>
      </p:sp>
      <p:sp>
        <p:nvSpPr>
          <p:cNvPr id="24" name="Oval 23"/>
          <p:cNvSpPr/>
          <p:nvPr/>
        </p:nvSpPr>
        <p:spPr>
          <a:xfrm>
            <a:off x="4564227" y="3666744"/>
            <a:ext cx="164592" cy="16459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56835" y="36118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Governance baseline</a:t>
            </a:r>
          </a:p>
        </p:txBody>
      </p:sp>
      <p:sp>
        <p:nvSpPr>
          <p:cNvPr id="26" name="Oval 25"/>
          <p:cNvSpPr/>
          <p:nvPr/>
        </p:nvSpPr>
        <p:spPr>
          <a:xfrm>
            <a:off x="4564227" y="4215383"/>
            <a:ext cx="164592" cy="16459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6835" y="41605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Prioritized portfolio</a:t>
            </a:r>
          </a:p>
        </p:txBody>
      </p:sp>
      <p:sp>
        <p:nvSpPr>
          <p:cNvPr id="28" name="Oval 27"/>
          <p:cNvSpPr/>
          <p:nvPr/>
        </p:nvSpPr>
        <p:spPr>
          <a:xfrm>
            <a:off x="9881463" y="1664208"/>
            <a:ext cx="292608" cy="292608"/>
          </a:xfrm>
          <a:prstGeom prst="ellipse">
            <a:avLst/>
          </a:prstGeom>
          <a:solidFill>
            <a:srgbClr val="788C5D"/>
          </a:solidFill>
          <a:ln w="254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1827" y="2194560"/>
            <a:ext cx="3611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1827" y="2194560"/>
            <a:ext cx="3611880" cy="68580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1827" y="2194560"/>
            <a:ext cx="3611880" cy="68580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60–90 days</a:t>
            </a:r>
          </a:p>
          <a:p>
            <a:pPr algn="ctr">
              <a:defRPr sz="1100" b="1">
                <a:solidFill>
                  <a:srgbClr val="B0AEA5"/>
                </a:solidFill>
                <a:latin typeface="Lora"/>
              </a:defRPr>
            </a:pPr>
            <a:r>
              <a:t>Deliver &amp; scale</a:t>
            </a:r>
          </a:p>
        </p:txBody>
      </p:sp>
      <p:sp>
        <p:nvSpPr>
          <p:cNvPr id="32" name="Oval 31"/>
          <p:cNvSpPr/>
          <p:nvPr/>
        </p:nvSpPr>
        <p:spPr>
          <a:xfrm>
            <a:off x="8496147" y="3118104"/>
            <a:ext cx="164592" cy="164592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88755" y="30632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Ship 1–2 quick wins</a:t>
            </a:r>
          </a:p>
        </p:txBody>
      </p:sp>
      <p:sp>
        <p:nvSpPr>
          <p:cNvPr id="34" name="Oval 33"/>
          <p:cNvSpPr/>
          <p:nvPr/>
        </p:nvSpPr>
        <p:spPr>
          <a:xfrm>
            <a:off x="8496147" y="3666744"/>
            <a:ext cx="164592" cy="164592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88755" y="36118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Stand up MLOps</a:t>
            </a:r>
          </a:p>
        </p:txBody>
      </p:sp>
      <p:sp>
        <p:nvSpPr>
          <p:cNvPr id="36" name="Oval 35"/>
          <p:cNvSpPr/>
          <p:nvPr/>
        </p:nvSpPr>
        <p:spPr>
          <a:xfrm>
            <a:off x="8496147" y="4215383"/>
            <a:ext cx="164592" cy="164592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88755" y="41605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Operating model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Head of AI Factory  ·  Board briefing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757"/>
                </a:solidFill>
                <a:latin typeface="Lora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Four commitments of the AI Factory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8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0987" y="246888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Value-led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Every model has an owner &amp; measured 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64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1347" y="2468880"/>
            <a:ext cx="548640" cy="5486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52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Platform-powered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81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Reusable assets cut cost &amp; time per use 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61707" y="2468880"/>
            <a:ext cx="548640" cy="5486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Governance-assured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17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Responsible, compliant, secure by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1336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42067" y="2468880"/>
            <a:ext cx="548640" cy="548640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24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People-first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453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Talent &amp; culture sustain the advantage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74920"/>
            <a:ext cx="1051560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AF9F5"/>
                </a:solidFill>
                <a:latin typeface="Poppins"/>
              </a:defRPr>
            </a:pPr>
            <a:r>
              <a:t>The AI Factory turns AI opportunity into trusted, scaled business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