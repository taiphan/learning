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51960"/>
            <a:ext cx="12191695" cy="731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78440" y="685800"/>
            <a:ext cx="320040" cy="3200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0" y="685800"/>
            <a:ext cx="320040" cy="320040"/>
          </a:xfrm>
          <a:prstGeom prst="ellipse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1280160"/>
            <a:ext cx="320040" cy="320040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D97757"/>
                </a:solidFill>
                <a:latin typeface="Lora"/>
              </a:defRPr>
            </a:pPr>
            <a:r>
              <a:t>FE CREDIT BRD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400" b="1">
                <a:solidFill>
                  <a:srgbClr val="FAF9F5"/>
                </a:solidFill>
                <a:latin typeface="Poppins"/>
              </a:defRPr>
            </a:pPr>
            <a:r>
              <a:t>FE Credit BRD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B0AEA5"/>
                </a:solidFill>
                <a:latin typeface="Lora"/>
              </a:defRPr>
            </a:pPr>
            <a:r>
              <a:t>Write requirements IT can deliver — without rework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78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B0AEA5"/>
                </a:solidFill>
                <a:latin typeface="Lora"/>
              </a:defRPr>
            </a:pPr>
            <a:r>
              <a:t>Session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19" y="1417320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19" y="1417320"/>
            <a:ext cx="91440" cy="219456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4087" y="1600200"/>
            <a:ext cx="384048" cy="38404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417320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Write a complete BRD using FE Credit template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33007" y="1417320"/>
            <a:ext cx="91440" cy="219456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34175" y="1600200"/>
            <a:ext cx="384048" cy="384048"/>
          </a:xfrm>
          <a:prstGeom prst="ellipse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6239" y="1417320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Separate business need from technical solution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19" y="3867911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19" y="3867911"/>
            <a:ext cx="91440" cy="219456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4087" y="4050791"/>
            <a:ext cx="384048" cy="384048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3867911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Define testable acceptance criteria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3867911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33007" y="3867911"/>
            <a:ext cx="91440" cy="219456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34175" y="4050791"/>
            <a:ext cx="384048" cy="384048"/>
          </a:xfrm>
          <a:prstGeom prst="ellipse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6239" y="3867911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Pass BRD quality gate (≥ 80%)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Why We Are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19" y="1417320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19" y="1417320"/>
            <a:ext cx="91440" cy="219456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4087" y="1600200"/>
            <a:ext cx="384048" cy="38404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417320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High volume of IT requests from business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33007" y="1417320"/>
            <a:ext cx="91440" cy="219456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34175" y="1600200"/>
            <a:ext cx="384048" cy="384048"/>
          </a:xfrm>
          <a:prstGeom prst="ellipse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6239" y="1581912"/>
            <a:ext cx="458708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41413"/>
                </a:solidFill>
                <a:latin typeface="Lora"/>
              </a:defRPr>
            </a:pPr>
            <a:r>
              <a:t>Rework costs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2130552"/>
            <a:ext cx="4998567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delay, UAT defects, compliance risk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19" y="3867911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19" y="3867911"/>
            <a:ext cx="91440" cy="219456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7" y="4050791"/>
            <a:ext cx="384048" cy="384048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1" y="4032503"/>
            <a:ext cx="458708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41413"/>
                </a:solidFill>
                <a:latin typeface="Lora"/>
              </a:defRPr>
            </a:pPr>
            <a:r>
              <a:t>Goal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" y="4581144"/>
            <a:ext cx="4998567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faster triage, predictable delivery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What Is a BRD?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E5D59"/>
                </a:solidFill>
                <a:latin typeface="Lora"/>
              </a:defRPr>
            </a:pPr>
            <a:r>
              <a:t>Document describing: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19" y="1874519"/>
            <a:ext cx="5455767" cy="20665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19" y="1874519"/>
            <a:ext cx="91440" cy="2066543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7" y="2057400"/>
            <a:ext cx="384048" cy="38404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1" y="1874519"/>
            <a:ext cx="4587087" cy="20665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Business problem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874519"/>
            <a:ext cx="5455767" cy="20665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33007" y="1874519"/>
            <a:ext cx="91440" cy="2066543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4175" y="2057400"/>
            <a:ext cx="384048" cy="384048"/>
          </a:xfrm>
          <a:prstGeom prst="ellipse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6239" y="1874519"/>
            <a:ext cx="4587087" cy="20665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Outcomes and KPIs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19" y="4197096"/>
            <a:ext cx="5455767" cy="20665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19" y="4197096"/>
            <a:ext cx="91440" cy="2066543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7" y="4379976"/>
            <a:ext cx="384048" cy="384048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1" y="4197096"/>
            <a:ext cx="4587087" cy="20665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Business rules and scope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BRD vs Other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4582844" cy="749808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defRPr sz="1150" b="1">
                <a:solidFill>
                  <a:srgbClr val="FAF9F5"/>
                </a:solidFill>
                <a:latin typeface="Lora"/>
              </a:defRPr>
            </a:pPr>
            <a:r>
              <a:t>BRD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77788" y="1673352"/>
            <a:ext cx="365760" cy="237744"/>
          </a:xfrm>
          <a:prstGeom prst="rightArrow">
            <a:avLst/>
          </a:prstGeom>
          <a:solidFill>
            <a:srgbClr val="B0A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25844" y="1417320"/>
            <a:ext cx="5825770" cy="749808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Business owns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95144"/>
            <a:ext cx="4582844" cy="749808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defRPr sz="1150" b="1">
                <a:solidFill>
                  <a:srgbClr val="FAF9F5"/>
                </a:solidFill>
                <a:latin typeface="Lora"/>
              </a:defRPr>
            </a:pPr>
            <a:r>
              <a:t>FRD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77788" y="2551176"/>
            <a:ext cx="365760" cy="237744"/>
          </a:xfrm>
          <a:prstGeom prst="rightArrow">
            <a:avLst/>
          </a:prstGeom>
          <a:solidFill>
            <a:srgbClr val="B0A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725844" y="2295144"/>
            <a:ext cx="5825770" cy="749808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BA +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72968"/>
            <a:ext cx="4582844" cy="74980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defRPr sz="1150" b="1">
                <a:solidFill>
                  <a:srgbClr val="FAF9F5"/>
                </a:solidFill>
                <a:latin typeface="Lora"/>
              </a:defRPr>
            </a:pPr>
            <a:r>
              <a:t>Technical Design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277788" y="3429000"/>
            <a:ext cx="365760" cy="237744"/>
          </a:xfrm>
          <a:prstGeom prst="rightArrow">
            <a:avLst/>
          </a:prstGeom>
          <a:solidFill>
            <a:srgbClr val="B0A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725844" y="3172968"/>
            <a:ext cx="5825770" cy="749808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50791"/>
            <a:ext cx="4582844" cy="749808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defRPr sz="1150" b="1">
                <a:solidFill>
                  <a:srgbClr val="FAF9F5"/>
                </a:solidFill>
                <a:latin typeface="Lora"/>
              </a:defRPr>
            </a:pPr>
            <a:r>
              <a:t>UAT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277788" y="4306824"/>
            <a:ext cx="365760" cy="237744"/>
          </a:xfrm>
          <a:prstGeom prst="rightArrow">
            <a:avLst/>
          </a:prstGeom>
          <a:solidFill>
            <a:srgbClr val="B0A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725844" y="4050791"/>
            <a:ext cx="5825770" cy="749808"/>
          </a:xfrm>
          <a:prstGeom prst="round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defRPr sz="1100" b="0">
                <a:solidFill>
                  <a:srgbClr val="141413"/>
                </a:solidFill>
                <a:latin typeface="Lora"/>
              </a:defRPr>
            </a:pPr>
            <a:r>
              <a:t>Business + QA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FE Credit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19" y="1417320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19" y="1417320"/>
            <a:ext cx="91440" cy="219456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4087" y="1600200"/>
            <a:ext cx="384048" cy="38404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417320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FE ONLINE 2.0 (customer mobile app)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33007" y="1417320"/>
            <a:ext cx="91440" cy="219456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34175" y="1600200"/>
            <a:ext cx="384048" cy="384048"/>
          </a:xfrm>
          <a:prstGeom prst="ellipse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6239" y="1417320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Finacle LMS, CIF, Assure on AWS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19" y="3867911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19" y="3867911"/>
            <a:ext cx="91440" cy="219456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4087" y="4050791"/>
            <a:ext cx="384048" cy="384048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3867911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POS/LOS, FirstVision cards, Collections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3867911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33007" y="3867911"/>
            <a:ext cx="91440" cy="219456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34175" y="4050791"/>
            <a:ext cx="384048" cy="384048"/>
          </a:xfrm>
          <a:prstGeom prst="ellipse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6239" y="3867911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~13k POS, SBV compliance expectations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Request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7</a:t>
            </a:r>
          </a:p>
        </p:txBody>
      </p:sp>
      <p:sp>
        <p:nvSpPr>
          <p:cNvPr id="8" name="Chevron 7"/>
          <p:cNvSpPr/>
          <p:nvPr/>
        </p:nvSpPr>
        <p:spPr>
          <a:xfrm>
            <a:off x="457200" y="2057400"/>
            <a:ext cx="1313649" cy="1554480"/>
          </a:xfrm>
          <a:prstGeom prst="chevron">
            <a:avLst/>
          </a:prstGeom>
          <a:solidFill>
            <a:srgbClr val="D97757"/>
          </a:solidFill>
          <a:ln w="19050">
            <a:solidFill>
              <a:srgbClr val="FAF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AF9F5"/>
                </a:solidFill>
                <a:latin typeface="Poppins"/>
              </a:defRPr>
            </a:pPr>
            <a:r>
              <a:t>1</a:t>
            </a:r>
          </a:p>
          <a:p>
            <a:pPr algn="ctr">
              <a:defRPr sz="1150" b="1">
                <a:solidFill>
                  <a:srgbClr val="FAF9F5"/>
                </a:solidFill>
                <a:latin typeface="Lora"/>
              </a:defRPr>
            </a:pPr>
            <a:r>
              <a:t>Business BRD</a:t>
            </a:r>
          </a:p>
        </p:txBody>
      </p:sp>
      <p:sp>
        <p:nvSpPr>
          <p:cNvPr id="9" name="Chevron 8"/>
          <p:cNvSpPr/>
          <p:nvPr/>
        </p:nvSpPr>
        <p:spPr>
          <a:xfrm>
            <a:off x="1880577" y="2057400"/>
            <a:ext cx="1313649" cy="1554480"/>
          </a:xfrm>
          <a:prstGeom prst="chevron">
            <a:avLst/>
          </a:prstGeom>
          <a:solidFill>
            <a:srgbClr val="6A9BCC"/>
          </a:solidFill>
          <a:ln w="19050">
            <a:solidFill>
              <a:srgbClr val="FAF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AF9F5"/>
                </a:solidFill>
                <a:latin typeface="Poppins"/>
              </a:defRPr>
            </a:pPr>
            <a:r>
              <a:t>2</a:t>
            </a:r>
          </a:p>
          <a:p>
            <a:pPr algn="ctr">
              <a:defRPr sz="1150" b="1">
                <a:solidFill>
                  <a:srgbClr val="FAF9F5"/>
                </a:solidFill>
                <a:latin typeface="Lora"/>
              </a:defRPr>
            </a:pPr>
            <a:r>
              <a:t>BA review</a:t>
            </a:r>
          </a:p>
        </p:txBody>
      </p:sp>
      <p:sp>
        <p:nvSpPr>
          <p:cNvPr id="10" name="Chevron 9"/>
          <p:cNvSpPr/>
          <p:nvPr/>
        </p:nvSpPr>
        <p:spPr>
          <a:xfrm>
            <a:off x="3303955" y="2057400"/>
            <a:ext cx="1313649" cy="1554480"/>
          </a:xfrm>
          <a:prstGeom prst="chevron">
            <a:avLst/>
          </a:prstGeom>
          <a:solidFill>
            <a:srgbClr val="788C5D"/>
          </a:solidFill>
          <a:ln w="19050">
            <a:solidFill>
              <a:srgbClr val="FAF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AF9F5"/>
                </a:solidFill>
                <a:latin typeface="Poppins"/>
              </a:defRPr>
            </a:pPr>
            <a:r>
              <a:t>3</a:t>
            </a:r>
          </a:p>
          <a:p>
            <a:pPr algn="ctr">
              <a:defRPr sz="1150" b="1">
                <a:solidFill>
                  <a:srgbClr val="FAF9F5"/>
                </a:solidFill>
                <a:latin typeface="Lora"/>
              </a:defRPr>
            </a:pPr>
            <a:r>
              <a:t>IT triage</a:t>
            </a:r>
          </a:p>
        </p:txBody>
      </p:sp>
      <p:sp>
        <p:nvSpPr>
          <p:cNvPr id="11" name="Chevron 10"/>
          <p:cNvSpPr/>
          <p:nvPr/>
        </p:nvSpPr>
        <p:spPr>
          <a:xfrm>
            <a:off x="4727333" y="2057400"/>
            <a:ext cx="1313649" cy="1554480"/>
          </a:xfrm>
          <a:prstGeom prst="chevron">
            <a:avLst/>
          </a:prstGeom>
          <a:solidFill>
            <a:srgbClr val="C46686"/>
          </a:solidFill>
          <a:ln w="19050">
            <a:solidFill>
              <a:srgbClr val="FAF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AF9F5"/>
                </a:solidFill>
                <a:latin typeface="Poppins"/>
              </a:defRPr>
            </a:pPr>
            <a:r>
              <a:t>4</a:t>
            </a:r>
          </a:p>
          <a:p>
            <a:pPr algn="ctr">
              <a:defRPr sz="1150" b="1">
                <a:solidFill>
                  <a:srgbClr val="FAF9F5"/>
                </a:solidFill>
                <a:latin typeface="Lora"/>
              </a:defRPr>
            </a:pPr>
            <a:r>
              <a:t>Risk (if needed)</a:t>
            </a:r>
          </a:p>
        </p:txBody>
      </p:sp>
      <p:sp>
        <p:nvSpPr>
          <p:cNvPr id="12" name="Chevron 11"/>
          <p:cNvSpPr/>
          <p:nvPr/>
        </p:nvSpPr>
        <p:spPr>
          <a:xfrm>
            <a:off x="6150711" y="2057400"/>
            <a:ext cx="1313649" cy="1554480"/>
          </a:xfrm>
          <a:prstGeom prst="chevron">
            <a:avLst/>
          </a:prstGeom>
          <a:solidFill>
            <a:srgbClr val="BCD1CA"/>
          </a:solidFill>
          <a:ln w="19050">
            <a:solidFill>
              <a:srgbClr val="FAF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AF9F5"/>
                </a:solidFill>
                <a:latin typeface="Poppins"/>
              </a:defRPr>
            </a:pPr>
            <a:r>
              <a:t>5</a:t>
            </a:r>
          </a:p>
          <a:p>
            <a:pPr algn="ctr">
              <a:defRPr sz="1150" b="1">
                <a:solidFill>
                  <a:srgbClr val="FAF9F5"/>
                </a:solidFill>
                <a:latin typeface="Lora"/>
              </a:defRPr>
            </a:pPr>
            <a:r>
              <a:t>FRD</a:t>
            </a:r>
          </a:p>
        </p:txBody>
      </p:sp>
      <p:sp>
        <p:nvSpPr>
          <p:cNvPr id="13" name="Chevron 12"/>
          <p:cNvSpPr/>
          <p:nvPr/>
        </p:nvSpPr>
        <p:spPr>
          <a:xfrm>
            <a:off x="7574089" y="2057400"/>
            <a:ext cx="1313649" cy="1554480"/>
          </a:xfrm>
          <a:prstGeom prst="chevron">
            <a:avLst/>
          </a:prstGeom>
          <a:solidFill>
            <a:srgbClr val="3D3D3A"/>
          </a:solidFill>
          <a:ln w="19050">
            <a:solidFill>
              <a:srgbClr val="FAF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AF9F5"/>
                </a:solidFill>
                <a:latin typeface="Poppins"/>
              </a:defRPr>
            </a:pPr>
            <a:r>
              <a:t>6</a:t>
            </a:r>
          </a:p>
          <a:p>
            <a:pPr algn="ctr">
              <a:defRPr sz="1150" b="1">
                <a:solidFill>
                  <a:srgbClr val="FAF9F5"/>
                </a:solidFill>
                <a:latin typeface="Lora"/>
              </a:defRPr>
            </a:pPr>
            <a:r>
              <a:t>Build</a:t>
            </a:r>
          </a:p>
        </p:txBody>
      </p:sp>
      <p:sp>
        <p:nvSpPr>
          <p:cNvPr id="14" name="Chevron 13"/>
          <p:cNvSpPr/>
          <p:nvPr/>
        </p:nvSpPr>
        <p:spPr>
          <a:xfrm>
            <a:off x="8997467" y="2057400"/>
            <a:ext cx="1313649" cy="1554480"/>
          </a:xfrm>
          <a:prstGeom prst="chevron">
            <a:avLst/>
          </a:prstGeom>
          <a:solidFill>
            <a:srgbClr val="D97757"/>
          </a:solidFill>
          <a:ln w="19050">
            <a:solidFill>
              <a:srgbClr val="FAF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AF9F5"/>
                </a:solidFill>
                <a:latin typeface="Poppins"/>
              </a:defRPr>
            </a:pPr>
            <a:r>
              <a:t>7</a:t>
            </a:r>
          </a:p>
          <a:p>
            <a:pPr algn="ctr">
              <a:defRPr sz="1150" b="1">
                <a:solidFill>
                  <a:srgbClr val="FAF9F5"/>
                </a:solidFill>
                <a:latin typeface="Lora"/>
              </a:defRPr>
            </a:pPr>
            <a:r>
              <a:t>UAT</a:t>
            </a:r>
          </a:p>
        </p:txBody>
      </p:sp>
      <p:sp>
        <p:nvSpPr>
          <p:cNvPr id="15" name="Chevron 14"/>
          <p:cNvSpPr/>
          <p:nvPr/>
        </p:nvSpPr>
        <p:spPr>
          <a:xfrm>
            <a:off x="10420845" y="2057400"/>
            <a:ext cx="1313649" cy="1554480"/>
          </a:xfrm>
          <a:prstGeom prst="chevron">
            <a:avLst/>
          </a:prstGeom>
          <a:solidFill>
            <a:srgbClr val="6A9BCC"/>
          </a:solidFill>
          <a:ln w="19050">
            <a:solidFill>
              <a:srgbClr val="FAF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AF9F5"/>
                </a:solidFill>
                <a:latin typeface="Poppins"/>
              </a:defRPr>
            </a:pPr>
            <a:r>
              <a:t>8</a:t>
            </a:r>
          </a:p>
          <a:p>
            <a:pPr algn="ctr">
              <a:defRPr sz="1150" b="1">
                <a:solidFill>
                  <a:srgbClr val="FAF9F5"/>
                </a:solidFill>
                <a:latin typeface="Lora"/>
              </a:defRPr>
            </a:pPr>
            <a:r>
              <a:t>Go-live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Good vs Bad 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5272887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17320"/>
            <a:ext cx="5272887" cy="603504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417320"/>
            <a:ext cx="5272887" cy="603504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AF9F5"/>
                </a:solidFill>
                <a:latin typeface="Poppins"/>
              </a:defRPr>
            </a:pPr>
            <a:r>
              <a:t>✗  Bad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2340864"/>
            <a:ext cx="146304" cy="146304"/>
          </a:xfrm>
          <a:prstGeom prst="ellipse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7" y="2286000"/>
            <a:ext cx="449564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141413"/>
                </a:solidFill>
                <a:latin typeface="Lora"/>
              </a:defRPr>
            </a:pPr>
            <a:r>
              <a:t>'Build Kafka API to Finacle'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417320"/>
            <a:ext cx="5272887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78727" y="1417320"/>
            <a:ext cx="5272887" cy="603504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1417320"/>
            <a:ext cx="5272887" cy="603504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AF9F5"/>
                </a:solidFill>
                <a:latin typeface="Poppins"/>
              </a:defRPr>
            </a:pPr>
            <a:r>
              <a:t>✓  Good</a:t>
            </a:r>
          </a:p>
        </p:txBody>
      </p:sp>
      <p:sp>
        <p:nvSpPr>
          <p:cNvPr id="16" name="Oval 15"/>
          <p:cNvSpPr/>
          <p:nvPr/>
        </p:nvSpPr>
        <p:spPr>
          <a:xfrm>
            <a:off x="6553047" y="2340864"/>
            <a:ext cx="146304" cy="146304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5655" y="2286000"/>
            <a:ext cx="449564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141413"/>
                </a:solidFill>
                <a:latin typeface="Lora"/>
              </a:defRPr>
            </a:pPr>
            <a:r>
              <a:t>'POS needs same-day approval visibility during customer visit'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The Golden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1783080"/>
            <a:ext cx="9631375" cy="4251959"/>
          </a:xfrm>
          <a:prstGeom prst="roundRect">
            <a:avLst/>
          </a:prstGeom>
          <a:solidFill>
            <a:srgbClr val="E8E6DC"/>
          </a:solidFill>
          <a:ln w="19050">
            <a:solidFill>
              <a:srgbClr val="1414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80160" y="1783080"/>
            <a:ext cx="128016" cy="4251959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3342132"/>
            <a:ext cx="871697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0">
                <a:solidFill>
                  <a:srgbClr val="141413"/>
                </a:solidFill>
                <a:latin typeface="Lora"/>
              </a:defRPr>
            </a:pPr>
            <a:r>
              <a:t>Write the PROBLEM and RULES,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909059"/>
            <a:ext cx="871697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0">
                <a:solidFill>
                  <a:srgbClr val="141413"/>
                </a:solidFill>
                <a:latin typeface="Lora"/>
              </a:defRPr>
            </a:pPr>
            <a:r>
              <a:t>not the SYSTEM DESIGN.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Problem Statement Formula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1783080"/>
            <a:ext cx="9631375" cy="4251959"/>
          </a:xfrm>
          <a:prstGeom prst="roundRect">
            <a:avLst/>
          </a:prstGeom>
          <a:solidFill>
            <a:srgbClr val="E8E6DC"/>
          </a:solidFill>
          <a:ln w="19050">
            <a:solidFill>
              <a:srgbClr val="1414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80160" y="1783080"/>
            <a:ext cx="128016" cy="4251959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3058668"/>
            <a:ext cx="871697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141413"/>
                </a:solidFill>
                <a:latin typeface="Poppins"/>
              </a:defRPr>
            </a:pPr>
            <a:r>
              <a:t>[Role] cannot [task] because [constraint],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625596"/>
            <a:ext cx="871697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141413"/>
                </a:solidFill>
                <a:latin typeface="Poppins"/>
              </a:defRPr>
            </a:pPr>
            <a:r>
              <a:t>causing [impact].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4192524"/>
            <a:ext cx="871697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0">
                <a:solidFill>
                  <a:srgbClr val="141413"/>
                </a:solidFill>
                <a:latin typeface="Lora"/>
              </a:defRPr>
            </a:pPr>
            <a:r>
              <a:t>Example: POS staff cannot confirm approved installment plan during customer visit, causing 18% drop-off.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Objectives Must Be Measurable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5272887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17320"/>
            <a:ext cx="5272887" cy="603504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417320"/>
            <a:ext cx="5272887" cy="603504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AF9F5"/>
                </a:solidFill>
                <a:latin typeface="Poppins"/>
              </a:defRPr>
            </a:pPr>
            <a:r>
              <a:t>✗  Weak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2340864"/>
            <a:ext cx="146304" cy="146304"/>
          </a:xfrm>
          <a:prstGeom prst="ellipse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7" y="2286000"/>
            <a:ext cx="449564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141413"/>
                </a:solidFill>
                <a:latin typeface="Lora"/>
              </a:defRPr>
            </a:pPr>
            <a:r>
              <a:t>Improve customer experience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417320"/>
            <a:ext cx="5272887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78727" y="1417320"/>
            <a:ext cx="5272887" cy="603504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1417320"/>
            <a:ext cx="5272887" cy="603504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AF9F5"/>
                </a:solidFill>
                <a:latin typeface="Poppins"/>
              </a:defRPr>
            </a:pPr>
            <a:r>
              <a:t>✓  Strong</a:t>
            </a:r>
          </a:p>
        </p:txBody>
      </p:sp>
      <p:sp>
        <p:nvSpPr>
          <p:cNvPr id="16" name="Oval 15"/>
          <p:cNvSpPr/>
          <p:nvPr/>
        </p:nvSpPr>
        <p:spPr>
          <a:xfrm>
            <a:off x="6553047" y="2340864"/>
            <a:ext cx="146304" cy="146304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5655" y="2286000"/>
            <a:ext cx="449564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141413"/>
                </a:solidFill>
                <a:latin typeface="Lora"/>
              </a:defRPr>
            </a:pPr>
            <a:r>
              <a:t>Reduce disbursement TAT from 24h to 4h for POS motorbike loans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Scope: In AND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1783080"/>
            <a:ext cx="9631375" cy="4251959"/>
          </a:xfrm>
          <a:prstGeom prst="roundRect">
            <a:avLst/>
          </a:prstGeom>
          <a:solidFill>
            <a:srgbClr val="E8E6DC"/>
          </a:solidFill>
          <a:ln w="19050">
            <a:solidFill>
              <a:srgbClr val="1414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80160" y="1783080"/>
            <a:ext cx="128016" cy="4251959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3058668"/>
            <a:ext cx="871697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0">
                <a:solidFill>
                  <a:srgbClr val="141413"/>
                </a:solidFill>
                <a:latin typeface="Lora"/>
              </a:defRPr>
            </a:pPr>
            <a:r>
              <a:t>In scope: what this project delivers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625596"/>
            <a:ext cx="871697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0">
                <a:solidFill>
                  <a:srgbClr val="141413"/>
                </a:solidFill>
                <a:latin typeface="Lora"/>
              </a:defRPr>
            </a:pPr>
            <a:r>
              <a:t>Out of scope: prevents scope creep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4192524"/>
            <a:ext cx="871697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0">
                <a:solidFill>
                  <a:srgbClr val="141413"/>
                </a:solidFill>
                <a:latin typeface="Lora"/>
              </a:defRPr>
            </a:pPr>
            <a:r>
              <a:t>Always write both.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Business Rules — IT Must Not Guess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19" y="1417320"/>
            <a:ext cx="5455767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19" y="1417320"/>
            <a:ext cx="91440" cy="1444752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4087" y="1600200"/>
            <a:ext cx="384048" cy="38404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417320"/>
            <a:ext cx="4587087" cy="1444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Eligibility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55767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33007" y="1417320"/>
            <a:ext cx="91440" cy="1444752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34175" y="1600200"/>
            <a:ext cx="384048" cy="384048"/>
          </a:xfrm>
          <a:prstGeom prst="ellipse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6239" y="1417320"/>
            <a:ext cx="4587087" cy="1444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Approval authority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19" y="3118104"/>
            <a:ext cx="5455767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19" y="3118104"/>
            <a:ext cx="91440" cy="1444752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4087" y="3300984"/>
            <a:ext cx="384048" cy="384048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3118104"/>
            <a:ext cx="4587087" cy="1444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Cut-off times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3118104"/>
            <a:ext cx="5455767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33007" y="3118104"/>
            <a:ext cx="91440" cy="1444752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34175" y="3300984"/>
            <a:ext cx="384048" cy="384048"/>
          </a:xfrm>
          <a:prstGeom prst="ellipse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6239" y="3118104"/>
            <a:ext cx="4587087" cy="1444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Exceptions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19" y="4818888"/>
            <a:ext cx="5455767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2919" y="4818888"/>
            <a:ext cx="91440" cy="1444752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04087" y="5001768"/>
            <a:ext cx="384048" cy="384048"/>
          </a:xfrm>
          <a:prstGeom prst="ellipse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1" y="4818888"/>
            <a:ext cx="4587087" cy="1444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Customer communication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Acceptance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1783080"/>
            <a:ext cx="9631375" cy="4251959"/>
          </a:xfrm>
          <a:prstGeom prst="roundRect">
            <a:avLst/>
          </a:prstGeom>
          <a:solidFill>
            <a:srgbClr val="E8E6DC"/>
          </a:solidFill>
          <a:ln w="19050">
            <a:solidFill>
              <a:srgbClr val="1414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80160" y="1783080"/>
            <a:ext cx="128016" cy="4251959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2775204"/>
            <a:ext cx="871697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141413"/>
                </a:solidFill>
                <a:latin typeface="Poppins"/>
              </a:defRPr>
            </a:pPr>
            <a:r>
              <a:t>Given [context]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342132"/>
            <a:ext cx="871697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141413"/>
                </a:solidFill>
                <a:latin typeface="Poppins"/>
              </a:defRPr>
            </a:pPr>
            <a:r>
              <a:t>When [action]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909060"/>
            <a:ext cx="871697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141413"/>
                </a:solidFill>
                <a:latin typeface="Poppins"/>
              </a:defRPr>
            </a:pPr>
            <a:r>
              <a:t>Then [expected result]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4475988"/>
            <a:ext cx="871697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0">
                <a:solidFill>
                  <a:srgbClr val="141413"/>
                </a:solidFill>
                <a:latin typeface="Lora"/>
              </a:defRPr>
            </a:pPr>
            <a:r>
              <a:t>Minimum 5 per BRD → becomes UAT tests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Data &amp;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19" y="1417320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19" y="1417320"/>
            <a:ext cx="91440" cy="219456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4087" y="1600200"/>
            <a:ext cx="384048" cy="38404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581912"/>
            <a:ext cx="458708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41413"/>
                </a:solidFill>
                <a:latin typeface="Lora"/>
              </a:defRPr>
            </a:pPr>
            <a:r>
              <a:t>Classify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1" y="2130552"/>
            <a:ext cx="4998567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Public / Internal / Confidential / Restricted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17320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33007" y="1417320"/>
            <a:ext cx="91440" cy="219456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4175" y="1600200"/>
            <a:ext cx="384048" cy="384048"/>
          </a:xfrm>
          <a:prstGeom prst="ellipse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6239" y="1417320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Complete Section N screening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19" y="3867911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19" y="3867911"/>
            <a:ext cx="91440" cy="219456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7" y="4050791"/>
            <a:ext cx="384048" cy="384048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1" y="3867911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Route to Risk if customer data on POS or notifications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Top 10 BRD Mistakes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19" y="1417320"/>
            <a:ext cx="5455767" cy="76443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19" y="1417320"/>
            <a:ext cx="91440" cy="764438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4087" y="1600200"/>
            <a:ext cx="384048" cy="38404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417320"/>
            <a:ext cx="4587087" cy="7644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Solution not need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55767" cy="76443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33007" y="1417320"/>
            <a:ext cx="91440" cy="764438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34175" y="1600200"/>
            <a:ext cx="384048" cy="384048"/>
          </a:xfrm>
          <a:prstGeom prst="ellipse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6239" y="1417320"/>
            <a:ext cx="4587087" cy="7644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No KPI baseline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19" y="2437790"/>
            <a:ext cx="5455767" cy="76443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19" y="2437790"/>
            <a:ext cx="91440" cy="76443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4087" y="2620670"/>
            <a:ext cx="384048" cy="384048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2437790"/>
            <a:ext cx="4587087" cy="7644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Missing business rules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2437790"/>
            <a:ext cx="5455767" cy="76443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33007" y="2437790"/>
            <a:ext cx="91440" cy="764438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34175" y="2620670"/>
            <a:ext cx="384048" cy="384048"/>
          </a:xfrm>
          <a:prstGeom prst="ellipse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6239" y="2437790"/>
            <a:ext cx="4587087" cy="7644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No out-of-scope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19" y="3458260"/>
            <a:ext cx="5455767" cy="76443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2919" y="3458260"/>
            <a:ext cx="91440" cy="764438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04087" y="3641140"/>
            <a:ext cx="384048" cy="384048"/>
          </a:xfrm>
          <a:prstGeom prst="ellipse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1" y="3458260"/>
            <a:ext cx="4587087" cy="7644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Multiple projects in one BRD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3007" y="3458260"/>
            <a:ext cx="5455767" cy="76443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33007" y="3458260"/>
            <a:ext cx="91440" cy="764438"/>
          </a:xfrm>
          <a:prstGeom prst="roundRect">
            <a:avLst/>
          </a:prstGeom>
          <a:solidFill>
            <a:srgbClr val="3D3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34175" y="3641140"/>
            <a:ext cx="384048" cy="384048"/>
          </a:xfrm>
          <a:prstGeom prst="ellipse">
            <a:avLst/>
          </a:prstGeom>
          <a:solidFill>
            <a:srgbClr val="3D3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6239" y="3458260"/>
            <a:ext cx="4587087" cy="7644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No acceptance criteria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19" y="4478731"/>
            <a:ext cx="5455767" cy="76443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2919" y="4478731"/>
            <a:ext cx="91440" cy="764438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4087" y="4661611"/>
            <a:ext cx="384048" cy="38404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1" y="4478731"/>
            <a:ext cx="4587087" cy="7644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No sponsor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33007" y="4478731"/>
            <a:ext cx="5455767" cy="76443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33007" y="4478731"/>
            <a:ext cx="91440" cy="764438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34175" y="4661611"/>
            <a:ext cx="384048" cy="384048"/>
          </a:xfrm>
          <a:prstGeom prst="ellipse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6239" y="4478731"/>
            <a:ext cx="4587087" cy="7644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Ignoring POS training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19" y="5499201"/>
            <a:ext cx="5455767" cy="76443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19" y="5499201"/>
            <a:ext cx="91440" cy="764438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04087" y="5682081"/>
            <a:ext cx="384048" cy="384048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16151" y="5499201"/>
            <a:ext cx="4587087" cy="7644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No data classification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33007" y="5499201"/>
            <a:ext cx="5455767" cy="76443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233007" y="5499201"/>
            <a:ext cx="91440" cy="764438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434175" y="5682081"/>
            <a:ext cx="384048" cy="384048"/>
          </a:xfrm>
          <a:prstGeom prst="ellipse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6239" y="5499201"/>
            <a:ext cx="4587087" cy="7644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Vendor brochure copy-paste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BRD Quality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19" y="1417320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19" y="1417320"/>
            <a:ext cx="91440" cy="219456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4087" y="1600200"/>
            <a:ext cx="384048" cy="38404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417320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Score ≥ 80% on quality rubric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33007" y="1417320"/>
            <a:ext cx="91440" cy="219456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34175" y="1600200"/>
            <a:ext cx="384048" cy="384048"/>
          </a:xfrm>
          <a:prstGeom prst="ellipse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6239" y="1417320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Sponsor sign-off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19" y="3867911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19" y="3867911"/>
            <a:ext cx="91440" cy="219456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4087" y="4050791"/>
            <a:ext cx="384048" cy="384048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3867911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All mandatory sections complete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3867911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33007" y="3867911"/>
            <a:ext cx="91440" cy="219456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34175" y="4050791"/>
            <a:ext cx="384048" cy="384048"/>
          </a:xfrm>
          <a:prstGeom prst="ellipse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6239" y="3867911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Then → IT triage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Certification: BRD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19" y="1417320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19" y="1417320"/>
            <a:ext cx="91440" cy="219456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4087" y="1600200"/>
            <a:ext cx="384048" cy="38404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417320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Attend all 4 sessions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33007" y="1417320"/>
            <a:ext cx="91440" cy="219456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34175" y="1600200"/>
            <a:ext cx="384048" cy="384048"/>
          </a:xfrm>
          <a:prstGeom prst="ellipse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6239" y="1417320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Submit 1 BRD scoring ≥ 80%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19" y="3867911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19" y="3867911"/>
            <a:ext cx="91440" cy="219456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4087" y="4050791"/>
            <a:ext cx="384048" cy="384048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1" y="3867911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Sponsor sign-off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3867911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33007" y="3867911"/>
            <a:ext cx="91440" cy="219456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34175" y="4050791"/>
            <a:ext cx="384048" cy="384048"/>
          </a:xfrm>
          <a:prstGeom prst="ellipse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6239" y="3867911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BA coach confirms readiness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400" b="1">
                <a:solidFill>
                  <a:srgbClr val="FAF9F5"/>
                </a:solidFill>
                <a:latin typeface="Poppins"/>
              </a:defRPr>
            </a:pPr>
            <a: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FE Credit BRD Training  ·  Internal use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19" y="1417320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19" y="1417320"/>
            <a:ext cx="91440" cy="219456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4087" y="1600200"/>
            <a:ext cx="384048" cy="38404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1" y="1417320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Use template on Confluence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33007" y="1417320"/>
            <a:ext cx="91440" cy="219456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34175" y="1600200"/>
            <a:ext cx="384048" cy="384048"/>
          </a:xfrm>
          <a:prstGeom prst="ellipse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6239" y="1581912"/>
            <a:ext cx="458708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41413"/>
                </a:solidFill>
                <a:latin typeface="Lora"/>
              </a:defRPr>
            </a:pPr>
            <a:r>
              <a:t>Office hours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2130552"/>
            <a:ext cx="4998567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weekly BA support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19" y="3867911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19" y="3867911"/>
            <a:ext cx="91440" cy="219456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7" y="4050791"/>
            <a:ext cx="384048" cy="384048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1" y="3867911"/>
            <a:ext cx="4587087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141413"/>
                </a:solidFill>
                <a:latin typeface="Lora"/>
              </a:defRPr>
            </a:pPr>
            <a:r>
              <a:t>Submit via ServiceNow/Jira BRD form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3867911"/>
            <a:ext cx="5455767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3007" y="3867911"/>
            <a:ext cx="91440" cy="219456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34175" y="4050791"/>
            <a:ext cx="384048" cy="384048"/>
          </a:xfrm>
          <a:prstGeom prst="ellipse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6239" y="4032503"/>
            <a:ext cx="458708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141413"/>
                </a:solidFill>
                <a:latin typeface="Lora"/>
              </a:defRPr>
            </a:pPr>
            <a:r>
              <a:t>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9039" y="4581144"/>
            <a:ext cx="4998567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BA team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