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 Credit IT Delivery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Requirement → BRD → FSD → Test → UAT → Ship → Operations Support</a:t>
            </a:r>
          </a:p>
          <a:p>
            <a:r>
              <a:t>Governed delivery with Agile/Scrum internal process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Map the end-to-end IT delivery pipeline and mandatory gates</a:t>
            </a:r>
          </a:p>
          <a:p>
            <a:r>
              <a:t>• Align Scrum ceremonies with BRD / FSD / release governance</a:t>
            </a:r>
          </a:p>
          <a:p>
            <a:r>
              <a:t>• Clarify roles: Business, Dev, IT Ops, IT-Governance, IT-Security, GRC</a:t>
            </a:r>
          </a:p>
          <a:p>
            <a:r>
              <a:t>• Apply evidence chain from requirement intake to operations support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End-to-End Delivery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Governed pipeline with Agile/Scrum inside Build → SIT phases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447" y="2743200"/>
            <a:ext cx="1131570" cy="868680"/>
          </a:xfrm>
          <a:prstGeom prst="roundRect">
            <a:avLst/>
          </a:prstGeom>
          <a:solidFill>
            <a:srgbClr val="1F4E7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Receive</a:t>
            </a:r>
          </a:p>
          <a:p>
            <a:r>
              <a:t>Req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741017" y="2971800"/>
            <a:ext cx="274320" cy="320040"/>
          </a:xfrm>
          <a:prstGeom prst="rightArrow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015337" y="2743200"/>
            <a:ext cx="1131570" cy="868680"/>
          </a:xfrm>
          <a:prstGeom prst="roundRect">
            <a:avLst/>
          </a:prstGeom>
          <a:solidFill>
            <a:srgbClr val="2E75B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BRD</a:t>
            </a:r>
          </a:p>
          <a:p>
            <a:r>
              <a:t>Gate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146907" y="2971800"/>
            <a:ext cx="274320" cy="320040"/>
          </a:xfrm>
          <a:prstGeom prst="rightArrow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21227" y="2743200"/>
            <a:ext cx="1131570" cy="868680"/>
          </a:xfrm>
          <a:prstGeom prst="roundRect">
            <a:avLst/>
          </a:prstGeom>
          <a:solidFill>
            <a:srgbClr val="5B9B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Triage</a:t>
            </a:r>
          </a:p>
          <a:p>
            <a:r>
              <a:t>&amp; FSD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552797" y="2971800"/>
            <a:ext cx="274320" cy="320040"/>
          </a:xfrm>
          <a:prstGeom prst="rightArrow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827117" y="2743200"/>
            <a:ext cx="1131570" cy="868680"/>
          </a:xfrm>
          <a:prstGeom prst="roundRect">
            <a:avLst/>
          </a:prstGeom>
          <a:solidFill>
            <a:srgbClr val="70AD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Sprint</a:t>
            </a:r>
          </a:p>
          <a:p>
            <a:r>
              <a:t>Build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58687" y="2971800"/>
            <a:ext cx="274320" cy="320040"/>
          </a:xfrm>
          <a:prstGeom prst="rightArrow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33007" y="2743200"/>
            <a:ext cx="1131570" cy="868680"/>
          </a:xfrm>
          <a:prstGeom prst="roundRect">
            <a:avLst/>
          </a:prstGeom>
          <a:solidFill>
            <a:srgbClr val="ED7D3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SIT</a:t>
            </a:r>
          </a:p>
          <a:p>
            <a:r>
              <a:t>Test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364577" y="2971800"/>
            <a:ext cx="274320" cy="320040"/>
          </a:xfrm>
          <a:prstGeom prst="rightArrow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38897" y="2743200"/>
            <a:ext cx="1131570" cy="868680"/>
          </a:xfrm>
          <a:prstGeom prst="roundRect">
            <a:avLst/>
          </a:prstGeom>
          <a:solidFill>
            <a:srgbClr val="A5A5A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UAT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770467" y="2971800"/>
            <a:ext cx="274320" cy="320040"/>
          </a:xfrm>
          <a:prstGeom prst="rightArrow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044787" y="2743200"/>
            <a:ext cx="1131570" cy="868680"/>
          </a:xfrm>
          <a:prstGeom prst="roundRect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Ship</a:t>
            </a:r>
          </a:p>
          <a:p>
            <a:r>
              <a:t>(CAB)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0176357" y="2971800"/>
            <a:ext cx="274320" cy="320040"/>
          </a:xfrm>
          <a:prstGeom prst="rightArrow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50677" y="2743200"/>
            <a:ext cx="1131570" cy="868680"/>
          </a:xfrm>
          <a:prstGeom prst="roundRect">
            <a:avLst/>
          </a:prstGeom>
          <a:solidFill>
            <a:srgbClr val="7030A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Ops</a:t>
            </a:r>
          </a:p>
          <a:p>
            <a:r>
              <a:t>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 Chain — Who Owns What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BRD (Business Requirements)     → Business writes, Sponsor signs</a:t>
            </a:r>
          </a:p>
          <a:p>
            <a:r>
              <a:t>FSD / FRD (Functional Spec)     → BA + IT Product; derived from BRD</a:t>
            </a:r>
          </a:p>
          <a:p>
            <a:r>
              <a:t>User Stories &amp; Tasks            → BA + Dev; traceable to FSD + BRD AC</a:t>
            </a:r>
          </a:p>
          <a:p>
            <a:r>
              <a:t>Test Cases (SIT)                → QA; mapped to acceptance criteria</a:t>
            </a:r>
          </a:p>
          <a:p>
            <a:r>
              <a:t>UAT Scripts                     → Business; from BRD Section M</a:t>
            </a:r>
          </a:p>
          <a:p>
            <a:r>
              <a:t>Change Request (CR)             → IT Ops + IT-Governance (CAB)</a:t>
            </a:r>
          </a:p>
          <a:p/>
          <a:p>
            <a:r>
              <a:t>Rule: each document links upward — full traceability for Audit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Lanes Operating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LANE 1 — DEMAND (Business + BA)</a:t>
            </a:r>
          </a:p>
          <a:p>
            <a:r>
              <a:t>  Define need → BRD → Sponsor → BA quality ≥80% → compliance routing → triage</a:t>
            </a:r>
          </a:p>
          <a:p/>
          <a:p>
            <a:r>
              <a:t>LANE 2 — DELIVERY (IT Product + Dev + Ops)</a:t>
            </a:r>
          </a:p>
          <a:p>
            <a:r>
              <a:t>  FSD → Scrum sprints → SIT → UAT support → CAB → Ship → Hypercare</a:t>
            </a:r>
          </a:p>
          <a:p/>
          <a:p>
            <a:r>
              <a:t>LANE 3 — ASSURANCE (IT-Gov + IT-Sec + GRC + Audit)</a:t>
            </a:r>
          </a:p>
          <a:p>
            <a:r>
              <a:t>  Architecture standards, security review, regulatory control, evidence pack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Stakeholder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          Sponsor, requesters, UAT owners</a:t>
            </a:r>
          </a:p>
          <a:p>
            <a:r>
              <a:t>IT DELIVERY       Ops Manager, BA, IT Product, Dev, Service Desk</a:t>
            </a:r>
          </a:p>
          <a:p>
            <a:r>
              <a:t>IT-GOVERNANCE     CAB, ARB, CMDB, intake policy, change control</a:t>
            </a:r>
          </a:p>
          <a:p>
            <a:r>
              <a:t>IT-SECURITY       Security architecture, IAM, exceptions, secure SDLC</a:t>
            </a:r>
          </a:p>
          <a:p>
            <a:r>
              <a:t>GRC / LEGAL       Business compliance, contracts, collections</a:t>
            </a:r>
          </a:p>
          <a:p>
            <a:r>
              <a:t>AUDIT / BOD       Evidence, material risk reporting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Routing Rule — IT-Gov vs IT-Sec vs GRC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IT process &amp; change control     → IT-Governance</a:t>
            </a:r>
          </a:p>
          <a:p>
            <a:r>
              <a:t>Security, access, data protection → IT-Security</a:t>
            </a:r>
          </a:p>
          <a:p>
            <a:r>
              <a:t>Business &amp; regulatory controls  → Risk / GRC / Legal</a:t>
            </a:r>
          </a:p>
          <a:p/>
          <a:p>
            <a:r>
              <a:t>All three may apply to one BRD — route early, run in parallel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 — Receive Requirement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Channel: ServiceNow / Jira BRD catalog (not email for projects)</a:t>
            </a:r>
          </a:p>
          <a:p/>
          <a:p>
            <a:r>
              <a:t>1. Classify: standard IT ticket vs business change vs build request</a:t>
            </a:r>
          </a:p>
          <a:p>
            <a:r>
              <a:t>2. Wrong bucket? → redirect to BRD (business must define first)</a:t>
            </a:r>
          </a:p>
          <a:p>
            <a:r>
              <a:t>3. Assign: Service Desk | BA | IT Product</a:t>
            </a:r>
          </a:p>
          <a:p/>
          <a:p>
            <a:r>
              <a:t>Ops Manager: enforce one front door; log informal requests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 — BRD &amp; Quality Gate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 drafts BRD → Sponsor (Director+) signs</a:t>
            </a:r>
          </a:p>
          <a:p>
            <a:r>
              <a:t>BA quality review (≤2 business days)</a:t>
            </a:r>
          </a:p>
          <a:p>
            <a:r>
              <a:t>  • Score ≥ 80% on quality rubric</a:t>
            </a:r>
          </a:p>
          <a:p>
            <a:r>
              <a:t>  • Mandatory sections complete</a:t>
            </a:r>
          </a:p>
          <a:p>
            <a:r>
              <a:t>  • Compliance Section N → auto-route GRC / IT-Security</a:t>
            </a:r>
          </a:p>
          <a:p>
            <a:r>
              <a:t>Outcome: Accepted to triage | Returned | Deferred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3 — IT Triage &amp; Product Backlog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IT Product / Portfolio (≤5 business days)</a:t>
            </a:r>
          </a:p>
          <a:p>
            <a:r>
              <a:t>  • Fit with strategy and capacity</a:t>
            </a:r>
          </a:p>
          <a:p>
            <a:r>
              <a:t>  • Priority vs regulatory / revenue / risk</a:t>
            </a:r>
          </a:p>
          <a:p>
            <a:r>
              <a:t>  • Decision: Approved for FSD | Deferred | Rejected (with reason)</a:t>
            </a:r>
          </a:p>
          <a:p/>
          <a:p>
            <a:r>
              <a:t>Approved BRD → Product Backlog item (Epic) in Jira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Agile/Scrum Inside the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FSD feeds Product Backlog; Ship requires governance gates green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447" y="2743200"/>
            <a:ext cx="1131570" cy="868680"/>
          </a:xfrm>
          <a:prstGeom prst="roundRect">
            <a:avLst/>
          </a:prstGeom>
          <a:solidFill>
            <a:srgbClr val="1F4E7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Product</a:t>
            </a:r>
          </a:p>
          <a:p>
            <a:r>
              <a:t>Backlog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741017" y="2971800"/>
            <a:ext cx="274320" cy="320040"/>
          </a:xfrm>
          <a:prstGeom prst="rightArrow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015337" y="2743200"/>
            <a:ext cx="1131570" cy="868680"/>
          </a:xfrm>
          <a:prstGeom prst="roundRect">
            <a:avLst/>
          </a:prstGeom>
          <a:solidFill>
            <a:srgbClr val="2E75B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Sprint</a:t>
            </a:r>
          </a:p>
          <a:p>
            <a:r>
              <a:t>Planning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146907" y="2971800"/>
            <a:ext cx="274320" cy="320040"/>
          </a:xfrm>
          <a:prstGeom prst="rightArrow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21227" y="2743200"/>
            <a:ext cx="1131570" cy="868680"/>
          </a:xfrm>
          <a:prstGeom prst="roundRect">
            <a:avLst/>
          </a:prstGeom>
          <a:solidFill>
            <a:srgbClr val="5B9B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Daily</a:t>
            </a:r>
          </a:p>
          <a:p>
            <a:r>
              <a:t>Build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552797" y="2971800"/>
            <a:ext cx="274320" cy="320040"/>
          </a:xfrm>
          <a:prstGeom prst="rightArrow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827117" y="2743200"/>
            <a:ext cx="1131570" cy="868680"/>
          </a:xfrm>
          <a:prstGeom prst="roundRect">
            <a:avLst/>
          </a:prstGeom>
          <a:solidFill>
            <a:srgbClr val="70AD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SIT in</a:t>
            </a:r>
          </a:p>
          <a:p>
            <a:r>
              <a:t>Sprint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58687" y="2971800"/>
            <a:ext cx="274320" cy="320040"/>
          </a:xfrm>
          <a:prstGeom prst="rightArrow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33007" y="2743200"/>
            <a:ext cx="1131570" cy="868680"/>
          </a:xfrm>
          <a:prstGeom prst="roundRect">
            <a:avLst/>
          </a:prstGeom>
          <a:solidFill>
            <a:srgbClr val="ED7D3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Sprint</a:t>
            </a:r>
          </a:p>
          <a:p>
            <a:r>
              <a:t>Review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364577" y="2971800"/>
            <a:ext cx="274320" cy="320040"/>
          </a:xfrm>
          <a:prstGeom prst="rightArrow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38897" y="2743200"/>
            <a:ext cx="1131570" cy="868680"/>
          </a:xfrm>
          <a:prstGeom prst="roundRect">
            <a:avLst/>
          </a:prstGeom>
          <a:solidFill>
            <a:srgbClr val="A5A5A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UAT</a:t>
            </a:r>
          </a:p>
          <a:p>
            <a:r>
              <a:t>Window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770467" y="2971800"/>
            <a:ext cx="274320" cy="320040"/>
          </a:xfrm>
          <a:prstGeom prst="rightArrow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044787" y="2743200"/>
            <a:ext cx="1131570" cy="868680"/>
          </a:xfrm>
          <a:prstGeom prst="roundRect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Release</a:t>
            </a:r>
          </a:p>
          <a:p>
            <a:r>
              <a:t>CAB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0176357" y="2971800"/>
            <a:ext cx="274320" cy="320040"/>
          </a:xfrm>
          <a:prstGeom prst="rightArrow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50677" y="2743200"/>
            <a:ext cx="1131570" cy="868680"/>
          </a:xfrm>
          <a:prstGeom prst="roundRect">
            <a:avLst/>
          </a:prstGeom>
          <a:solidFill>
            <a:srgbClr val="7030A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Retro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4 — FSD (Functional Specification / FRD)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 + IT Product create FSD from accepted BRD</a:t>
            </a:r>
          </a:p>
          <a:p>
            <a:r>
              <a:t>FSD contains:</a:t>
            </a:r>
          </a:p>
          <a:p>
            <a:r>
              <a:t>  • Functional flows mapped to BRD to-be state</a:t>
            </a:r>
          </a:p>
          <a:p>
            <a:r>
              <a:t>  • Interface &amp; system touchpoints (FE ONLINE, Finacle, LOS…)</a:t>
            </a:r>
          </a:p>
          <a:p>
            <a:r>
              <a:t>  • Story breakdown with traceability ID → BRD-xxx</a:t>
            </a:r>
          </a:p>
          <a:p>
            <a:r>
              <a:t>  • Non-functional: performance, security, audit trail</a:t>
            </a:r>
          </a:p>
          <a:p/>
          <a:p>
            <a:r>
              <a:t>Gate: no sprint planning without FSD linked to BRD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Agile / Scrum — Where It 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Governance gates are OUTSIDE the sprint (BRD, FSD, CAB).</a:t>
            </a:r>
          </a:p>
          <a:p>
            <a:r>
              <a:t>Scrum runs INSIDE build &amp; test phases.</a:t>
            </a:r>
          </a:p>
          <a:p/>
          <a:p>
            <a:r>
              <a:t>Epic     = Accepted BRD</a:t>
            </a:r>
          </a:p>
          <a:p>
            <a:r>
              <a:t>Feature  = FSD capability group</a:t>
            </a:r>
          </a:p>
          <a:p>
            <a:r>
              <a:t>Story    = Implementable unit with AC</a:t>
            </a:r>
          </a:p>
          <a:p>
            <a:r>
              <a:t>Task     = Dev work item</a:t>
            </a:r>
          </a:p>
          <a:p/>
          <a:p>
            <a:r>
              <a:t>2-week sprints typical; release may span 1–2 sprints + UAT window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Scrum Roles at FE Credit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Product Owner (IT Product)    Prioritizes backlog; accepts sprint output</a:t>
            </a:r>
          </a:p>
          <a:p>
            <a:r>
              <a:t>Scrum Master (Dev Lead)       Facilitates ceremonies; removes blockers</a:t>
            </a:r>
          </a:p>
          <a:p>
            <a:r>
              <a:t>Development Team            Build, unit test, support SIT fixes</a:t>
            </a:r>
          </a:p>
          <a:p>
            <a:r>
              <a:t>BA                          FSD, story refinement, UAT support</a:t>
            </a:r>
          </a:p>
          <a:p>
            <a:r>
              <a:t>IT Ops Manager                Release discipline, CAB, hypercare</a:t>
            </a:r>
          </a:p>
          <a:p>
            <a:r>
              <a:t>Business Sponsor              UAT accountability; go-live sign-off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Backlog Hierarchy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Product Backlog (prioritized by IT Product)</a:t>
            </a:r>
          </a:p>
          <a:p>
            <a:r>
              <a:t>  └── Epic [BRD-2026-0042] POS lending visibility</a:t>
            </a:r>
          </a:p>
          <a:p>
            <a:r>
              <a:t>        └── Feature [FSD-3.2] Approval status API to POS</a:t>
            </a:r>
          </a:p>
          <a:p>
            <a:r>
              <a:t>              └── Story [US-101] Display pre-approved amount</a:t>
            </a:r>
          </a:p>
          <a:p>
            <a:r>
              <a:t>              └── Story [US-102] Handle expired pre-approval</a:t>
            </a:r>
          </a:p>
          <a:p>
            <a:r>
              <a:t>                    └── Tasks: dev, test, docs</a:t>
            </a:r>
          </a:p>
          <a:p/>
          <a:p>
            <a:r>
              <a:t>Every story must reference BRD acceptance criteria IDs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Sprint Planning — Entry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☐ BRD accepted (score ≥ 80%) and linked</a:t>
            </a:r>
          </a:p>
          <a:p>
            <a:r>
              <a:t>☐ FSD approved for this epic / feature</a:t>
            </a:r>
          </a:p>
          <a:p>
            <a:r>
              <a:t>☐ GRC / Legal review complete (if flagged)</a:t>
            </a:r>
          </a:p>
          <a:p>
            <a:r>
              <a:t>☐ IT-Security review complete (if Restricted / integration)</a:t>
            </a:r>
          </a:p>
          <a:p>
            <a:r>
              <a:t>☐ Stories have clear AC and testable outcomes</a:t>
            </a:r>
          </a:p>
          <a:p>
            <a:r>
              <a:t>☐ Team capacity confirmed; no conflicting release</a:t>
            </a:r>
          </a:p>
          <a:p>
            <a:r>
              <a:t>☐ Ops aware of target UAT / deploy window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Scrum Ceremonies Inside Delivery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SPRINT N (typically 2 weeks)</a:t>
            </a:r>
          </a:p>
          <a:p>
            <a:r>
              <a:t>──────────────────────────────────────────────────</a:t>
            </a:r>
          </a:p>
          <a:p>
            <a:r>
              <a:t>Mon     Sprint Planning     Pull stories from FSD → sprint backlog</a:t>
            </a:r>
          </a:p>
          <a:p>
            <a:r>
              <a:t>        Gate: BRD accepted, FSD linked, flags clear</a:t>
            </a:r>
          </a:p>
          <a:p>
            <a:r>
              <a:t>Daily   Stand-up (15 min)   Dev + SM + Ops (deploy blockers)</a:t>
            </a:r>
          </a:p>
          <a:p>
            <a:r>
              <a:t>        Wed   Mid-sprint      BA clarification; no new scope without change</a:t>
            </a:r>
          </a:p>
          <a:p>
            <a:r>
              <a:t>Fri     Code complete       Unit tests + SIT entry</a:t>
            </a:r>
          </a:p>
          <a:p>
            <a:r>
              <a:t>──────────────────────────────────────────────────</a:t>
            </a:r>
          </a:p>
          <a:p>
            <a:r>
              <a:t>SPRINT N+1 or Release sprint</a:t>
            </a:r>
          </a:p>
          <a:p>
            <a:r>
              <a:t>Mon     SIT / QA regression QA exit criteria</a:t>
            </a:r>
          </a:p>
          <a:p>
            <a:r>
              <a:t>Wed     UAT window          Business tests BRD acceptance criteria</a:t>
            </a:r>
          </a:p>
          <a:p>
            <a:r>
              <a:t>Thu     Sprint Review       Demo to Sponsor delegate</a:t>
            </a:r>
          </a:p>
          <a:p>
            <a:r>
              <a:t>Fri     Retrospective       Process improvement</a:t>
            </a:r>
          </a:p>
          <a:p>
            <a:r>
              <a:t>──────────────────────────────────────────────────</a:t>
            </a:r>
          </a:p>
          <a:p>
            <a:r>
              <a:t>RELEASE WEEK (may align with sprint boundary)</a:t>
            </a:r>
          </a:p>
          <a:p>
            <a:r>
              <a:t>        Release readiness   Ops checklist + CAB (IT-Governance)</a:t>
            </a:r>
          </a:p>
          <a:p>
            <a:r>
              <a:t>        Ship to production  Deploy + verify + hypercare handover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 of Done — Development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☐ Code complete + peer review</a:t>
            </a:r>
          </a:p>
          <a:p>
            <a:r>
              <a:t>☐ Unit tests pass; coverage per team standard</a:t>
            </a:r>
          </a:p>
          <a:p>
            <a:r>
              <a:t>☐ Traceability: story → BRD AC → test case</a:t>
            </a:r>
          </a:p>
          <a:p>
            <a:r>
              <a:t>☐ SIT-ready build deployed to test environment</a:t>
            </a:r>
          </a:p>
          <a:p>
            <a:r>
              <a:t>☐ Release notes draft for Ops</a:t>
            </a:r>
          </a:p>
          <a:p>
            <a:r>
              <a:t>☐ No open Critical/High defects for in-scope stories</a:t>
            </a:r>
          </a:p>
          <a:p>
            <a:r>
              <a:t>☐ Security scan clean or exception recorded (IT-Security)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5 — Test (SIT / QA)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QA executes SIT against FSD + BRD acceptance criteria</a:t>
            </a:r>
          </a:p>
          <a:p/>
          <a:p>
            <a:r>
              <a:t>Flow: Unit tests (Dev) → SIT (QA) → Regression → Defect fix loop</a:t>
            </a:r>
          </a:p>
          <a:p/>
          <a:p>
            <a:r>
              <a:t>Exit criteria:</a:t>
            </a:r>
          </a:p>
          <a:p>
            <a:r>
              <a:t>  • All in-scope test cases Pass</a:t>
            </a:r>
          </a:p>
          <a:p>
            <a:r>
              <a:t>  • No open Sev-1 / Sev-2 defects</a:t>
            </a:r>
          </a:p>
          <a:p>
            <a:r>
              <a:t>  • Test summary report attached to release record</a:t>
            </a:r>
          </a:p>
          <a:p/>
          <a:p>
            <a:r>
              <a:t>Then → UAT environment ready for Business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6 — UAT (Business Validation)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 executes UAT scripts derived from BRD Section M</a:t>
            </a:r>
          </a:p>
          <a:p>
            <a:r>
              <a:t>  Given / When / Then — objective pass/fail</a:t>
            </a:r>
          </a:p>
          <a:p/>
          <a:p>
            <a:r>
              <a:t>IT provides: UAT environment, test data, defect fixes</a:t>
            </a:r>
          </a:p>
          <a:p>
            <a:r>
              <a:t>Business provides: testers, sign-off, edge-case validation</a:t>
            </a:r>
          </a:p>
          <a:p/>
          <a:p>
            <a:r>
              <a:t>Gate: Sponsor (or delegate) signs UAT record</a:t>
            </a:r>
          </a:p>
          <a:p>
            <a:r>
              <a:t>IT does NOT accept on behalf of business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7 — Ship (Release to Production)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Release readiness review (Ops checklist)</a:t>
            </a:r>
          </a:p>
          <a:p>
            <a:r>
              <a:t>2. Change Request submitted — linked BRD, FSD, UAT sign-off</a:t>
            </a:r>
          </a:p>
          <a:p>
            <a:r>
              <a:t>3. CAB approval (IT-Governance) — IT-Security if flagged</a:t>
            </a:r>
          </a:p>
          <a:p>
            <a:r>
              <a:t>4. Deploy via approved pipeline / runbook</a:t>
            </a:r>
          </a:p>
          <a:p>
            <a:r>
              <a:t>5. Post-deploy verification (smoke test + monitoring)</a:t>
            </a:r>
          </a:p>
          <a:p>
            <a:r>
              <a:t>6. CMDB / release record updated</a:t>
            </a:r>
          </a:p>
          <a:p/>
          <a:p>
            <a:r>
              <a:t>Hard gate: no production deploy without UAT + CAB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8 — Operations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HYPERCARE (T+1 to T+14)</a:t>
            </a:r>
          </a:p>
          <a:p>
            <a:r>
              <a:t>  • Ops war room for Critical releases</a:t>
            </a:r>
          </a:p>
          <a:p>
            <a:r>
              <a:t>  • Dev on standby for defects</a:t>
            </a:r>
          </a:p>
          <a:p>
            <a:r>
              <a:t>  • Daily check with Business Sponsor</a:t>
            </a:r>
          </a:p>
          <a:p/>
          <a:p>
            <a:r>
              <a:t>BAU HANDOVER</a:t>
            </a:r>
          </a:p>
          <a:p>
            <a:r>
              <a:t>  • Service Desk knowledge article</a:t>
            </a:r>
          </a:p>
          <a:p>
            <a:r>
              <a:t>  • Monitoring &amp; alerting configured</a:t>
            </a:r>
          </a:p>
          <a:p>
            <a:r>
              <a:t>  • Incident routing defined</a:t>
            </a:r>
          </a:p>
          <a:p>
            <a:r>
              <a:t>  • Evidence pack closed for Audit (13 artifacts)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Release Readiness — Go / No-Go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☐ BRD accepted and linked</a:t>
            </a:r>
          </a:p>
          <a:p>
            <a:r>
              <a:t>☐ FSD complete; stories closed</a:t>
            </a:r>
          </a:p>
          <a:p>
            <a:r>
              <a:t>☐ SIT exit criteria met</a:t>
            </a:r>
          </a:p>
          <a:p>
            <a:r>
              <a:t>☐ UAT signed by Business Sponsor</a:t>
            </a:r>
          </a:p>
          <a:p>
            <a:r>
              <a:t>☐ CAB approved (IT-Governance)</a:t>
            </a:r>
          </a:p>
          <a:p>
            <a:r>
              <a:t>☐ IT-Security sign-off (if required)</a:t>
            </a:r>
          </a:p>
          <a:p>
            <a:r>
              <a:t>☐ Rollback plan tested</a:t>
            </a:r>
          </a:p>
          <a:p>
            <a:r>
              <a:t>☐ Comms &amp; training complete (BRD Section K)</a:t>
            </a:r>
          </a:p>
          <a:p>
            <a:r>
              <a:t>☐ Hypercare roster assigned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Dual-Track: Governance + Agile 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325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C00000"/>
                </a:solidFill>
              </a:defRPr>
            </a:pPr>
            <a:r>
              <a:t>Governance &amp; assurance (parallel)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1723" y="1645920"/>
            <a:ext cx="1417320" cy="685800"/>
          </a:xfrm>
          <a:prstGeom prst="roundRect">
            <a:avLst/>
          </a:prstGeom>
          <a:solidFill>
            <a:srgbClr val="C000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BRD gate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50211" y="1645920"/>
            <a:ext cx="1417320" cy="685800"/>
          </a:xfrm>
          <a:prstGeom prst="roundRect">
            <a:avLst/>
          </a:prstGeom>
          <a:solidFill>
            <a:srgbClr val="C000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GRC / Legal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68699" y="1645920"/>
            <a:ext cx="1417320" cy="685800"/>
          </a:xfrm>
          <a:prstGeom prst="roundRect">
            <a:avLst/>
          </a:prstGeom>
          <a:solidFill>
            <a:srgbClr val="C000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IT-Security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87187" y="1645920"/>
            <a:ext cx="1417320" cy="685800"/>
          </a:xfrm>
          <a:prstGeom prst="roundRect">
            <a:avLst/>
          </a:prstGeom>
          <a:solidFill>
            <a:srgbClr val="C000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ARB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05675" y="1645920"/>
            <a:ext cx="1417320" cy="685800"/>
          </a:xfrm>
          <a:prstGeom prst="roundRect">
            <a:avLst/>
          </a:prstGeom>
          <a:solidFill>
            <a:srgbClr val="C000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CAB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24163" y="1645920"/>
            <a:ext cx="1417320" cy="685800"/>
          </a:xfrm>
          <a:prstGeom prst="roundRect">
            <a:avLst/>
          </a:prstGeom>
          <a:solidFill>
            <a:srgbClr val="C000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Audit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9718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007050"/>
                </a:solidFill>
              </a:defRPr>
            </a:pPr>
            <a:r>
              <a:t>Agile delivery (Scrum)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1723" y="3291840"/>
            <a:ext cx="1417320" cy="685800"/>
          </a:xfrm>
          <a:prstGeom prst="roundRect">
            <a:avLst/>
          </a:prstGeom>
          <a:solidFill>
            <a:srgbClr val="00705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FSD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50211" y="3291840"/>
            <a:ext cx="1417320" cy="685800"/>
          </a:xfrm>
          <a:prstGeom prst="roundRect">
            <a:avLst/>
          </a:prstGeom>
          <a:solidFill>
            <a:srgbClr val="00705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Sprint plan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68699" y="3291840"/>
            <a:ext cx="1417320" cy="685800"/>
          </a:xfrm>
          <a:prstGeom prst="roundRect">
            <a:avLst/>
          </a:prstGeom>
          <a:solidFill>
            <a:srgbClr val="00705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Build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87187" y="3291840"/>
            <a:ext cx="1417320" cy="685800"/>
          </a:xfrm>
          <a:prstGeom prst="roundRect">
            <a:avLst/>
          </a:prstGeom>
          <a:solidFill>
            <a:srgbClr val="00705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SIT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05675" y="3291840"/>
            <a:ext cx="1417320" cy="685800"/>
          </a:xfrm>
          <a:prstGeom prst="roundRect">
            <a:avLst/>
          </a:prstGeom>
          <a:solidFill>
            <a:srgbClr val="00705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UAT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24163" y="3291840"/>
            <a:ext cx="1417320" cy="685800"/>
          </a:xfrm>
          <a:prstGeom prst="roundRect">
            <a:avLst/>
          </a:prstGeom>
          <a:solidFill>
            <a:srgbClr val="00705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Ship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2651" y="3291840"/>
            <a:ext cx="1417320" cy="685800"/>
          </a:xfrm>
          <a:prstGeom prst="roundRect">
            <a:avLst/>
          </a:prstGeom>
          <a:solidFill>
            <a:srgbClr val="00705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Hypercare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57200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Governance track can run in parallel — it does not wait for sprint end.</a:t>
            </a:r>
          </a:p>
          <a:p>
            <a:r>
              <a:t>Delivery track runs in 2-week sprints; Ship only when BOTH tracks are green.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Hard Gates — Non-Negotiable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No FSD / sprint work without accepted BRD (≥ 80%)</a:t>
            </a:r>
          </a:p>
          <a:p>
            <a:r>
              <a:t>2. No story without traceability to BRD acceptance criteria</a:t>
            </a:r>
          </a:p>
          <a:p>
            <a:r>
              <a:t>3. No UAT skip — business signs, not IT</a:t>
            </a:r>
          </a:p>
          <a:p>
            <a:r>
              <a:t>4. No production deploy without CAB (IT-Governance)</a:t>
            </a:r>
          </a:p>
          <a:p>
            <a:r>
              <a:t>5. No security bypass without IT-Security exception register</a:t>
            </a:r>
          </a:p>
          <a:p>
            <a:r>
              <a:t>6. Email / chat is not intake for projects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Audit Evidence Pack (per release)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BRD (+ versions)  2. BA scorecard  3. Sponsor approval</a:t>
            </a:r>
          </a:p>
          <a:p>
            <a:r>
              <a:t>4. IT-Security sign-off (if flagged)  5. GRC/Legal (if flagged)</a:t>
            </a:r>
          </a:p>
          <a:p>
            <a:r>
              <a:t>6. FSD linked to BRD  7. SIT results  8. UAT sign-off</a:t>
            </a:r>
          </a:p>
          <a:p>
            <a:r>
              <a:t>9. CR + CAB approval  10. Deployment log  11. Post-deploy verify</a:t>
            </a:r>
          </a:p>
          <a:p>
            <a:r>
              <a:t>12. Security scan / pen test (if required)  13. RCA (if incident)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 — Ops &amp; Leadership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BRD first-pass acceptance rate          Target ≥ 60%</a:t>
            </a:r>
          </a:p>
          <a:p>
            <a:r>
              <a:t>BRD → triage decision time              Target &lt; 5 days</a:t>
            </a:r>
          </a:p>
          <a:p>
            <a:r>
              <a:t>Deployments without linked BRD          Target 0</a:t>
            </a:r>
          </a:p>
          <a:p>
            <a:r>
              <a:t>UAT sign-off before production          Target 100%</a:t>
            </a:r>
          </a:p>
          <a:p>
            <a:r>
              <a:t>Emergency prod changes / month          Target ≤ 2</a:t>
            </a:r>
          </a:p>
          <a:p>
            <a:r>
              <a:t>Open IT-Security prod exceptions        Target 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Escalation Paths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Skip BRD pressure       → Ops → IT-Governance policy → IT Director</a:t>
            </a:r>
          </a:p>
          <a:p>
            <a:r>
              <a:t>GRC hold + deploy rush  → Document hold → GRC Manager → no deploy</a:t>
            </a:r>
          </a:p>
          <a:p>
            <a:r>
              <a:t>Security review open    → Ops blocks CR → IT-Security lead</a:t>
            </a:r>
          </a:p>
          <a:p>
            <a:r>
              <a:t>Scope dispute           → BA → IT Product → Sponsor</a:t>
            </a:r>
          </a:p>
          <a:p>
            <a:r>
              <a:t>CAB rejection           → IT-Governance → IT Product → Sponsor</a:t>
            </a:r>
          </a:p>
          <a:p>
            <a:r>
              <a:t>Material incident       → IT-Security IR → CIO → EXCO / BOD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DEMAND: Business defines in BRD — IT does not guess rules</a:t>
            </a:r>
          </a:p>
          <a:p>
            <a:r>
              <a:t>DELIVER: Scrum builds from FSD with traceability to BRD</a:t>
            </a:r>
          </a:p>
          <a:p>
            <a:r>
              <a:t>ASSURE: IT-Governance + IT-Security + GRC run in parallel</a:t>
            </a:r>
          </a:p>
          <a:p>
            <a:r>
              <a:t>SHIP: CAB + UAT — then hypercare → BAU support</a:t>
            </a:r>
          </a:p>
          <a:p/>
          <a:p>
            <a:r>
              <a:t>Docs: docs/12-it-operations-stakeholder-framework.md</a:t>
            </a:r>
          </a:p>
          <a:p>
            <a:r>
              <a:t>      docs/11-operations-manager-checklist.md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Publish framework on Confluence (FECBRD space)</a:t>
            </a:r>
          </a:p>
          <a:p>
            <a:r>
              <a:t>• Configure Jira: Epic = BRD, Feature = FSD, link fields mandatory</a:t>
            </a:r>
          </a:p>
          <a:p>
            <a:r>
              <a:t>• Train dev leads on sprint planning gate checklist</a:t>
            </a:r>
          </a:p>
          <a:p>
            <a:r>
              <a:t>• Align CAB charter with IT-Governance + IT-Security</a:t>
            </a:r>
          </a:p>
          <a:p>
            <a:r>
              <a:t>• Weekly Ops metrics to IT leadership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