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FE CREDIT · IT DELIVERY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FE Credit IT Delivery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Requirement → BRD → FSD → Test → UAT → Ship → Operations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Governed delivery with Agile/Scrum internal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21945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Map the end-to-end IT delivery pipeline and mandatory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2194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Align Scrum ceremonies with BRD / FSD / release 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3867911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3867911"/>
            <a:ext cx="91440" cy="2194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4050791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4032503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Clarify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" y="4581144"/>
            <a:ext cx="499856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Business, Dev, IT Ops, IT-Governance, IT-Security, GRC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867911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867911"/>
            <a:ext cx="91440" cy="21945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4050791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867911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Apply evidence chain from requirement intake to operations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End-to-End Delivery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Governed pipeline with Agile/Scrum inside Build → SIT phases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69631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Receive</a:t>
            </a:r>
            <a:br/>
            <a:r>
              <a:t>Req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45119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01151" y="3108960"/>
            <a:ext cx="1169631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BRD</a:t>
            </a:r>
            <a:br/>
            <a:r>
              <a:t>Gate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89071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5103" y="3108960"/>
            <a:ext cx="1169631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Triage</a:t>
            </a:r>
            <a:br/>
            <a:r>
              <a:t>&amp; FSD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33023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9055" y="3108960"/>
            <a:ext cx="1169631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Sprint</a:t>
            </a:r>
            <a:br/>
            <a:r>
              <a:t>Build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69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3108960"/>
            <a:ext cx="1169631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SIT</a:t>
            </a:r>
            <a:br/>
            <a:r>
              <a:t>Test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20927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76959" y="3108960"/>
            <a:ext cx="1169631" cy="960120"/>
          </a:xfrm>
          <a:prstGeom prst="roundRect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UAT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4879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0911" y="3108960"/>
            <a:ext cx="1169631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Ship</a:t>
            </a:r>
            <a:br/>
            <a:r>
              <a:t>(CAB)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08831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64863" y="3108960"/>
            <a:ext cx="1169631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Ops</a:t>
            </a:r>
            <a:br/>
            <a:r>
              <a:t>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Swimlane — Cross-Functional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No hand-off skips a lane — every phase has a named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4933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9627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4320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9014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3708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8401" y="1874519"/>
            <a:ext cx="143469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Operate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1554480" cy="615696"/>
          </a:xfrm>
          <a:prstGeom prst="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Business / Sponsor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28600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75104" y="2340864"/>
            <a:ext cx="1324965" cy="505968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Raise need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9797" y="2340864"/>
            <a:ext cx="1324965" cy="505968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Write BRD</a:t>
            </a:r>
            <a:br/>
            <a:r>
              <a:t>+ 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3878" y="2340864"/>
            <a:ext cx="1324965" cy="505968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UAT</a:t>
            </a:r>
            <a:br/>
            <a:r>
              <a:t>sign-off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8572" y="2340864"/>
            <a:ext cx="1324965" cy="505968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Go-live</a:t>
            </a:r>
            <a:br/>
            <a:r>
              <a:t>approve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83265" y="2340864"/>
            <a:ext cx="1324965" cy="505968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Confirm</a:t>
            </a:r>
            <a:br/>
            <a:r>
              <a:t>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56560"/>
            <a:ext cx="1554480" cy="615696"/>
          </a:xfrm>
          <a:prstGeom prst="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BA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95656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75104" y="3011424"/>
            <a:ext cx="1324965" cy="505968"/>
          </a:xfrm>
          <a:prstGeom prst="round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Classify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9797" y="3011424"/>
            <a:ext cx="1324965" cy="505968"/>
          </a:xfrm>
          <a:prstGeom prst="round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Score BRD</a:t>
            </a:r>
            <a:br/>
            <a:r>
              <a:t>≥80%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4491" y="3011424"/>
            <a:ext cx="1324965" cy="505968"/>
          </a:xfrm>
          <a:prstGeom prst="round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Author</a:t>
            </a:r>
            <a:br/>
            <a:r>
              <a:t>FSD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9184" y="3011424"/>
            <a:ext cx="1324965" cy="505968"/>
          </a:xfrm>
          <a:prstGeom prst="round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Refine</a:t>
            </a:r>
            <a:br/>
            <a:r>
              <a:t>stories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13878" y="3011424"/>
            <a:ext cx="1324965" cy="505968"/>
          </a:xfrm>
          <a:prstGeom prst="roundRect">
            <a:avLst/>
          </a:prstGeom>
          <a:solidFill>
            <a:srgbClr val="6A9BCC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Support</a:t>
            </a:r>
            <a:br/>
            <a:r>
              <a:t>UAT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27120"/>
            <a:ext cx="1554480" cy="615696"/>
          </a:xfrm>
          <a:prstGeom prst="rect">
            <a:avLst/>
          </a:prstGeom>
          <a:solidFill>
            <a:srgbClr val="788C5D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IT Product (PO)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362712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09797" y="3681983"/>
            <a:ext cx="1324965" cy="505968"/>
          </a:xfrm>
          <a:prstGeom prst="roundRect">
            <a:avLst/>
          </a:prstGeom>
          <a:solidFill>
            <a:srgbClr val="788C5D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Accept to</a:t>
            </a:r>
            <a:br/>
            <a:r>
              <a:t>triage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4491" y="3681983"/>
            <a:ext cx="1324965" cy="505968"/>
          </a:xfrm>
          <a:prstGeom prst="roundRect">
            <a:avLst/>
          </a:prstGeom>
          <a:solidFill>
            <a:srgbClr val="788C5D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Prioritize</a:t>
            </a:r>
            <a:br/>
            <a:r>
              <a:t>backlog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9184" y="3681983"/>
            <a:ext cx="1324965" cy="505968"/>
          </a:xfrm>
          <a:prstGeom prst="roundRect">
            <a:avLst/>
          </a:prstGeom>
          <a:solidFill>
            <a:srgbClr val="788C5D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Accept</a:t>
            </a:r>
            <a:br/>
            <a:r>
              <a:t>sprint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8572" y="3681983"/>
            <a:ext cx="1324965" cy="505968"/>
          </a:xfrm>
          <a:prstGeom prst="roundRect">
            <a:avLst/>
          </a:prstGeom>
          <a:solidFill>
            <a:srgbClr val="788C5D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Release</a:t>
            </a:r>
            <a:br/>
            <a:r>
              <a:t>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97680"/>
            <a:ext cx="1554480" cy="615696"/>
          </a:xfrm>
          <a:prstGeom prst="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Scrum / Dev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429768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44491" y="4352544"/>
            <a:ext cx="1324965" cy="505968"/>
          </a:xfrm>
          <a:prstGeom prst="round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Design</a:t>
            </a:r>
            <a:br/>
            <a:r>
              <a:t>+ tasks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9184" y="4352544"/>
            <a:ext cx="1324965" cy="505968"/>
          </a:xfrm>
          <a:prstGeom prst="round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Build +</a:t>
            </a:r>
            <a:br/>
            <a:r>
              <a:t>unit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13878" y="4352544"/>
            <a:ext cx="1324965" cy="505968"/>
          </a:xfrm>
          <a:prstGeom prst="round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Fix SIT</a:t>
            </a:r>
            <a:br/>
            <a:r>
              <a:t>defects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8572" y="4352544"/>
            <a:ext cx="1324965" cy="505968"/>
          </a:xfrm>
          <a:prstGeom prst="round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Deploy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83265" y="4352544"/>
            <a:ext cx="1324965" cy="505968"/>
          </a:xfrm>
          <a:prstGeom prst="roundRect">
            <a:avLst/>
          </a:prstGeom>
          <a:solidFill>
            <a:srgbClr val="C46686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Hotfix /</a:t>
            </a:r>
            <a:br/>
            <a:r>
              <a:t>defect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968240"/>
            <a:ext cx="1554480" cy="615696"/>
          </a:xfrm>
          <a:prstGeom prst="rect">
            <a:avLst/>
          </a:prstGeom>
          <a:solidFill>
            <a:srgbClr val="BCD1C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QA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496824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844491" y="5023104"/>
            <a:ext cx="1324965" cy="505968"/>
          </a:xfrm>
          <a:prstGeom prst="roundRect">
            <a:avLst/>
          </a:prstGeom>
          <a:solidFill>
            <a:srgbClr val="BCD1C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Test</a:t>
            </a:r>
            <a:br/>
            <a:r>
              <a:t>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9184" y="5023104"/>
            <a:ext cx="1324965" cy="505968"/>
          </a:xfrm>
          <a:prstGeom prst="roundRect">
            <a:avLst/>
          </a:prstGeom>
          <a:solidFill>
            <a:srgbClr val="BCD1C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Prep</a:t>
            </a:r>
            <a:br/>
            <a:r>
              <a:t>cases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13878" y="5023104"/>
            <a:ext cx="1324965" cy="505968"/>
          </a:xfrm>
          <a:prstGeom prst="roundRect">
            <a:avLst/>
          </a:prstGeom>
          <a:solidFill>
            <a:srgbClr val="BCD1C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Run SIT</a:t>
            </a:r>
            <a:br/>
            <a:r>
              <a:t>+ regress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638800"/>
            <a:ext cx="1554480" cy="615696"/>
          </a:xfrm>
          <a:prstGeom prst="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AF9F5"/>
                </a:solidFill>
                <a:latin typeface="Lora"/>
              </a:defRPr>
            </a:pPr>
            <a:r>
              <a:t>IT Ops / Assurance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638800"/>
            <a:ext cx="10042855" cy="61569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75104" y="5693664"/>
            <a:ext cx="1324965" cy="505968"/>
          </a:xfrm>
          <a:prstGeom prst="round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Route</a:t>
            </a:r>
            <a:br/>
            <a:r>
              <a:t>ticket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09797" y="5693664"/>
            <a:ext cx="1324965" cy="505968"/>
          </a:xfrm>
          <a:prstGeom prst="round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Compliance</a:t>
            </a:r>
            <a:br/>
            <a:r>
              <a:t>routing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44491" y="5693664"/>
            <a:ext cx="1324965" cy="505968"/>
          </a:xfrm>
          <a:prstGeom prst="round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ARB /</a:t>
            </a:r>
            <a:br/>
            <a:r>
              <a:t>Security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8572" y="5693664"/>
            <a:ext cx="1324965" cy="505968"/>
          </a:xfrm>
          <a:prstGeom prst="round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CAB +</a:t>
            </a:r>
            <a:br/>
            <a:r>
              <a:t>verify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83265" y="5693664"/>
            <a:ext cx="1324965" cy="505968"/>
          </a:xfrm>
          <a:prstGeom prst="roundRect">
            <a:avLst/>
          </a:prstGeom>
          <a:solidFill>
            <a:srgbClr val="3D3D3A"/>
          </a:solidFill>
          <a:ln w="1270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Monitor /</a:t>
            </a:r>
            <a:br/>
            <a:r>
              <a:t>hypercare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Document Chain — Who Owns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BRD (Business Requirements)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writes, Sponsor signs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FSD / FRD (Functional Spec)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BA + IT Product; derived from BRD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User Stories &amp; Tasks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BA + Dev; traceable to FSD + BRD 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Test Cases (SIT)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QA; mapped to acceptance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UAT Scripts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Business; from BRD Section 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Change Request (CR)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 Ops + IT-Governance (CAB)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Three Lanes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LANE 1 — DEMAND (Business + BA)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Define need → BRD → Sponsor → BA quality ≥80% → compliance routing →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LANE 2 — DELIVERY (IT Product + Dev + 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FSD → Scrum sprints → SIT → UAT support → CAB → Ship → Hypercare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LANE 3 — ASSURANCE (IT-Gov + IT-Sec + GRC + Audit)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Architecture standards, security review, regulatory control, evidence pack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Stakeholder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BUSINESS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Sponsor, requesters, UAT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 DELIVERY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Ops Manager, BA, IT Product, Dev, Service 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IT-GOVERNANCE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CAB, ARB, CMDB, intake policy, change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IT-SECURITY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Security architecture, IAM, exceptions, secure SDLC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GRC / LEGAL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compliance, contracts, collections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AUDIT / BOD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Evidence, material risk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Routing Rule — IT-Gov vs IT-Sec vs GRC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 process &amp; change control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IT-Governance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Security, access, data protection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IT-Security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Business &amp; regulatory controls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Risk / GRC / Legal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1 — Receive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21945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499856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standard IT ticket vs business change vs build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417320"/>
            <a:ext cx="91440" cy="2194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417320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Wrong bucket? → redirect to BRD (business must define first)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867911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867911"/>
            <a:ext cx="91440" cy="2194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050791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032503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Assign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4581144"/>
            <a:ext cx="4998567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Service Desk | BA | IT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2 — BRD &amp; Quality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Business drafts BRD → Sponsor (Director+) signs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Score ≥ 80% on quality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Mandatory sections 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Compliance Section N → auto-route GRC / IT-Security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3 — IT Triage &amp; Product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IT Product / Portfolio (≤5 business 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Fit with strategy and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Priority vs regulatory / revenue /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361688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4910328"/>
            <a:ext cx="499856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Approved for FSD | Deferred | Rejected (with reason)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Agile/Scrum Inside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FSD feeds Product Backlog; Ship requires governance gates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69631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Product</a:t>
            </a:r>
            <a:br/>
            <a:r>
              <a:t>Backlog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45119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01151" y="3108960"/>
            <a:ext cx="1169631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Sprint</a:t>
            </a:r>
            <a:br/>
            <a:r>
              <a:t>Planning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89071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5103" y="3108960"/>
            <a:ext cx="1169631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Daily</a:t>
            </a:r>
            <a:br/>
            <a:r>
              <a:t>Build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33023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9055" y="3108960"/>
            <a:ext cx="1169631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SIT in</a:t>
            </a:r>
            <a:br/>
            <a:r>
              <a:t>Sprint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69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3108960"/>
            <a:ext cx="1169631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Sprint</a:t>
            </a:r>
            <a:br/>
            <a:r>
              <a:t>Review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20927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76959" y="3108960"/>
            <a:ext cx="1169631" cy="960120"/>
          </a:xfrm>
          <a:prstGeom prst="roundRect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UAT</a:t>
            </a:r>
            <a:br/>
            <a:r>
              <a:t>Window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4879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0911" y="3108960"/>
            <a:ext cx="1169631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Release</a:t>
            </a:r>
            <a:br/>
            <a:r>
              <a:t>CAB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08831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64863" y="3108960"/>
            <a:ext cx="1169631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4 — FSD (Functional Specification / FRD)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BA + IT Product create FSD from accepted BRD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Functional flows mapped to BRD to-be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Interface &amp; system touchpoints (FE ONLINE, Finacle, LOS…)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Story breakdown with traceability ID → BRD-xxx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4197096"/>
            <a:ext cx="91440" cy="2066543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4379976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4361688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Non-functional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039" y="4910328"/>
            <a:ext cx="499856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performance, security,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Agile / Scrum — Where It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Epic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= Accepted BRD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Feature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= FSD capability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= Implementable unit with 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4582844" cy="74980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Task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3068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4050791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= Dev work item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Scrum Roles at FE Credit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Product Owner (IT Product)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Prioritizes backlog; accepts sprint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Scrum Master (Dev Lead)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Facilitates ceremonies; removes blockers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Development Team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Build, unit test, support SIT fixes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FSD, story refinement, UAT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 Ops Manager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Release discipline, CAB, hypercare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Business Sponsor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UAT accountability; go-live sign-off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Backlog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Product Backlog (prioritized by IT Product)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└── Epic [BRD-2026-0042] POS lending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└── Feature [FSD-3.2] Approval status API to 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└── Story [US-101] Display pre-approved amount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└── Story [US-102] Handle expired pre-approval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└── Tasks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Every story must reference BRD acceptance criteria IDs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Sprint Planning — Entry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1" y="173736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5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BRD accepted (score ≥ 80%) and linked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3319" y="173736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383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FSD approved for this epic /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1" y="294436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5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GRC / Legal review complete (if flagged)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944368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383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IT-Security review complete (if Restricted / integration)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1" y="4151376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Stories have clear AC and testable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3319" y="4151376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Team capacity confirmed; no conflicting release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5038344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1" y="535838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5" y="5038344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Ops aware of target UAT / deploy window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Scrum Ceremonies Inside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160020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127" y="1600200"/>
            <a:ext cx="3657600" cy="68580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Sprint N</a:t>
            </a:r>
          </a:p>
          <a:p>
            <a:pPr algn="ctr">
              <a:defRPr sz="1000" b="0">
                <a:solidFill>
                  <a:srgbClr val="B0AEA5"/>
                </a:solidFill>
                <a:latin typeface="Lora"/>
              </a:defRPr>
            </a:pPr>
            <a:r>
              <a:t>≈ 2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007" y="2468880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A9BCC"/>
                </a:solidFill>
                <a:latin typeface="Lora"/>
              </a:defRPr>
            </a:pPr>
            <a:r>
              <a:t>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6687" y="243230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Sprint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6687" y="27066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Pull stories from FSD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007" y="3127248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A9BCC"/>
                </a:solidFill>
                <a:latin typeface="Lora"/>
              </a:defRPr>
            </a:pPr>
            <a: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6687" y="309067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Entry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6687" y="3364991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BRD + FSD linked, flags clear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007" y="3785615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A9BCC"/>
                </a:solidFill>
                <a:latin typeface="Lora"/>
              </a:defRPr>
            </a:pPr>
            <a:r>
              <a:t>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687" y="374903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Stand-up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6687" y="402335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Dev + SM + 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007" y="4443983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A9BCC"/>
                </a:solidFill>
                <a:latin typeface="Lora"/>
              </a:defRPr>
            </a:pPr>
            <a:r>
              <a:t>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6687" y="440740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Mid-sprint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687" y="468172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BA clarification, no scope creep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007" y="5102351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A9BCC"/>
                </a:solidFill>
                <a:latin typeface="Lora"/>
              </a:defRPr>
            </a:pPr>
            <a:r>
              <a:t>Fri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6687" y="5065775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Code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687" y="5340095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Unit tests + SIT entry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7047" y="160020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7047" y="1600200"/>
            <a:ext cx="3657600" cy="6858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Sprint N+1</a:t>
            </a:r>
          </a:p>
          <a:p>
            <a:pPr algn="ctr">
              <a:defRPr sz="1000" b="0">
                <a:solidFill>
                  <a:srgbClr val="B0AEA5"/>
                </a:solidFill>
                <a:latin typeface="Lora"/>
              </a:defRPr>
            </a:pPr>
            <a:r>
              <a:t>Release sprint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2468880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57"/>
                </a:solidFill>
                <a:latin typeface="Lora"/>
              </a:defRPr>
            </a:pPr>
            <a:r>
              <a:t>Mon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607" y="243230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SIT / 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8607" y="27066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Regression, exit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3127248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57"/>
                </a:solidFill>
                <a:latin typeface="Lora"/>
              </a:defRPr>
            </a:pPr>
            <a:r>
              <a:t>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8607" y="309067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UAT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8607" y="3364991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Business tests BRD 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3785615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57"/>
                </a:solidFill>
                <a:latin typeface="Lora"/>
              </a:defRPr>
            </a:pPr>
            <a:r>
              <a:t>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8607" y="374903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8607" y="402335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Demo to Sponsor delegate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9927" y="4443983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D97757"/>
                </a:solidFill>
                <a:latin typeface="Lora"/>
              </a:defRPr>
            </a:pPr>
            <a:r>
              <a:t>Fri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18607" y="440740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Retrospective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8607" y="468172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Process improvement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8967" y="160020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8967" y="1600200"/>
            <a:ext cx="3657600" cy="68580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Release week</a:t>
            </a:r>
          </a:p>
          <a:p>
            <a:pPr algn="ctr">
              <a:defRPr sz="1000" b="0">
                <a:solidFill>
                  <a:srgbClr val="B0AEA5"/>
                </a:solidFill>
                <a:latin typeface="Lora"/>
              </a:defRPr>
            </a:pPr>
            <a:r>
              <a:t>Sprint boundary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81847" y="2468880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88C5D"/>
                </a:solidFill>
                <a:latin typeface="Lora"/>
              </a:defRPr>
            </a:pPr>
            <a:r>
              <a:t>Prep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0527" y="243230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Release readiness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0527" y="27066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Ops checklist + CAB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81847" y="3127248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88C5D"/>
                </a:solidFill>
                <a:latin typeface="Lora"/>
              </a:defRPr>
            </a:pPr>
            <a:r>
              <a:t>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0527" y="309067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Ship to prod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0527" y="3364991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Deploy + verify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81847" y="3785615"/>
            <a:ext cx="777240" cy="4572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88C5D"/>
                </a:solidFill>
                <a:latin typeface="Lora"/>
              </a:defRPr>
            </a:pPr>
            <a:r>
              <a:t>T+1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0527" y="374903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Hypercare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0527" y="402335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Handover to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Definition of Done — Development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1" y="173736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5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Code complete + peer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3319" y="173736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383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Unit tests pass; coverage per team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1" y="294436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5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Traceability: story → BRD AC → test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944368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383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SIT-ready build deployed to test environment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1" y="4151376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Release notes draft for 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3319" y="4151376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No open Critical/High defects for in-scope stories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5038344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1" y="535838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5" y="5038344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Security scan clean or exception recorded (IT-Security)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5 — Test (SIT / QA)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QA executes SIT against FSD + BRD acceptance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All in-scope test cases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open Sev-1 / Sev-2 defects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Test summary report attached to release record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6 — UAT (Business Validation)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Business executes UAT scripts derived from BRD Section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Given / When / Then — objective pass/fail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IT provides: UAT environment, test data, defect 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Business provides: testers, sign-off, edge-case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Gate: Sponsor (or delegate) signs UAT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IT does NOT accept on behalf of business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7 — Ship (Release to 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Release readiness review (Ops checklist)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Change Request submitted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linked BRD, FSD, UAT sign-off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2826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CAB approval (IT-Governance)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3831336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IT-Security if flagged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Deploy via approved pipeline / runbook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Post-deploy verification (smoke test + monitoring)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6239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CMDB / release record updated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Phase 8 — Operations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HYPERCARE (T+1 to T+14)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12923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Ops war room for Critical releases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2978" y="1874519"/>
            <a:ext cx="91440" cy="12923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4146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6210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Dev on standby for defects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036" y="1874519"/>
            <a:ext cx="91440" cy="12923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4204" y="2057400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268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Daily check with Business Sponsor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19" y="3422904"/>
            <a:ext cx="91440" cy="12923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4087" y="36057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Service Desk knowledge article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2978" y="3422904"/>
            <a:ext cx="91440" cy="12923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4146" y="3605784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6210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Monitoring &amp; alerting configured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3036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43036" y="3422904"/>
            <a:ext cx="91440" cy="12923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4204" y="3605784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6268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Incident routing defined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19" y="4971288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19" y="4971288"/>
            <a:ext cx="91440" cy="12923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087" y="5154168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1" y="4971288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Evidence pack closed for Audit (13 artifacts)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Release Readiness — Go / No-Go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1" y="1638604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5" y="1417320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BRD accepted and linked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3319" y="1638604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383" y="1417320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FSD complete; stories closed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2426817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1" y="2648102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5" y="2426817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SIT exit criteria met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426817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648102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383" y="2426817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UAT signed by Business Sponsor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436315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1" y="3657600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" y="3436315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CAB approved (IT-Governance)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3436315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3319" y="3657600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3436315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IT-Security sign-off (if required)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4445812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1" y="4667097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5" y="4445812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Rollback plan tested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4445812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3319" y="4667097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5383" y="4445812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Comms &amp; training complete (BRD Section 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455310"/>
            <a:ext cx="5410047" cy="8083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1" y="5676595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5" y="5455310"/>
            <a:ext cx="4587087" cy="808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Hypercare roster assigned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Dual-Track: Governance + Agile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46686"/>
                </a:solidFill>
                <a:latin typeface="Lora"/>
              </a:defRPr>
            </a:pPr>
            <a:r>
              <a:t>Governance &amp; assurance — runs in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723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BRD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50211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GRC / Legal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8699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IT-Security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7187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ARB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5675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4163" y="1920240"/>
            <a:ext cx="1417320" cy="713232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Audit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88C5D"/>
                </a:solidFill>
                <a:latin typeface="Lora"/>
              </a:defRPr>
            </a:pPr>
            <a:r>
              <a:t>Agile delivery — Scrum (2-week sprints)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723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FSD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50211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Sprint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8699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7187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5675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UAT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4163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2651" y="3657600"/>
            <a:ext cx="1417320" cy="71323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Hypercare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41413"/>
                </a:solidFill>
                <a:latin typeface="Lora"/>
              </a:defRPr>
            </a:pPr>
            <a:r>
              <a:t>Governance runs in parallel — it does not wait for sprint 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41413"/>
                </a:solidFill>
                <a:latin typeface="Lora"/>
              </a:defRPr>
            </a:pPr>
            <a:r>
              <a:t>Ship only when BOTH tracks are green.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Org Chart — Development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E5D59"/>
                </a:solidFill>
                <a:latin typeface="Lora"/>
              </a:defRPr>
            </a:pPr>
            <a:r>
              <a:t>Delivery (build) and Operations (run) report into IT leadership — assurance is independent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9847" y="1874519"/>
            <a:ext cx="4572000" cy="658368"/>
          </a:xfrm>
          <a:prstGeom prst="roundRect">
            <a:avLst/>
          </a:prstGeom>
          <a:solidFill>
            <a:srgbClr val="141413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CIO / IT Director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23389" y="2532887"/>
            <a:ext cx="3972458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3081527"/>
            <a:ext cx="3698138" cy="621792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 Product (PO)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BA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Scrum / Dev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QA /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2532887"/>
            <a:ext cx="0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46778" y="3081527"/>
            <a:ext cx="3698138" cy="621792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 Ops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9658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Service Desk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On-call / Night shift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9658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Release / CAB coord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5847" y="2532887"/>
            <a:ext cx="3972459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19236" y="3081527"/>
            <a:ext cx="3698138" cy="62179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IT-Governance &amp;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2116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CAB /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2116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IT-Security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2116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GRC / Legal liaison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Hard Gates —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FSD / sprint work without accepted BRD (≥ 80%)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story without traceability to BRD acceptance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2826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No UAT 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" y="3831336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business signs, not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production deploy without CAB (IT-Governance)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security bypass without IT-Security exception register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6239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Email / chat is not intake for projects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Audit Evidence Pack (per release)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BRD (+ versions)  2. BA scorecard  3. Sponsor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IT-Security sign-off (if flagged)  5. GRC/Legal (if flagged)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FSD linked to BRD  7. SIT results  8. UAT sign-off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CR + CAB approval  10. Deployment log  11. Post-deploy 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Security scan / pen test (if required)  13. RCA (if incident)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Key Metrics — Ops &amp; Leadership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BRD first-pass acceptance rate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≥ 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triage decision time              Target &lt; 5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Deployments without linked BRD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UAT sign-off before production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Emergency prod changes / month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≤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Open IT-Security prod exceptions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Escalation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Skip BRD pressure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Ops → IT-Governance policy → IT Director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GRC hold + deploy rush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Document hold → GRC Manager → no 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Security review open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Ops blocks CR → IT-Security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Scope dispute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BA → IT Product → Sponsor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CAB rejection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IT-Governance → IT Product → Sponsor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Material incident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IT-Security IR → CIO → EXCO / BOD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DEMAND: Business defines in BRD — IT does not guess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DELIVER: Scrum builds from FSD with traceability to BRD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ASSURE: IT-Governance + IT-Security + GRC run in parallel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SHIP: CAB + UAT — then hypercare → BAU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Docs: docs/12-it-operations-stakeholder-framework.md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    docs/11-operations-manager-checklist.md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Delivery Framework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Publish framework on Confluence (FECBRD space)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Configure Jira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Epic = BRD, Feature = FSD, link fields mandatory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Train dev leads on sprint planning gate checklist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Align CAB charter with IT-Governance + IT-Security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Weekly Ops metrics to IT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