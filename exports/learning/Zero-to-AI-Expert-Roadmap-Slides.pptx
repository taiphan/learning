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LEARNING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Zero to AI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Banking domain · Start from zero Python · 12-month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10 hrs/week (8h technical + 2h Head of AI track)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Where you are → where you're going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5349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23774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467" y="190195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D97757"/>
                </a:solidFill>
                <a:latin typeface="Poppins"/>
              </a:defRPr>
            </a:pPr>
            <a: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74320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899" y="3127248"/>
            <a:ext cx="49377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Banking domain · BRD/UAT · compliance mindset · Python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1587" y="1737360"/>
            <a:ext cx="53492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1587" y="1737360"/>
            <a:ext cx="109728" cy="23774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7" y="1901952"/>
            <a:ext cx="49834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788C5D"/>
                </a:solidFill>
                <a:latin typeface="Poppins"/>
              </a:defRPr>
            </a:pPr>
            <a:r>
              <a:t>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619" y="2743200"/>
            <a:ext cx="493775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Month 12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619" y="3127248"/>
            <a:ext cx="493775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2 banking AI projects · LangGraph copilot · ML model · HoAI artifacts (Track 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41413"/>
                </a:solidFill>
                <a:latin typeface="Lora"/>
              </a:defRPr>
            </a:pPr>
            <a:r>
              <a:t>Expert in industry = job-ready portfolio + 2–3 yrs production — domain saves you ~1 year of "what problem?"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E5D59"/>
                </a:solidFill>
                <a:latin typeface="Lora"/>
              </a:defRPr>
            </a:pPr>
            <a:r>
              <a:t>Learn every phase through banking exercises — never abstract-only tutorials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CAREER GATE: SHIP CODE + BRD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Y1 Q1 — Technologist (Weeks 1–12)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Python + 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1–4 · CP0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SQL +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5–8 · CP1 · H0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EDA + ML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9–12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Deliverable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BRD scorer + KPI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PORTFOLIO PIECE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Y1 Q2 — ML hire signal (Weeks 13–24)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4173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13–16 · CP2 · H1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50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737360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153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Metrics + SHAP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153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17–20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14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NLP + RAG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617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21–24 · CP3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47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47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08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Apply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08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Classical ML +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PORTFOLIO PIECE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Y1 Q3 — GenAI production (Weeks 25–36)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581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58187" y="1737360"/>
            <a:ext cx="109728" cy="14173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42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RAG +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42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25–32 · H2 · CP4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282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92827" y="1737360"/>
            <a:ext cx="109728" cy="14173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885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FastAPI +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85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33–36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74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746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34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Interview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4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OCB/NAB GenAI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CAREER GATE: APPLY AI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Y1 Q4 — Apply (Weeks 37–52)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5818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58187" y="1737360"/>
            <a:ext cx="109728" cy="14173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421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CI +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421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37–40 · CP5 · H3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282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92827" y="1737360"/>
            <a:ext cx="109728" cy="14173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885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Use case 2 +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85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41–48 · CP6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7467" y="173736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27467" y="1737360"/>
            <a:ext cx="109728" cy="1417320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3499" y="19019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Apply + H4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499" y="2286000"/>
            <a:ext cx="219456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Weeks 49–52 · OCB/NAB/VPBank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8H TRACK A · 2H TRACK B ON MILESTONE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Weekly rhythm (10 hrs)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007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007" y="1874519"/>
            <a:ext cx="1691640" cy="5029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A9BCC"/>
                </a:solidFill>
                <a:latin typeface="Poppins"/>
              </a:defRPr>
            </a:pPr>
            <a:r>
              <a:t>2h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735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Course +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0815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10815" y="1874519"/>
            <a:ext cx="1691640" cy="502920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0815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Tue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543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CD1CA"/>
                </a:solidFill>
                <a:latin typeface="Poppins"/>
              </a:defRPr>
            </a:pPr>
            <a:r>
              <a:t>2h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543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Exercises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3623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3623" y="1874519"/>
            <a:ext cx="1691640" cy="50292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3623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Wed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3351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788C5D"/>
                </a:solidFill>
                <a:latin typeface="Poppins"/>
              </a:defRPr>
            </a:pPr>
            <a:r>
              <a:t>1h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3351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Banking exercise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6431" y="1874519"/>
            <a:ext cx="1691640" cy="50292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6431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Thu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6159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46686"/>
                </a:solidFill>
                <a:latin typeface="Poppins"/>
              </a:defRPr>
            </a:pPr>
            <a:r>
              <a:t>2h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6159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Deliverable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89239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9239" y="1874519"/>
            <a:ext cx="1691640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9239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Fri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8967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97757"/>
                </a:solidFill>
                <a:latin typeface="Poppins"/>
              </a:defRPr>
            </a:pPr>
            <a:r>
              <a:t>1h 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8967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Git + README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82047" y="1874519"/>
            <a:ext cx="1691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82047" y="1874519"/>
            <a:ext cx="1691640" cy="50292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82047" y="194767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Sat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1775" y="2560320"/>
            <a:ext cx="14721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A9BCC"/>
                </a:solidFill>
                <a:latin typeface="Poppins"/>
              </a:defRPr>
            </a:pPr>
            <a:r>
              <a:t>2h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1775" y="3017520"/>
            <a:ext cx="147218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E5D59"/>
                </a:solidFill>
                <a:latin typeface="Lora"/>
              </a:defRPr>
            </a:pPr>
            <a:r>
              <a:t>Debug / Track B template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1605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413"/>
                </a:solidFill>
                <a:latin typeface="Lora"/>
              </a:defRPr>
            </a:pPr>
            <a:r>
              <a:t>Rule: never watch without coding the same day · Track B on W8/16/28/40/52 · Sun = 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2H/WEEK · VPBANK HOAI-ALIGNED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Track B — Head of AI Factory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87451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H0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147" y="1874519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240280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AI strategy on one page (5 pillars)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1587" y="1737360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874519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A9BCC"/>
                </a:solidFill>
                <a:latin typeface="Lora"/>
              </a:defRPr>
            </a:pPr>
            <a: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8867" y="1874519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4467" y="2240280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PD model value case with VND/bps metric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867" y="3227832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747" y="336499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46686"/>
                </a:solidFill>
                <a:latin typeface="Lora"/>
              </a:defRPr>
            </a:pPr>
            <a: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147" y="33649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747" y="3730752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Policy copilot G1/G2/G3 governance checklist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1587" y="3227832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336499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788C5D"/>
                </a:solidFill>
                <a:latin typeface="Lora"/>
              </a:defRPr>
            </a:pPr>
            <a:r>
              <a:t>H3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8867" y="33649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4467" y="3730752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90-day AI Factory pilot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867" y="4718304"/>
            <a:ext cx="53492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747" y="4855464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CD1CA"/>
                </a:solidFill>
                <a:latin typeface="Lora"/>
              </a:defRPr>
            </a:pPr>
            <a:r>
              <a:t>H4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147" y="485546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E5D59"/>
                </a:solidFill>
                <a:latin typeface="Lora"/>
              </a:defRPr>
            </a:pPr>
            <a:r>
              <a:t>Week 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747" y="5221224"/>
            <a:ext cx="49834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5-slide steering deck + portfolio narrative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413"/>
                </a:solidFill>
                <a:latin typeface="Lora"/>
              </a:defRPr>
            </a:pPr>
            <a:r>
              <a:t>Deck: exports/learning/Learning-Track-B-Slides.pptx · Guide: head-of-ai-track.md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PROJECT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Use banking domain as your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0867" y="1737360"/>
            <a:ext cx="109728" cy="132588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689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Credit PD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89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Classical ML · Month 4–5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5627" y="1737360"/>
            <a:ext cx="109728" cy="13258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65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Policy RAG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165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LangGraph · Month 7–8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0387" y="17373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0387" y="1737360"/>
            <a:ext cx="109728" cy="132588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6419" y="19019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Loan doc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6419" y="22860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NLP · Month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86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0867" y="3337560"/>
            <a:ext cx="109728" cy="132588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89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AML triage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89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Optional · Month 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5627" y="3337560"/>
            <a:ext cx="109728" cy="132588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165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BRD quality scorer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165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Python · Month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0387" y="3337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30387" y="3337560"/>
            <a:ext cx="109728" cy="132588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6419" y="35021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1413"/>
                </a:solidFill>
                <a:latin typeface="Poppins"/>
              </a:defRPr>
            </a:pPr>
            <a:r>
              <a:t>Lending KPI 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6419" y="3886200"/>
            <a:ext cx="310896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SQL · Month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SYLLABUS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What to learn — core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286000" cy="658368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16459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1–2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1645920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Python · Git · SQL · pandas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432304"/>
            <a:ext cx="2286000" cy="658368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39" y="243230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432304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432304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scikit-learn · XGBoost · SHAP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218688"/>
            <a:ext cx="2286000" cy="658368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3218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5–6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218688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39" y="3218688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Embeddings · vector DB · NLP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005072"/>
            <a:ext cx="2286000" cy="658368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" y="400507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7–8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005072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39" y="4005072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LLM · RAG · LangGraph · eval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791456"/>
            <a:ext cx="2286000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39" y="47914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Month 9–10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791456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4791456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FastAPI · Docker · guardrails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577840"/>
            <a:ext cx="2286000" cy="658368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39" y="557784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FAF9F5"/>
                </a:solidFill>
                <a:latin typeface="Lora"/>
              </a:defRPr>
            </a:pPr>
            <a:r>
              <a:t>Always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5577840"/>
            <a:ext cx="7711135" cy="658368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39" y="5577840"/>
            <a:ext cx="7528255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Banking metrics · governance · English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KNOW WHEN YOU'RE READY TO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Milestone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1783080"/>
            <a:ext cx="3520440" cy="1508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4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Python +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783080"/>
            <a:ext cx="3520440" cy="1508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422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ML +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6107" y="1783080"/>
            <a:ext cx="3520440" cy="1508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4707" y="19202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5603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RAG + 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707" y="29260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147" y="3611880"/>
            <a:ext cx="3520440" cy="1508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74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74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API + 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74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5627" y="3611880"/>
            <a:ext cx="3520440" cy="1508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422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422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2 bank 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422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6107" y="3611880"/>
            <a:ext cx="3520440" cy="1508760"/>
          </a:xfrm>
          <a:prstGeom prst="round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4707" y="374904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707" y="4389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9F5"/>
                </a:solidFill>
                <a:latin typeface="Lora"/>
              </a:defRPr>
            </a:pPr>
            <a:r>
              <a:t>CV +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707" y="47548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B0AEA5"/>
                </a:solidFill>
                <a:latin typeface="Lora"/>
              </a:defRPr>
            </a:pPr>
            <a:r>
              <a:t>Month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First 30 days — start tomorrow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1737360"/>
            <a:ext cx="11247120" cy="73152"/>
          </a:xfrm>
          <a:prstGeom prst="rect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9003" y="1664208"/>
            <a:ext cx="292608" cy="29260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228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2194560"/>
            <a:ext cx="2606040" cy="594360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8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Install Python, Git, VS Code · Python tutorial §1–4 · GitHub repo</a:t>
            </a:r>
          </a:p>
        </p:txBody>
      </p:sp>
      <p:sp>
        <p:nvSpPr>
          <p:cNvPr id="13" name="Oval 12"/>
          <p:cNvSpPr/>
          <p:nvPr/>
        </p:nvSpPr>
        <p:spPr>
          <a:xfrm>
            <a:off x="4509363" y="1664208"/>
            <a:ext cx="292608" cy="29260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264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2647" y="2194560"/>
            <a:ext cx="2606040" cy="594360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264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Functions + files · BRD section checker (5 sections)</a:t>
            </a:r>
          </a:p>
        </p:txBody>
      </p:sp>
      <p:sp>
        <p:nvSpPr>
          <p:cNvPr id="18" name="Oval 17"/>
          <p:cNvSpPr/>
          <p:nvPr/>
        </p:nvSpPr>
        <p:spPr>
          <a:xfrm>
            <a:off x="7389723" y="1664208"/>
            <a:ext cx="292608" cy="29260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300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2194560"/>
            <a:ext cx="2606040" cy="59436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SQLBolt 1–12 · SQLite + Python query</a:t>
            </a:r>
          </a:p>
        </p:txBody>
      </p:sp>
      <p:sp>
        <p:nvSpPr>
          <p:cNvPr id="23" name="Oval 22"/>
          <p:cNvSpPr/>
          <p:nvPr/>
        </p:nvSpPr>
        <p:spPr>
          <a:xfrm>
            <a:off x="10270083" y="1664208"/>
            <a:ext cx="292608" cy="29260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13367" y="2194560"/>
            <a:ext cx="2606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3367" y="2194560"/>
            <a:ext cx="2606040" cy="59436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3367" y="2258568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247" y="29260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41413"/>
                </a:solidFill>
                <a:latin typeface="Lora"/>
              </a:defRPr>
            </a:pPr>
            <a:r>
              <a:t>pandas read_csv · one lending KPI chart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413"/>
                </a:solidFill>
                <a:latin typeface="Lora"/>
              </a:defRPr>
            </a:pPr>
            <a:r>
              <a:t>Full syllabus: curriculum/zero-to-ai-expert-syllabus.md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Zero to AI Expert  ·  Banking domain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D97757"/>
                </a:solidFill>
                <a:latin typeface="Lora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AF9F5"/>
                </a:solidFill>
                <a:latin typeface="Poppins"/>
              </a:defRPr>
            </a:pPr>
            <a:r>
              <a:t>Three rules for your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1246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41167" y="2468880"/>
            <a:ext cx="548640" cy="5486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534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Learn through banking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363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Every phase = BRD, credit, or ops artifact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282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21527" y="2468880"/>
            <a:ext cx="548640" cy="5486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570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Ship, don't 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399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GitHub commit every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73187" y="2240280"/>
            <a:ext cx="2606040" cy="2331720"/>
          </a:xfrm>
          <a:prstGeom prst="roundRect">
            <a:avLst/>
          </a:prstGeom>
          <a:solidFill>
            <a:srgbClr val="3D3D3A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01887" y="246888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AF9F5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6067" y="32004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Production beats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355" y="365760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0AEA5"/>
                </a:solidFill>
                <a:latin typeface="Lora"/>
              </a:defRPr>
            </a:pPr>
            <a:r>
              <a:t>API + eval by month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74920"/>
            <a:ext cx="1051560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AF9F5"/>
                </a:solidFill>
                <a:latin typeface="Poppins"/>
              </a:defRPr>
            </a:pPr>
            <a:r>
              <a:t>Run: python3 curriculum/generate_ai_roadmap_slides.py  ·  Read: zero-to-ai-expert-syllabus.md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