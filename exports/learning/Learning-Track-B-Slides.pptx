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TRACK B — HEAD OF AI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Leadership alongside technical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8h/week ship code · 2h/week strategy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Milestones: W8 · W16 · W28 · W40 · W52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VPBank HoAI JD-aligned steering variant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TRACK A PROVES YOU SHIP · TRACK B PROVES YOU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Dual track · 10 hours/week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83080"/>
            <a:ext cx="5349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83080"/>
            <a:ext cx="109728" cy="2560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194767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6A9BCC"/>
                </a:solidFill>
                <a:latin typeface="Poppins"/>
              </a:defRPr>
            </a:pPr>
            <a:r>
              <a:t>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78892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Track A (8h)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899" y="3172968"/>
            <a:ext cx="4937759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Python · ML · RAG · agents · FastAPI ·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1783080"/>
            <a:ext cx="5349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587" y="1783080"/>
            <a:ext cx="109728" cy="2560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194767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D97757"/>
                </a:solidFill>
                <a:latin typeface="Poppins"/>
              </a:defRPr>
            </a:pPr>
            <a:r>
              <a:t>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619" y="278892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Track B (2h)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619" y="3172968"/>
            <a:ext cx="4937759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Strategy · value case · governance · 90-day plan · steering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• Same day as lab — leadership without code is slides-only</a:t>
            </a:r>
            <a:br/>
            <a:r>
              <a:t>• Banking BA edge: BRD + compliance + KPI language in artifacts</a:t>
            </a:r>
            <a:br/>
            <a:r>
              <a:t>• Year 1 target: AI Engineer — not Head of AI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MARK COMPLETE IN LEARNING APP → LEADERSHIP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Track B milestones (H0–H4)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0136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7830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78308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 strategy on one page (5 pillars)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0008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5973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4144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41448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PD model value case with VND/bps metric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08376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810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09981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99816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Policy copilot G1/G2/G3 governance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66744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764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58183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758183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90-day AI Factory pilot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25112"/>
            <a:ext cx="10515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348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4165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416552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5-slide steering deck + portfolio narrative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SCENARIO DECK · JOB-SKILLS-ADAPTATION.MD §F.4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VPBank Head of AI Factory — steering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413"/>
                </a:solidFill>
                <a:latin typeface="Poppins"/>
              </a:defRPr>
            </a:pPr>
            <a:r>
              <a:t>Value-led predictive + generative AI at production scale — governance-assured, subsidiary-ready.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265176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567" y="2651760"/>
            <a:ext cx="109728" cy="201168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599" y="2816352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Smarter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599" y="3200400"/>
            <a:ext cx="3154679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Data-driven credit, ops, 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265176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2767" y="2651760"/>
            <a:ext cx="109728" cy="20116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799" y="2816352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Lower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799" y="3200400"/>
            <a:ext cx="3154679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PD, early warning, anomaly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8967" y="265176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8967" y="2651760"/>
            <a:ext cx="109728" cy="201168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4999" y="2816352"/>
            <a:ext cx="3154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Better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4999" y="3200400"/>
            <a:ext cx="3154679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Copilots with guardrails · human-in-loop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E5D59"/>
                </a:solidFill>
                <a:latin typeface="Lora"/>
              </a:defRPr>
            </a:pPr>
            <a:r>
              <a:t>Apply Year 4–5 · Near-term: VPBank AI Engineer / Senior 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SLIDE 2 —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Five pillars · Year 1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51560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09728" cy="5303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37360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≥2 pilots with exec sponsor + baseline KPI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67712"/>
            <a:ext cx="1051560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267712"/>
            <a:ext cx="109728" cy="53035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359152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Predictive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59152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1 prod model · AUC + champion/challenger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89504"/>
            <a:ext cx="1051560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889504"/>
            <a:ext cx="109728" cy="53035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980944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Generative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80944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Policy copilot G1→G2 · grounded ≥90%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511296"/>
            <a:ext cx="1051560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511296"/>
            <a:ext cx="109728" cy="53035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602736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88C5D"/>
                </a:solidFill>
                <a:latin typeface="Lora"/>
              </a:defRPr>
            </a:pPr>
            <a:r>
              <a:t>Platform &amp; 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02736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Shared RAG stack · 2+ squads reuse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33088"/>
            <a:ext cx="1051560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133088"/>
            <a:ext cx="109728" cy="53035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224528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D1CA"/>
                </a:solidFill>
                <a:latin typeface="Lora"/>
              </a:defRPr>
            </a:pPr>
            <a: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224528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100% pass intake gate · zero PII in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Principle: Value-led · platform-powered · governance-assured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SLIDE 3 —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Portfolio wins + build vs 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E5D59"/>
                </a:solidFill>
                <a:latin typeface="Lora"/>
              </a:defRPr>
            </a:pPr>
            <a: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E5D59"/>
                </a:solidFill>
                <a:latin typeface="Lora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7373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E5D59"/>
                </a:solidFill>
                <a:latin typeface="Lora"/>
              </a:defRPr>
            </a:pPr>
            <a: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37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E5D59"/>
                </a:solidFill>
                <a:latin typeface="Lora"/>
              </a:defRPr>
            </a:pPr>
            <a:r>
              <a:t>Build vs 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Credit PD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57400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 · NPL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57400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sklearn · SHAP · MLflow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57400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Build — proprietary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24328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 RAG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24328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Grounded ≥90%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624328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RAG · vector DB · 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24328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Buy LLM + RAG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91256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 agent G2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191256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Tool success ·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191256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LangGraph ·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91256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Build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58184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BRD intake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58184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Quality ≥80%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758184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apps/brd ·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58184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Build — factory 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SLIDE 4 — GOVERN &amp;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KPIs · risk tiers · 90-day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KPIs (steering 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Time-to-value (idea → prod): ≤90 days for G1 pilots</a:t>
            </a:r>
            <a:br/>
            <a:r>
              <a:t>• Post-deploy ROI measured: 100% of prod use cases</a:t>
            </a:r>
            <a:br/>
            <a:r>
              <a:t>• Governance pass rate: 100% at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Risk tiers G1 / G2 / G3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G1 — internal search · RAG eval</a:t>
            </a:r>
            <a:br/>
            <a:r>
              <a:t>G2 — RM copilot · human review</a:t>
            </a:r>
            <a:br/>
            <a:r>
              <a:t>G3 — credit decisions · SBV + override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1083564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41413"/>
                </a:solidFill>
                <a:latin typeface="Lora"/>
              </a:defRPr>
            </a:pPr>
            <a:r>
              <a:t>Q1 Foundation · Q2 Pilot · Q3 Scale MLOps · Q4 Steer + Year 2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SLIDE 5 + REALISTIC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The ask · career arc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29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Pilot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9967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Retail/credit BU for G1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95728"/>
            <a:ext cx="5029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Headcount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+2 FTE: ML engineer + LLMOps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54096"/>
            <a:ext cx="5029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Platform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46703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Vector DB · inference · eval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37360"/>
            <a:ext cx="5303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4708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Y1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84708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Dual track · engineer portfolio + HoAI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95728"/>
            <a:ext cx="5303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0545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Y2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505456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AI Engineer · 2–3 prod use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54096"/>
            <a:ext cx="53035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16382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57"/>
                </a:solidFill>
                <a:latin typeface="Lora"/>
              </a:defRPr>
            </a:pPr>
            <a:r>
              <a:t>Y3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63824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Tech Lead · squad 3–5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12464"/>
            <a:ext cx="5303520" cy="530352"/>
          </a:xfrm>
          <a:prstGeom prst="roundRect">
            <a:avLst/>
          </a:prstGeom>
          <a:solidFill>
            <a:srgbClr val="788C5D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2219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88C5D"/>
                </a:solidFill>
                <a:latin typeface="Lora"/>
              </a:defRPr>
            </a:pPr>
            <a:r>
              <a:t>Y4–5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82219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AF9F5"/>
                </a:solidFill>
                <a:latin typeface="Lora"/>
              </a:defRPr>
            </a:pPr>
            <a:r>
              <a:t>Head of AI Factory candidate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Track B · Head of AI Factory · curriculum/head-of-ai-track.md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Track B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124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4116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3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36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curriculum/templates/hoai/ — fill at each milestone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282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2152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570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VPBank variant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399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vpbank_steering_one_pager.md → this deck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31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18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60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Learning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3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Leadership tab on W8 · 16 · 28 · 40 · 52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Regenerate: python3 curriculum/generate_track_b_slides.py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