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AI SKILLS VISUAL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Learning Path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Journey map · 4-step loop · 5 phases · portfolio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Companion: ai-skills-workbook.md · Canvas in 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VISUAL MAP · 19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12-month skill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011679" cy="12344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47672"/>
            <a:ext cx="1883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58568"/>
            <a:ext cx="1883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79191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AF9F5"/>
                </a:solidFill>
                <a:latin typeface="Lora"/>
              </a:defRPr>
            </a:pPr>
            <a:r>
              <a:t>Python · Git · SQL · pandas · EDA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59" y="1874519"/>
            <a:ext cx="2011679" cy="12344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47672"/>
            <a:ext cx="1883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W13–22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258568"/>
            <a:ext cx="1883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679191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AF9F5"/>
                </a:solidFill>
                <a:latin typeface="Lora"/>
              </a:defRPr>
            </a:pPr>
            <a:r>
              <a:t>Models · Metrics · SHAP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79" y="1874519"/>
            <a:ext cx="2011679" cy="12344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947672"/>
            <a:ext cx="1883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W25–38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258568"/>
            <a:ext cx="1883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GenAI &amp;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679191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AF9F5"/>
                </a:solidFill>
                <a:latin typeface="Lora"/>
              </a:defRPr>
            </a:pPr>
            <a:r>
              <a:t>Embed · RAG · LangGraph · 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7999" y="1874519"/>
            <a:ext cx="2011679" cy="12344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7" y="1947672"/>
            <a:ext cx="1883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W39–44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2258568"/>
            <a:ext cx="1883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2679191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AF9F5"/>
                </a:solidFill>
                <a:latin typeface="Lora"/>
              </a:defRPr>
            </a:pPr>
            <a:r>
              <a:t>FastAPI · Docker · Guardrails · CI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874519"/>
            <a:ext cx="2011679" cy="12344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1947672"/>
            <a:ext cx="1883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W47–52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258568"/>
            <a:ext cx="1883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Career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2679191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AF9F5"/>
                </a:solidFill>
                <a:latin typeface="Lora"/>
              </a:defRPr>
            </a:pPr>
            <a:r>
              <a:t>Use cases · Portfolio · 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91839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E5D59"/>
                </a:solidFill>
                <a:latin typeface="Lora"/>
              </a:defRPr>
            </a:pPr>
            <a:r>
              <a:t>Start → Skill 1 Python → pass checkpoint → next skill. Never skip exercises.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EVERY SKILL · EVERY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The 4-step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611" y="2331720"/>
            <a:ext cx="196596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8611" y="2331720"/>
            <a:ext cx="1965960" cy="3840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1763" y="2386584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51" y="2834639"/>
            <a:ext cx="1783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41413"/>
                </a:solidFill>
                <a:latin typeface="Lora"/>
              </a:defRPr>
            </a:pPr>
            <a:r>
              <a:t>Define</a:t>
            </a:r>
            <a:br/>
            <a:r>
              <a:t>understand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2859" y="2926079"/>
            <a:ext cx="246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E5D59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5739" y="2331720"/>
            <a:ext cx="196596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45739" y="2331720"/>
            <a:ext cx="1965960" cy="38404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8891" y="2386584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7179" y="2834639"/>
            <a:ext cx="1783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41413"/>
                </a:solidFill>
                <a:latin typeface="Lora"/>
              </a:defRPr>
            </a:pPr>
            <a:r>
              <a:t>★ sources</a:t>
            </a:r>
            <a:br/>
            <a:r>
              <a:t>that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9987" y="2926079"/>
            <a:ext cx="246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E5D59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2867" y="2331720"/>
            <a:ext cx="196596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2867" y="2331720"/>
            <a:ext cx="1965960" cy="38404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6019" y="2386584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4307" y="2834639"/>
            <a:ext cx="1783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41413"/>
                </a:solidFill>
                <a:latin typeface="Lora"/>
              </a:defRPr>
            </a:pPr>
            <a:r>
              <a:t>Type code</a:t>
            </a:r>
            <a:br/>
            <a:r>
              <a:t>banking lens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7115" y="2926079"/>
            <a:ext cx="246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E5D59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9995" y="2331720"/>
            <a:ext cx="196596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79995" y="2331720"/>
            <a:ext cx="1965960" cy="38404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3147" y="2386584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1435" y="2834639"/>
            <a:ext cx="1783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41413"/>
                </a:solidFill>
                <a:latin typeface="Lora"/>
              </a:defRPr>
            </a:pPr>
            <a:r>
              <a:t>Lab task</a:t>
            </a:r>
            <a:br/>
            <a:r>
              <a:t>git 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4243" y="2926079"/>
            <a:ext cx="246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E5D59"/>
                </a:solidFill>
                <a:latin typeface="Poppin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7123" y="2331720"/>
            <a:ext cx="196596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47123" y="2331720"/>
            <a:ext cx="1965960" cy="38404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0275" y="2386584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8563" y="2834639"/>
            <a:ext cx="1783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41413"/>
                </a:solidFill>
                <a:latin typeface="Lora"/>
              </a:defRPr>
            </a:pPr>
            <a:r>
              <a:t>Pass before</a:t>
            </a:r>
            <a:br/>
            <a:r>
              <a:t>next 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605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413"/>
                </a:solidFill>
                <a:latin typeface="Lora"/>
              </a:defRPr>
            </a:pPr>
            <a:r>
              <a:t>WHY: passive video does not build hire-ready skills.</a:t>
            </a:r>
          </a:p>
          <a:p>
            <a:pPr algn="ctr">
              <a:defRPr sz="1100" b="0">
                <a:solidFill>
                  <a:srgbClr val="5E5D59"/>
                </a:solidFill>
                <a:latin typeface="Lora"/>
              </a:defRPr>
            </a:pPr>
            <a:r>
              <a:t>WHEN: one loop per study session (≈2 hrs). HOW: workbook steps → compare answer.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W1–12 · SKILLS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AF9F5"/>
                </a:solidFill>
                <a:latin typeface="Lora"/>
              </a:defRPr>
            </a:pPr>
            <a:r>
              <a:t>Python · Git · SQL · pandas · EDA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587" y="24688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6587" y="2468880"/>
            <a:ext cx="109728" cy="9601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755" y="25420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947" y="25237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Python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29443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week01_brd_checklist.py · week02_loan_rules.py · week03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4688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468880"/>
            <a:ext cx="109728" cy="9601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7035" y="25420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0227" y="25237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Git Version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0227" y="29443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week04_git_log.sh · banking-ai-learning repo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587" y="3593592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6587" y="3593592"/>
            <a:ext cx="109728" cy="9601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755" y="3666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0947" y="3648456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SQL for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0947" y="40690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sql/week05–07_queries.sql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3593592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5867" y="3593592"/>
            <a:ext cx="109728" cy="9601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7035" y="3666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0227" y="3648456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pandas Data Wrangling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227" y="40690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notebooks/01_lending_kpis.ipynb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587" y="4718304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6587" y="4718304"/>
            <a:ext cx="109728" cy="9601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7755" y="4791456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0947" y="47731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EDA &amp; Statistics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0947" y="519379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notebooks/02_eda_credit.ipynb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W13–22 · SKILLS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Classical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AF9F5"/>
                </a:solidFill>
                <a:latin typeface="Lora"/>
              </a:defRPr>
            </a:pPr>
            <a:r>
              <a:t>Models · Metrics · SHAP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587" y="24688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6587" y="2468880"/>
            <a:ext cx="109728" cy="9601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755" y="25420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947" y="25237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29443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projects/credit-pd-model/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4688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468880"/>
            <a:ext cx="109728" cy="9601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7035" y="25420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0227" y="25237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Metrics &amp; SHAP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0227" y="29443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week17_metrics.py · week20_shap.py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587" y="3593592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6587" y="3593592"/>
            <a:ext cx="109728" cy="9601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755" y="3666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0947" y="3648456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Embeddings &amp; NLP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0947" y="40690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week21_embed.py · week24_doc_classifier.py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W25–38 · SKILLS 9–13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GenAI &amp;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AF9F5"/>
                </a:solidFill>
                <a:latin typeface="Lora"/>
              </a:defRPr>
            </a:pPr>
            <a:r>
              <a:t>Embed · RAG · LangGraph · 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587" y="24688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6587" y="2468880"/>
            <a:ext cx="109728" cy="9601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755" y="25420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947" y="25237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RAG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29443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week25_rag_cli.py · projects/policy-rag/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4688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468880"/>
            <a:ext cx="109728" cy="9601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7035" y="25420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0227" y="25237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LangGraph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0227" y="29443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week29_agent.py · projects/policy-copilot-agent/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587" y="3593592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6587" y="3593592"/>
            <a:ext cx="109728" cy="9601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755" y="3666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0947" y="3648456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Production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0947" y="40690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week33_fastapi/ · week35_docker/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3593592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5867" y="3593592"/>
            <a:ext cx="109728" cy="9601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7035" y="3666744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0227" y="3648456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Guardrails &amp;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227" y="40690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week37_guardrails.py · week39_ci/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587" y="4718304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6587" y="4718304"/>
            <a:ext cx="109728" cy="9601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7755" y="4791456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0947" y="47731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Banking Use Cases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0947" y="519379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week41_value_case.md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W39–44 · SKILLS 14–17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AF9F5"/>
                </a:solidFill>
                <a:latin typeface="Lora"/>
              </a:defRPr>
            </a:pPr>
            <a:r>
              <a:t>FastAPI · Docker · Guardrails ·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587" y="2468880"/>
            <a:ext cx="5349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6587" y="2468880"/>
            <a:ext cx="109728" cy="960120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755" y="25420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D1CA"/>
                </a:solidFill>
                <a:latin typeface="Lora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947" y="25237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29443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E5D59"/>
                </a:solidFill>
                <a:latin typeface="Lora"/>
              </a:defRPr>
            </a:pPr>
            <a:r>
              <a:t>week45_portfolio_checklist.md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W47–52 · SKILLS 18–19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Career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AF9F5"/>
                </a:solidFill>
                <a:latin typeface="Lora"/>
              </a:defRPr>
            </a:pPr>
            <a:r>
              <a:t>Use cases · Portfolio ·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WHAT YOU SHIP BY MONTH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Portfolio build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828800" cy="10058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94560"/>
            <a:ext cx="16824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BRD</a:t>
            </a:r>
            <a:br/>
            <a:r>
              <a:t>rules 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1828800" cy="10058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194560"/>
            <a:ext cx="16824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SQL +</a:t>
            </a:r>
            <a:br/>
            <a:r>
              <a:t>pandas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965960"/>
            <a:ext cx="1828800" cy="10058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2194560"/>
            <a:ext cx="16824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credit-pd</a:t>
            </a:r>
            <a:br/>
            <a:r>
              <a:t>model + SHAP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965960"/>
            <a:ext cx="1828800" cy="10058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2194560"/>
            <a:ext cx="16824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policy-rag</a:t>
            </a:r>
            <a:br/>
            <a:r>
              <a:t>+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965960"/>
            <a:ext cx="1828800" cy="10058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2" y="2194560"/>
            <a:ext cx="16824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AF9F5"/>
                </a:solidFill>
                <a:latin typeface="Lora"/>
              </a:defRPr>
            </a:pPr>
            <a:r>
              <a:t>FastAPI</a:t>
            </a:r>
            <a:br/>
            <a:r>
              <a:t>+ Docker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2468880"/>
            <a:ext cx="365760" cy="0"/>
          </a:xfrm>
          <a:prstGeom prst="line">
            <a:avLst/>
          </a:prstGeom>
          <a:ln>
            <a:solidFill>
              <a:srgbClr val="5E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54880" y="2468880"/>
            <a:ext cx="365760" cy="0"/>
          </a:xfrm>
          <a:prstGeom prst="line">
            <a:avLst/>
          </a:prstGeom>
          <a:ln>
            <a:solidFill>
              <a:srgbClr val="5E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2468880"/>
            <a:ext cx="365760" cy="0"/>
          </a:xfrm>
          <a:prstGeom prst="line">
            <a:avLst/>
          </a:prstGeom>
          <a:ln>
            <a:solidFill>
              <a:srgbClr val="5E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2468880"/>
            <a:ext cx="365760" cy="0"/>
          </a:xfrm>
          <a:prstGeom prst="line">
            <a:avLst/>
          </a:prstGeom>
          <a:ln>
            <a:solidFill>
              <a:srgbClr val="5E5D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00400" y="3337560"/>
            <a:ext cx="5943600" cy="1234440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47472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Month 11–12: eval harness · guardrails · CI · CV · demo video · apply OCB/NAB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WHERE TO FIND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Study materials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783080"/>
            <a:ext cx="10058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83080"/>
            <a:ext cx="128016" cy="7132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745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ai-skills-workbook.md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671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Links · steps · answers · what/why/when/how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10058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651760"/>
            <a:ext cx="128016" cy="71323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7432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AI-Skills-Learning-Slides.pptx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3580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19 skill slides · definition + exercise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520440"/>
            <a:ext cx="10058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520440"/>
            <a:ext cx="128016" cy="71323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611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learning-lab/exercises/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0448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week01 · week02 · solutions/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389120"/>
            <a:ext cx="10058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389120"/>
            <a:ext cx="128016" cy="71323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480559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Canvas: ai-skills-learning-path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77316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Interactive timeline · phase chart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257800"/>
            <a:ext cx="10058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5257800"/>
            <a:ext cx="128016" cy="71323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3492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reading-path.md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64184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Book order · when to read each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Visual  ·  Workbook + Canvas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START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Skill 1 —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0987" y="246888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Python.org §1 + Kaggle 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64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1347" y="2468880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81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week01_brd_checklist.py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1707" y="2468880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Missing ACCEPTANCE CRITERIA in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336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2067" y="2468880"/>
            <a:ext cx="548640" cy="548640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53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Open Canvas · ai-skills-learning-path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74920"/>
            <a:ext cx="10515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AF9F5"/>
                </a:solidFill>
                <a:latin typeface="Poppins"/>
              </a:defRPr>
            </a:pPr>
            <a:r>
              <a:t>Workbook: ai-factory/ai-skills-workbook.md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