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685800"/>
            <a:ext cx="320040" cy="3200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685800"/>
            <a:ext cx="320040" cy="3200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78440" y="1280160"/>
            <a:ext cx="320040" cy="3200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Lora"/>
              </a:defRPr>
            </a:pPr>
            <a:r>
              <a:t>FE CREDIT · BUSINESS USER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AF9F5"/>
                </a:solidFill>
                <a:latin typeface="Poppins"/>
              </a:defRPr>
            </a:pPr>
            <a:r>
              <a:t>How to Write a BRD at FE Credit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A practical guide for business 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78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Hướng dẫn viết BRD cho nhân viên nghiệp vụ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54296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Your BRD is the contract for what IT will deliver.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What You Will Learn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How to Write a BRD  ·  Business User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19" y="1417320"/>
            <a:ext cx="5455767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19" y="1417320"/>
            <a:ext cx="91440" cy="1444752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4087" y="1600200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1" y="1581912"/>
            <a:ext cx="458708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1413"/>
                </a:solidFill>
                <a:latin typeface="Lora"/>
              </a:defRPr>
            </a:pPr>
            <a:r>
              <a:t>What a BRD 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1" y="2130552"/>
            <a:ext cx="4998567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and what it is NOT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417320"/>
            <a:ext cx="5455767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33007" y="1417320"/>
            <a:ext cx="91440" cy="1444752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34175" y="1600200"/>
            <a:ext cx="384048" cy="384048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239" y="1417320"/>
            <a:ext cx="4587087" cy="1444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The 8 steps to write a good BRD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19" y="3118104"/>
            <a:ext cx="5455767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19" y="3118104"/>
            <a:ext cx="91440" cy="1444752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7" y="3300984"/>
            <a:ext cx="384048" cy="384048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1" y="3118104"/>
            <a:ext cx="4587087" cy="1444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Each template section (A → M) with examples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3007" y="3118104"/>
            <a:ext cx="5455767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33007" y="3118104"/>
            <a:ext cx="91440" cy="1444752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34175" y="3300984"/>
            <a:ext cx="384048" cy="384048"/>
          </a:xfrm>
          <a:prstGeom prst="ellipse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6239" y="3118104"/>
            <a:ext cx="4587087" cy="1444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How to pass the quality gate (score ≥ 80%)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19" y="4818888"/>
            <a:ext cx="5455767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19" y="4818888"/>
            <a:ext cx="91440" cy="1444752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04087" y="5001768"/>
            <a:ext cx="384048" cy="384048"/>
          </a:xfrm>
          <a:prstGeom prst="ellipse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6151" y="4818888"/>
            <a:ext cx="4587087" cy="1444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Where and how to submit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Why Your BRD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How to Write a BRD  ·  Business User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19" y="1417320"/>
            <a:ext cx="5455767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19" y="1417320"/>
            <a:ext cx="91440" cy="219456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4087" y="1600200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1" y="1417320"/>
            <a:ext cx="4587087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IT cannot build what you have not defined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417320"/>
            <a:ext cx="5455767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33007" y="1417320"/>
            <a:ext cx="91440" cy="219456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34175" y="1600200"/>
            <a:ext cx="384048" cy="384048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6239" y="1417320"/>
            <a:ext cx="4587087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Poor BRD = delay, rework, UAT failure, compliance risk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19" y="3867911"/>
            <a:ext cx="5455767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19" y="3867911"/>
            <a:ext cx="91440" cy="219456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04087" y="4050791"/>
            <a:ext cx="384048" cy="384048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1" y="3867911"/>
            <a:ext cx="4587087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Good BRD = faster triage, predictable delivery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Your BRD in the IT Delivery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How to Write a BRD  ·  Business User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5D59"/>
                </a:solidFill>
                <a:latin typeface="Lora"/>
              </a:defRPr>
            </a:pPr>
            <a:r>
              <a:t>Business users own BRD and UAT — IT owns build and deploy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6607" y="3108960"/>
            <a:ext cx="1554480" cy="960120"/>
          </a:xfrm>
          <a:prstGeom prst="roundRect">
            <a:avLst/>
          </a:prstGeom>
          <a:solidFill>
            <a:srgbClr val="D97757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You write</a:t>
            </a:r>
            <a:br/>
            <a:r>
              <a:t>BRD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319375" y="3442715"/>
            <a:ext cx="256031" cy="292608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75407" y="3108960"/>
            <a:ext cx="1554480" cy="960120"/>
          </a:xfrm>
          <a:prstGeom prst="roundRect">
            <a:avLst/>
          </a:prstGeom>
          <a:solidFill>
            <a:srgbClr val="6A9BCC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BA review</a:t>
            </a:r>
            <a:br/>
            <a:r>
              <a:t>≥80%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48175" y="3442715"/>
            <a:ext cx="256031" cy="292608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04207" y="3108960"/>
            <a:ext cx="1554480" cy="960120"/>
          </a:xfrm>
          <a:prstGeom prst="roundRect">
            <a:avLst/>
          </a:prstGeom>
          <a:solidFill>
            <a:srgbClr val="788C5D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IT</a:t>
            </a:r>
            <a:br/>
            <a:r>
              <a:t>triage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76975" y="3442715"/>
            <a:ext cx="256031" cy="292608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33007" y="3108960"/>
            <a:ext cx="1554480" cy="960120"/>
          </a:xfrm>
          <a:prstGeom prst="roundRect">
            <a:avLst/>
          </a:prstGeom>
          <a:solidFill>
            <a:srgbClr val="C46686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FSD</a:t>
            </a:r>
            <a:br/>
            <a:r>
              <a:t>built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805775" y="3442715"/>
            <a:ext cx="256031" cy="292608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61807" y="3108960"/>
            <a:ext cx="1554480" cy="960120"/>
          </a:xfrm>
          <a:prstGeom prst="roundRect">
            <a:avLst/>
          </a:prstGeom>
          <a:solidFill>
            <a:srgbClr val="BCD1CA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You test</a:t>
            </a:r>
            <a:br/>
            <a:r>
              <a:t>UAT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634575" y="3442715"/>
            <a:ext cx="256031" cy="292608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890607" y="3108960"/>
            <a:ext cx="1554480" cy="960120"/>
          </a:xfrm>
          <a:prstGeom prst="roundRect">
            <a:avLst/>
          </a:prstGeom>
          <a:solidFill>
            <a:srgbClr val="3D3D3A"/>
          </a:solidFill>
          <a:ln w="19050">
            <a:solidFill>
              <a:srgbClr val="FAF9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AF9F5"/>
                </a:solidFill>
                <a:latin typeface="Lora"/>
              </a:defRPr>
            </a:pPr>
            <a:r>
              <a:t>Go-</a:t>
            </a:r>
            <a:br/>
            <a:r>
              <a:t>live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What Is a BRD?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How to Write a BRD  ·  Business User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5272887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417320"/>
            <a:ext cx="5272887" cy="603504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417320"/>
            <a:ext cx="5272887" cy="603504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AF9F5"/>
                </a:solidFill>
                <a:latin typeface="Poppins"/>
              </a:defRPr>
            </a:pPr>
            <a:r>
              <a:t>✓  Do include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340864"/>
            <a:ext cx="146304" cy="146304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7" y="2286000"/>
            <a:ext cx="4495647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Business problem and impact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2798064"/>
            <a:ext cx="146304" cy="146304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7" y="2743200"/>
            <a:ext cx="4495647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Who is affected and business rules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3255264"/>
            <a:ext cx="146304" cy="146304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7007" y="3200400"/>
            <a:ext cx="4495647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Scope, data, compliance, acceptance criteria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8727" y="1417320"/>
            <a:ext cx="5272887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78727" y="1417320"/>
            <a:ext cx="5272887" cy="603504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78727" y="1417320"/>
            <a:ext cx="5272887" cy="603504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AF9F5"/>
                </a:solidFill>
                <a:latin typeface="Poppins"/>
              </a:defRPr>
            </a:pPr>
            <a:r>
              <a:t>✗  Do NOT include</a:t>
            </a:r>
          </a:p>
        </p:txBody>
      </p:sp>
      <p:sp>
        <p:nvSpPr>
          <p:cNvPr id="20" name="Oval 19"/>
          <p:cNvSpPr/>
          <p:nvPr/>
        </p:nvSpPr>
        <p:spPr>
          <a:xfrm>
            <a:off x="6553047" y="2340864"/>
            <a:ext cx="146304" cy="146304"/>
          </a:xfrm>
          <a:prstGeom prst="ellipse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45655" y="2286000"/>
            <a:ext cx="4495647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Technical design (API, database, Kafka)</a:t>
            </a:r>
          </a:p>
        </p:txBody>
      </p:sp>
      <p:sp>
        <p:nvSpPr>
          <p:cNvPr id="22" name="Oval 21"/>
          <p:cNvSpPr/>
          <p:nvPr/>
        </p:nvSpPr>
        <p:spPr>
          <a:xfrm>
            <a:off x="6553047" y="2798064"/>
            <a:ext cx="146304" cy="146304"/>
          </a:xfrm>
          <a:prstGeom prst="ellipse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45655" y="2743200"/>
            <a:ext cx="4495647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Vendor selection or project plan</a:t>
            </a:r>
          </a:p>
        </p:txBody>
      </p:sp>
      <p:sp>
        <p:nvSpPr>
          <p:cNvPr id="24" name="Oval 23"/>
          <p:cNvSpPr/>
          <p:nvPr/>
        </p:nvSpPr>
        <p:spPr>
          <a:xfrm>
            <a:off x="6553047" y="3255264"/>
            <a:ext cx="146304" cy="146304"/>
          </a:xfrm>
          <a:prstGeom prst="ellipse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45655" y="3200400"/>
            <a:ext cx="4495647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An email saying "please do it ASAP"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BRD vs Other Documents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How to Write a BRD  ·  Business User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4582844" cy="749808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YOU write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277788" y="1673352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25844" y="1417320"/>
            <a:ext cx="5825770" cy="749808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BRD (business need)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295144"/>
            <a:ext cx="4582844" cy="749808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BA + IT write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277788" y="2551176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725844" y="2295144"/>
            <a:ext cx="5825770" cy="749808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FSD / FRD (functional spec)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72968"/>
            <a:ext cx="4582844" cy="749808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IT writes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277788" y="3429000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725844" y="3172968"/>
            <a:ext cx="5825770" cy="749808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Technical design &amp; code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50791"/>
            <a:ext cx="4582844" cy="749808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YOU sign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277788" y="4306824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725844" y="4050791"/>
            <a:ext cx="5825770" cy="749808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UAT (did it meet your criteria?)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928616"/>
            <a:ext cx="4582844" cy="749808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No BRD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277788" y="5184648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725844" y="4928616"/>
            <a:ext cx="5825770" cy="749808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no IT build. No UAT sign-off → no go-live.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Your Journey After Submit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How to Write a BRD  ·  Business User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19" y="1417320"/>
            <a:ext cx="5455767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19" y="1417320"/>
            <a:ext cx="91440" cy="1444752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4087" y="1600200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1" y="1417320"/>
            <a:ext cx="4587087" cy="1444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You draft BRD + get Sponsor (Director+) to sign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417320"/>
            <a:ext cx="5455767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33007" y="1417320"/>
            <a:ext cx="91440" cy="1444752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34175" y="1600200"/>
            <a:ext cx="384048" cy="384048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6239" y="1581912"/>
            <a:ext cx="458708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1413"/>
                </a:solidFill>
                <a:latin typeface="Lora"/>
              </a:defRPr>
            </a:pPr>
            <a:r>
              <a:t>BA quality review (2 days)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9039" y="2130552"/>
            <a:ext cx="4998567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score must be ≥ 80%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19" y="3118104"/>
            <a:ext cx="5455767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19" y="3118104"/>
            <a:ext cx="91440" cy="1444752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7" y="3300984"/>
            <a:ext cx="384048" cy="384048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1" y="3118104"/>
            <a:ext cx="4587087" cy="1444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Compliance routing if needed (Risk, Legal, IT-Security)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3007" y="3118104"/>
            <a:ext cx="5455767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33007" y="3118104"/>
            <a:ext cx="91440" cy="1444752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34175" y="3300984"/>
            <a:ext cx="384048" cy="384048"/>
          </a:xfrm>
          <a:prstGeom prst="ellipse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6239" y="3118104"/>
            <a:ext cx="4587087" cy="1444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IT triage &amp; prioritization (5 days)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19" y="4818888"/>
            <a:ext cx="5455767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19" y="4818888"/>
            <a:ext cx="91440" cy="1444752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04087" y="5001768"/>
            <a:ext cx="384048" cy="384048"/>
          </a:xfrm>
          <a:prstGeom prst="ellipse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6151" y="4818888"/>
            <a:ext cx="4587087" cy="1444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BA creates FSD → Dev builds → You run UAT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3007" y="4818888"/>
            <a:ext cx="5455767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33007" y="4818888"/>
            <a:ext cx="91440" cy="1444752"/>
          </a:xfrm>
          <a:prstGeom prst="roundRect">
            <a:avLst/>
          </a:prstGeom>
          <a:solidFill>
            <a:srgbClr val="3D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34175" y="5001768"/>
            <a:ext cx="384048" cy="384048"/>
          </a:xfrm>
          <a:prstGeom prst="ellipse">
            <a:avLst/>
          </a:prstGeom>
          <a:solidFill>
            <a:srgbClr val="3D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6239" y="4818888"/>
            <a:ext cx="4587087" cy="1444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Go-live after your UAT sign-off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The Golden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How to Write a BRD  ·  Business User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1783080"/>
            <a:ext cx="9631375" cy="4251959"/>
          </a:xfrm>
          <a:prstGeom prst="roundRect">
            <a:avLst/>
          </a:prstGeom>
          <a:solidFill>
            <a:srgbClr val="E8E6DC"/>
          </a:solidFill>
          <a:ln w="1905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280160" y="1783080"/>
            <a:ext cx="128016" cy="4251959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2775204"/>
            <a:ext cx="87169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141413"/>
                </a:solidFill>
                <a:latin typeface="Lora"/>
              </a:defRPr>
            </a:pPr>
            <a:r>
              <a:t>Write the PROBLEM and BUSINESS RULES,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342132"/>
            <a:ext cx="87169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141413"/>
                </a:solidFill>
                <a:latin typeface="Lora"/>
              </a:defRPr>
            </a:pPr>
            <a:r>
              <a:t>not the SYSTEM DESIGN.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909060"/>
            <a:ext cx="87169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141413"/>
                </a:solidFill>
                <a:latin typeface="Lora"/>
              </a:defRPr>
            </a:pPr>
            <a:r>
              <a:t>Viết VẤN ĐỀ và QUY TẮC NGHIỆP VỤ,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4475988"/>
            <a:ext cx="87169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141413"/>
                </a:solidFill>
                <a:latin typeface="Lora"/>
              </a:defRPr>
            </a:pPr>
            <a:r>
              <a:t>không viết THIẾT KẾ HỆ THỐNG.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8 Steps to a Good BRD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How to Write a BRD  ·  Business User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5E5D59"/>
                </a:solidFill>
                <a:latin typeface="Lora"/>
              </a:defRPr>
            </a:pPr>
            <a:r>
              <a:t>8 bước viết BRD tốt | Same steps in Vietnamese cheat sheet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74519"/>
            <a:ext cx="53949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7512" y="2084831"/>
            <a:ext cx="420624" cy="42062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874519"/>
            <a:ext cx="44805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Start with the problem — not "we need system X"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825496"/>
            <a:ext cx="53949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7512" y="3035808"/>
            <a:ext cx="420624" cy="420624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825496"/>
            <a:ext cx="44805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Quantify impact — %, hours, customers, VND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776472"/>
            <a:ext cx="53949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7512" y="3986784"/>
            <a:ext cx="420624" cy="420624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776472"/>
            <a:ext cx="44805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Define who uses it — role, count, location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727448"/>
            <a:ext cx="53949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67512" y="4937760"/>
            <a:ext cx="420624" cy="420624"/>
          </a:xfrm>
          <a:prstGeom prst="ellipse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727448"/>
            <a:ext cx="44805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Document business rules — approval, cut-off, exceptions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1874519"/>
            <a:ext cx="53949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28231" y="2084831"/>
            <a:ext cx="420624" cy="420624"/>
          </a:xfrm>
          <a:prstGeom prst="ellipse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59" y="1874519"/>
            <a:ext cx="44805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Write in-scope AND out-of-scope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825496"/>
            <a:ext cx="53949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28231" y="3035808"/>
            <a:ext cx="420624" cy="420624"/>
          </a:xfrm>
          <a:prstGeom prst="ellipse">
            <a:avLst/>
          </a:prstGeom>
          <a:solidFill>
            <a:srgbClr val="3D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59" y="2825496"/>
            <a:ext cx="44805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Complete data &amp; compliance honestly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776472"/>
            <a:ext cx="53949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28231" y="3986784"/>
            <a:ext cx="420624" cy="42062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59" y="3776472"/>
            <a:ext cx="44805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Add acceptance criteria — Given/When/Then (min 5)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4727448"/>
            <a:ext cx="53949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28231" y="4937760"/>
            <a:ext cx="420624" cy="420624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59" y="4727448"/>
            <a:ext cx="448056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Get Sponsor (Director+) sign-off before IT intake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Good vs Bad Request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How to Write a BRD  ·  Business User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5272887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417320"/>
            <a:ext cx="5272887" cy="603504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417320"/>
            <a:ext cx="5272887" cy="603504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AF9F5"/>
                </a:solidFill>
                <a:latin typeface="Poppins"/>
              </a:defRPr>
            </a:pPr>
            <a:r>
              <a:t>✗  Bad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340864"/>
            <a:ext cx="146304" cy="146304"/>
          </a:xfrm>
          <a:prstGeom prst="ellipse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7" y="2286000"/>
            <a:ext cx="4495647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Build Kafka API to Finacle for real-time sync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2798064"/>
            <a:ext cx="146304" cy="146304"/>
          </a:xfrm>
          <a:prstGeom prst="ellipse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7" y="2743200"/>
            <a:ext cx="4495647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Need new screen ASAP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8727" y="1417320"/>
            <a:ext cx="5272887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78727" y="1417320"/>
            <a:ext cx="5272887" cy="603504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78727" y="1417320"/>
            <a:ext cx="5272887" cy="603504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AF9F5"/>
                </a:solidFill>
                <a:latin typeface="Poppins"/>
              </a:defRPr>
            </a:pPr>
            <a:r>
              <a:t>✓  Good</a:t>
            </a:r>
          </a:p>
        </p:txBody>
      </p:sp>
      <p:sp>
        <p:nvSpPr>
          <p:cNvPr id="18" name="Oval 17"/>
          <p:cNvSpPr/>
          <p:nvPr/>
        </p:nvSpPr>
        <p:spPr>
          <a:xfrm>
            <a:off x="6553047" y="2340864"/>
            <a:ext cx="146304" cy="146304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45655" y="2286000"/>
            <a:ext cx="4495647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POS staff cannot see approved loan status during customer visit,</a:t>
            </a:r>
          </a:p>
        </p:txBody>
      </p:sp>
      <p:sp>
        <p:nvSpPr>
          <p:cNvPr id="20" name="Oval 19"/>
          <p:cNvSpPr/>
          <p:nvPr/>
        </p:nvSpPr>
        <p:spPr>
          <a:xfrm>
            <a:off x="6553047" y="2889504"/>
            <a:ext cx="146304" cy="146304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45655" y="2834640"/>
            <a:ext cx="4495647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causing 18% drop-off on pre-approved applications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Problem Statement Formula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How to Write a BRD  ·  Business User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1783080"/>
            <a:ext cx="9631375" cy="4251959"/>
          </a:xfrm>
          <a:prstGeom prst="roundRect">
            <a:avLst/>
          </a:prstGeom>
          <a:solidFill>
            <a:srgbClr val="E8E6DC"/>
          </a:solidFill>
          <a:ln w="1905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280160" y="1783080"/>
            <a:ext cx="128016" cy="4251959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2491739"/>
            <a:ext cx="87169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141413"/>
                </a:solidFill>
                <a:latin typeface="Poppins"/>
              </a:defRPr>
            </a:pPr>
            <a:r>
              <a:t>[Role] cannot [task] because [constraint], causing [impact].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058668"/>
            <a:ext cx="87169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141413"/>
                </a:solidFill>
                <a:latin typeface="Poppins"/>
              </a:defRPr>
            </a:pPr>
            <a:r>
              <a:t>[Vai trò] không thể [làm gì] vì [rào cản], gây [ảnh hưởng].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625596"/>
            <a:ext cx="87169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141413"/>
                </a:solidFill>
                <a:latin typeface="Lora"/>
              </a:defRPr>
            </a:pPr>
            <a:r>
              <a:t>Example / Ví dụ: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4192524"/>
            <a:ext cx="87169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141413"/>
                </a:solidFill>
                <a:latin typeface="Lora"/>
              </a:defRPr>
            </a:pPr>
            <a:r>
              <a:t>Collections agent cannot see payment promise history on one screen,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759452"/>
            <a:ext cx="87169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141413"/>
                </a:solidFill>
                <a:latin typeface="Lora"/>
              </a:defRPr>
            </a:pPr>
            <a:r>
              <a:t>causing 12 min average call time and repeat contacts.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Section A — Request Information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How to Write a BRD  ·  Business User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5D59"/>
                </a:solidFill>
                <a:latin typeface="Lora"/>
              </a:defRPr>
            </a:pPr>
            <a:r>
              <a:t>Fill in first: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19" y="1874519"/>
            <a:ext cx="5455767" cy="129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19" y="1874519"/>
            <a:ext cx="91440" cy="1292352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04087" y="2057400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151" y="1874519"/>
            <a:ext cx="4587087" cy="1292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BRD title (clear, specific)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874519"/>
            <a:ext cx="5455767" cy="129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33007" y="1874519"/>
            <a:ext cx="91440" cy="1292352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34175" y="2057400"/>
            <a:ext cx="384048" cy="384048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239" y="1874519"/>
            <a:ext cx="4587087" cy="1292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Business unit (Sales/POS, Digital, Collections…)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19" y="3422904"/>
            <a:ext cx="5455767" cy="129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19" y="3422904"/>
            <a:ext cx="91440" cy="1292352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7" y="3605784"/>
            <a:ext cx="384048" cy="384048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1" y="3422904"/>
            <a:ext cx="4587087" cy="1292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Your name and email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3007" y="3422904"/>
            <a:ext cx="5455767" cy="129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33007" y="3422904"/>
            <a:ext cx="91440" cy="1292352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34175" y="3605784"/>
            <a:ext cx="384048" cy="384048"/>
          </a:xfrm>
          <a:prstGeom prst="ellipse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6239" y="3587496"/>
            <a:ext cx="458708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1413"/>
                </a:solidFill>
                <a:latin typeface="Lora"/>
              </a:defRPr>
            </a:pPr>
            <a:r>
              <a:t>Business Sponsor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9039" y="4136136"/>
            <a:ext cx="4998567" cy="469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must be Director grade or above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19" y="4971288"/>
            <a:ext cx="5455767" cy="129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19" y="4971288"/>
            <a:ext cx="91440" cy="1292352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04087" y="5154168"/>
            <a:ext cx="384048" cy="384048"/>
          </a:xfrm>
          <a:prstGeom prst="ellipse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1" y="5135880"/>
            <a:ext cx="458708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1413"/>
                </a:solidFill>
                <a:latin typeface="Lora"/>
              </a:defRPr>
            </a:pPr>
            <a:r>
              <a:t>Target go-live date (realistic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1" y="5684520"/>
            <a:ext cx="4998567" cy="469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≥ 15 business days from submit)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33007" y="4971288"/>
            <a:ext cx="5455767" cy="129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33007" y="4971288"/>
            <a:ext cx="91440" cy="1292352"/>
          </a:xfrm>
          <a:prstGeom prst="roundRect">
            <a:avLst/>
          </a:prstGeom>
          <a:solidFill>
            <a:srgbClr val="3D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34175" y="5154168"/>
            <a:ext cx="384048" cy="384048"/>
          </a:xfrm>
          <a:prstGeom prst="ellipse">
            <a:avLst/>
          </a:prstGeom>
          <a:solidFill>
            <a:srgbClr val="3D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6239" y="5135880"/>
            <a:ext cx="458708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1413"/>
                </a:solidFill>
                <a:latin typeface="Lora"/>
              </a:defRPr>
            </a:pPr>
            <a:r>
              <a:t>Priority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89039" y="5684520"/>
            <a:ext cx="4998567" cy="469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Regulatory | Revenue | CX | Efficiency | Risk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Section B — 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How to Write a BRD  ·  Business User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5D59"/>
                </a:solidFill>
                <a:latin typeface="Lora"/>
              </a:defRPr>
            </a:pPr>
            <a:r>
              <a:t>Answer in plain language: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19" y="1874519"/>
            <a:ext cx="5455767" cy="20665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19" y="1874519"/>
            <a:ext cx="91440" cy="2066543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04087" y="2057400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151" y="1874519"/>
            <a:ext cx="4587087" cy="20665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What is the business problem?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874519"/>
            <a:ext cx="5455767" cy="20665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33007" y="1874519"/>
            <a:ext cx="91440" cy="2066543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34175" y="2057400"/>
            <a:ext cx="384048" cy="384048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239" y="1874519"/>
            <a:ext cx="4587087" cy="20665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Who is impacted? (role, count, location)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19" y="4197096"/>
            <a:ext cx="5455767" cy="20665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19" y="4197096"/>
            <a:ext cx="91440" cy="2066543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7" y="4379976"/>
            <a:ext cx="384048" cy="384048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1" y="4197096"/>
            <a:ext cx="4587087" cy="20665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What happens if we do nothing?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3007" y="4197096"/>
            <a:ext cx="5455767" cy="20665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33007" y="4197096"/>
            <a:ext cx="91440" cy="2066543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34175" y="4379976"/>
            <a:ext cx="384048" cy="384048"/>
          </a:xfrm>
          <a:prstGeom prst="ellipse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6239" y="4197096"/>
            <a:ext cx="4587087" cy="20665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Desired outcome in one sentence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Section C — Objectives &amp; KPIs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How to Write a BRD  ·  Business User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5272887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417320"/>
            <a:ext cx="5272887" cy="603504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417320"/>
            <a:ext cx="5272887" cy="603504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AF9F5"/>
                </a:solidFill>
                <a:latin typeface="Poppins"/>
              </a:defRPr>
            </a:pPr>
            <a:r>
              <a:t>✗  Weak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340864"/>
            <a:ext cx="146304" cy="146304"/>
          </a:xfrm>
          <a:prstGeom prst="ellipse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7" y="2286000"/>
            <a:ext cx="4495647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Improve customer experience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8727" y="1417320"/>
            <a:ext cx="5272887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78727" y="1417320"/>
            <a:ext cx="5272887" cy="603504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8727" y="1417320"/>
            <a:ext cx="5272887" cy="603504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AF9F5"/>
                </a:solidFill>
                <a:latin typeface="Poppins"/>
              </a:defRPr>
            </a:pPr>
            <a:r>
              <a:t>✓  Strong</a:t>
            </a:r>
          </a:p>
        </p:txBody>
      </p:sp>
      <p:sp>
        <p:nvSpPr>
          <p:cNvPr id="16" name="Oval 15"/>
          <p:cNvSpPr/>
          <p:nvPr/>
        </p:nvSpPr>
        <p:spPr>
          <a:xfrm>
            <a:off x="6553047" y="2340864"/>
            <a:ext cx="146304" cy="146304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45655" y="2286000"/>
            <a:ext cx="4495647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Reduce POS disbursement TAT from 24h to 4h;</a:t>
            </a:r>
          </a:p>
        </p:txBody>
      </p:sp>
      <p:sp>
        <p:nvSpPr>
          <p:cNvPr id="18" name="Oval 17"/>
          <p:cNvSpPr/>
          <p:nvPr/>
        </p:nvSpPr>
        <p:spPr>
          <a:xfrm>
            <a:off x="6553047" y="2798064"/>
            <a:ext cx="146304" cy="146304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45655" y="2743200"/>
            <a:ext cx="4495647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measured weekly from LOS report R-1042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Section D — Current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How to Write a BRD  ·  Business User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5D59"/>
                </a:solidFill>
                <a:latin typeface="Lora"/>
              </a:defRPr>
            </a:pPr>
            <a:r>
              <a:t>Describe TODAY before IT changes anything: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19" y="1874519"/>
            <a:ext cx="5455767" cy="20665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19" y="1874519"/>
            <a:ext cx="91440" cy="2066543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04087" y="2057400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151" y="1874519"/>
            <a:ext cx="4587087" cy="20665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Step-by-step current process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874519"/>
            <a:ext cx="5455767" cy="20665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33007" y="1874519"/>
            <a:ext cx="91440" cy="2066543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34175" y="2057400"/>
            <a:ext cx="384048" cy="384048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239" y="1874519"/>
            <a:ext cx="4587087" cy="20665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Which FE Credit systems are involved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19" y="4197096"/>
            <a:ext cx="5455767" cy="20665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19" y="4197096"/>
            <a:ext cx="91440" cy="2066543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7" y="4379976"/>
            <a:ext cx="384048" cy="384048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1" y="4197096"/>
            <a:ext cx="4587087" cy="20665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How many users and transactions per month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Section E &amp; F — To-Be &amp;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How to Write a BRD  ·  Business User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1783080"/>
            <a:ext cx="9631375" cy="4251959"/>
          </a:xfrm>
          <a:prstGeom prst="roundRect">
            <a:avLst/>
          </a:prstGeom>
          <a:solidFill>
            <a:srgbClr val="E8E6DC"/>
          </a:solidFill>
          <a:ln w="1905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280160" y="1783080"/>
            <a:ext cx="128016" cy="4251959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2208276"/>
            <a:ext cx="87169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141413"/>
                </a:solidFill>
                <a:latin typeface="Lora"/>
              </a:defRPr>
            </a:pPr>
            <a:r>
              <a:t>Section E — Future process (business view only):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775204"/>
            <a:ext cx="87169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141413"/>
                </a:solidFill>
                <a:latin typeface="Lora"/>
              </a:defRPr>
            </a:pPr>
            <a:r>
              <a:t>  What should users be able to do differently?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342132"/>
            <a:ext cx="87169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141413"/>
                </a:solidFill>
                <a:latin typeface="Lora"/>
              </a:defRPr>
            </a:pPr>
            <a:r>
              <a:t>  Do NOT name APIs, databases, or vendors.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909060"/>
            <a:ext cx="87169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141413"/>
                </a:solidFill>
                <a:latin typeface="Lora"/>
              </a:defRPr>
            </a:pPr>
            <a:r>
              <a:t>Section F — Scope (write BOTH):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475988"/>
            <a:ext cx="87169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141413"/>
                </a:solidFill>
                <a:latin typeface="Lora"/>
              </a:defRPr>
            </a:pPr>
            <a:r>
              <a:t>  In scope: what this change delivers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5042916"/>
            <a:ext cx="87169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141413"/>
                </a:solidFill>
                <a:latin typeface="Lora"/>
              </a:defRPr>
            </a:pPr>
            <a:r>
              <a:t>  Out of scope: what is NOT included (prevents scope creep)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Section G &amp; H — Users &amp; Business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How to Write a BRD  ·  Business User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5D59"/>
                </a:solidFill>
                <a:latin typeface="Lora"/>
              </a:defRPr>
            </a:pPr>
            <a:r>
              <a:t>Section G — Who uses it: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19" y="1874519"/>
            <a:ext cx="5455767" cy="20665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19" y="1874519"/>
            <a:ext cx="91440" cy="2066543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04087" y="2057400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151" y="1874519"/>
            <a:ext cx="4587087" cy="20665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Who approves? What authority level?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874519"/>
            <a:ext cx="5455767" cy="20665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33007" y="1874519"/>
            <a:ext cx="91440" cy="2066543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34175" y="2057400"/>
            <a:ext cx="384048" cy="384048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239" y="1874519"/>
            <a:ext cx="4587087" cy="20665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Cut-off times (e.g. disbursement before 17:00)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19" y="4197096"/>
            <a:ext cx="5455767" cy="20665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19" y="4197096"/>
            <a:ext cx="91440" cy="2066543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7" y="4379976"/>
            <a:ext cx="384048" cy="384048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1" y="4197096"/>
            <a:ext cx="4587087" cy="20665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Exceptions and edge cases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3007" y="4197096"/>
            <a:ext cx="5455767" cy="20665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33007" y="4197096"/>
            <a:ext cx="91440" cy="2066543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34175" y="4379976"/>
            <a:ext cx="384048" cy="384048"/>
          </a:xfrm>
          <a:prstGeom prst="ellipse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6239" y="4197096"/>
            <a:ext cx="4587087" cy="20665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Customer communication rules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Section I — Data &amp;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How to Write a BRD  ·  Business User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1783080"/>
            <a:ext cx="9631375" cy="4251959"/>
          </a:xfrm>
          <a:prstGeom prst="roundRect">
            <a:avLst/>
          </a:prstGeom>
          <a:solidFill>
            <a:srgbClr val="E8E6DC"/>
          </a:solidFill>
          <a:ln w="1905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280160" y="1783080"/>
            <a:ext cx="128016" cy="4251959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2208276"/>
            <a:ext cx="87169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141413"/>
                </a:solidFill>
                <a:latin typeface="Lora"/>
              </a:defRPr>
            </a:pPr>
            <a:r>
              <a:t>Classify your data honestly: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775204"/>
            <a:ext cx="87169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141413"/>
                </a:solidFill>
                <a:latin typeface="Lora"/>
              </a:defRPr>
            </a:pPr>
            <a:r>
              <a:t>  Public | Internal | Confidential | Restricted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342132"/>
            <a:ext cx="87169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141413"/>
                </a:solidFill>
                <a:latin typeface="Lora"/>
              </a:defRPr>
            </a:pPr>
            <a:r>
              <a:t>Check data types: PII, CIC, payment, financial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909060"/>
            <a:ext cx="87169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141413"/>
                </a:solidFill>
                <a:latin typeface="Lora"/>
              </a:defRPr>
            </a:pPr>
            <a:r>
              <a:t>Remote access: None | Managed device | VDI | Exception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475988"/>
            <a:ext cx="87169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141413"/>
                </a:solidFill>
                <a:latin typeface="Lora"/>
              </a:defRPr>
            </a:pPr>
            <a:r>
              <a:t>Restricted data or exceptions → IT-Security review (adds time).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5042916"/>
            <a:ext cx="87169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141413"/>
                </a:solidFill>
                <a:latin typeface="Lora"/>
              </a:defRPr>
            </a:pPr>
            <a:r>
              <a:t>Never request: disable MFA, personal Gmail, BYOD for customer data.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Section N — Compliance Screening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How to Write a BRD  ·  Business User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5D59"/>
                </a:solidFill>
                <a:latin typeface="Lora"/>
              </a:defRPr>
            </a:pPr>
            <a:r>
              <a:t>Answer Yes / No / N/A honestly for all 7 questions: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19" y="1874519"/>
            <a:ext cx="3545738" cy="129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19" y="1874519"/>
            <a:ext cx="91440" cy="1292352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04087" y="2057400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151" y="1874519"/>
            <a:ext cx="2677058" cy="1292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Loan origination / approval / disbursement change?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2978" y="1874519"/>
            <a:ext cx="3545738" cy="129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22978" y="1874519"/>
            <a:ext cx="91440" cy="1292352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24146" y="2057400"/>
            <a:ext cx="384048" cy="384048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36210" y="1874519"/>
            <a:ext cx="2677058" cy="1292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Interest, fees, or contract terms?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43036" y="1874519"/>
            <a:ext cx="3545738" cy="129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43036" y="1874519"/>
            <a:ext cx="91440" cy="1292352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44204" y="2057400"/>
            <a:ext cx="384048" cy="384048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6268" y="1874519"/>
            <a:ext cx="2677058" cy="1292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Customer SMS / email / push notifications?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19" y="3422904"/>
            <a:ext cx="3545738" cy="129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19" y="3422904"/>
            <a:ext cx="91440" cy="1292352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04087" y="3605784"/>
            <a:ext cx="384048" cy="384048"/>
          </a:xfrm>
          <a:prstGeom prst="ellipse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6151" y="3422904"/>
            <a:ext cx="2677058" cy="1292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Third-party data sharing?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22978" y="3422904"/>
            <a:ext cx="3545738" cy="129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22978" y="3422904"/>
            <a:ext cx="91440" cy="1292352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24146" y="3605784"/>
            <a:ext cx="384048" cy="384048"/>
          </a:xfrm>
          <a:prstGeom prst="ellipse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36210" y="3422904"/>
            <a:ext cx="2677058" cy="1292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Collections or legal process?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43036" y="3422904"/>
            <a:ext cx="3545738" cy="129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143036" y="3422904"/>
            <a:ext cx="91440" cy="1292352"/>
          </a:xfrm>
          <a:prstGeom prst="roundRect">
            <a:avLst/>
          </a:prstGeom>
          <a:solidFill>
            <a:srgbClr val="3D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344204" y="3605784"/>
            <a:ext cx="384048" cy="384048"/>
          </a:xfrm>
          <a:prstGeom prst="ellipse">
            <a:avLst/>
          </a:prstGeom>
          <a:solidFill>
            <a:srgbClr val="3D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56268" y="3422904"/>
            <a:ext cx="2677058" cy="1292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Audit trail required?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19" y="4971288"/>
            <a:ext cx="3545738" cy="129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02919" y="4971288"/>
            <a:ext cx="91440" cy="1292352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04087" y="5154168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6151" y="4971288"/>
            <a:ext cx="2677058" cy="1292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Customer data on POS or field devices?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Section M — Acceptance Criteria (UAT)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How to Write a BRD  ·  Business User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1783080"/>
            <a:ext cx="9631375" cy="4251959"/>
          </a:xfrm>
          <a:prstGeom prst="roundRect">
            <a:avLst/>
          </a:prstGeom>
          <a:solidFill>
            <a:srgbClr val="E8E6DC"/>
          </a:solidFill>
          <a:ln w="1905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280160" y="1783080"/>
            <a:ext cx="128016" cy="4251959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2491739"/>
            <a:ext cx="87169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141413"/>
                </a:solidFill>
                <a:latin typeface="Lora"/>
              </a:defRPr>
            </a:pPr>
            <a:r>
              <a:t>Minimum 5 testable criteria using Given / When / Then: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058668"/>
            <a:ext cx="87169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141413"/>
                </a:solidFill>
                <a:latin typeface="Lora"/>
              </a:defRPr>
            </a:pPr>
            <a:r>
              <a:t>Given a pre-approved POS loan 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625596"/>
            <a:ext cx="87169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141413"/>
                </a:solidFill>
                <a:latin typeface="Lora"/>
              </a:defRPr>
            </a:pPr>
            <a:r>
              <a:t>When the agent opens the customer record during visit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4192524"/>
            <a:ext cx="87169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141413"/>
                </a:solidFill>
                <a:latin typeface="Lora"/>
              </a:defRPr>
            </a:pPr>
            <a:r>
              <a:t>Then approved amount and status display within 3 seconds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759452"/>
            <a:ext cx="87169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141413"/>
                </a:solidFill>
                <a:latin typeface="Lora"/>
              </a:defRPr>
            </a:pPr>
            <a:r>
              <a:t>These become YOUR UAT tests. IT does not accept for you.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Section L &amp; K — Risks &amp; Rollout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How to Write a BRD  ·  Business User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1783080"/>
            <a:ext cx="9631375" cy="4251959"/>
          </a:xfrm>
          <a:prstGeom prst="roundRect">
            <a:avLst/>
          </a:prstGeom>
          <a:solidFill>
            <a:srgbClr val="E8E6DC"/>
          </a:solidFill>
          <a:ln w="1905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280160" y="1783080"/>
            <a:ext cx="128016" cy="4251959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2208276"/>
            <a:ext cx="87169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141413"/>
                </a:solidFill>
                <a:latin typeface="Lora"/>
              </a:defRPr>
            </a:pPr>
            <a:r>
              <a:t>Section L — What goes wrong if built incorrectly?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775204"/>
            <a:ext cx="87169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141413"/>
                </a:solidFill>
                <a:latin typeface="Lora"/>
              </a:defRPr>
            </a:pPr>
            <a:r>
              <a:t>  Operational, customer, financial, compliance risks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342132"/>
            <a:ext cx="87169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141413"/>
                </a:solidFill>
                <a:latin typeface="Lora"/>
              </a:defRPr>
            </a:pPr>
            <a:r>
              <a:t>Section K — Rollout: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909060"/>
            <a:ext cx="87169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141413"/>
                </a:solidFill>
                <a:latin typeface="Lora"/>
              </a:defRPr>
            </a:pPr>
            <a:r>
              <a:t>  Pilot vs phased vs big bang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475988"/>
            <a:ext cx="87169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141413"/>
                </a:solidFill>
                <a:latin typeface="Lora"/>
              </a:defRPr>
            </a:pPr>
            <a:r>
              <a:t>  Training needed? Vietnamese / English?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5042916"/>
            <a:ext cx="87169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141413"/>
                </a:solidFill>
                <a:latin typeface="Lora"/>
              </a:defRPr>
            </a:pPr>
            <a:r>
              <a:t>  Business continuity fallback if system unavailable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Section O — Sponsor Approval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How to Write a BRD  ·  Business User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5D59"/>
                </a:solidFill>
                <a:latin typeface="Lora"/>
              </a:defRPr>
            </a:pPr>
            <a:r>
              <a:t>Before you submit: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19" y="1920240"/>
            <a:ext cx="5410047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7511" y="2240280"/>
            <a:ext cx="365760" cy="36576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9575" y="1920240"/>
            <a:ext cx="4587087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Business Sponsor (Director+) has reviewed the full BRD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1920240"/>
            <a:ext cx="5410047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43319" y="2240280"/>
            <a:ext cx="365760" cy="36576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55383" y="1920240"/>
            <a:ext cx="4587087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Sponsor signature or approval email attached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19" y="3127248"/>
            <a:ext cx="5410047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7511" y="3447288"/>
            <a:ext cx="365760" cy="36576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9575" y="3127248"/>
            <a:ext cx="4587087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Sponsor cannot be the only approver for Critical changes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Top 10 Mistakes to Avoid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How to Write a BRD  ·  Business User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19" y="1417320"/>
            <a:ext cx="5455767" cy="76443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19" y="1417320"/>
            <a:ext cx="91440" cy="764438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4087" y="1600200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1" y="1417320"/>
            <a:ext cx="4587087" cy="7644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Writing a solution instead of a need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417320"/>
            <a:ext cx="5455767" cy="76443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33007" y="1417320"/>
            <a:ext cx="91440" cy="764438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34175" y="1600200"/>
            <a:ext cx="384048" cy="384048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6239" y="1417320"/>
            <a:ext cx="4587087" cy="7644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No KPI baseline or target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19" y="2437790"/>
            <a:ext cx="5455767" cy="76443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19" y="2437790"/>
            <a:ext cx="91440" cy="764438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04087" y="2620670"/>
            <a:ext cx="384048" cy="384048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1" y="2437790"/>
            <a:ext cx="4587087" cy="7644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Missing business rules (IT would have to guess)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3007" y="2437790"/>
            <a:ext cx="5455767" cy="76443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33007" y="2437790"/>
            <a:ext cx="91440" cy="764438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34175" y="2620670"/>
            <a:ext cx="384048" cy="384048"/>
          </a:xfrm>
          <a:prstGeom prst="ellipse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6239" y="2437790"/>
            <a:ext cx="4587087" cy="7644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No out-of-scope section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19" y="3458260"/>
            <a:ext cx="5455767" cy="76443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2919" y="3458260"/>
            <a:ext cx="91440" cy="764438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04087" y="3641140"/>
            <a:ext cx="384048" cy="384048"/>
          </a:xfrm>
          <a:prstGeom prst="ellipse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1" y="3458260"/>
            <a:ext cx="4587087" cy="7644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Multiple unrelated projects in one BRD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3007" y="3458260"/>
            <a:ext cx="5455767" cy="76443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33007" y="3458260"/>
            <a:ext cx="91440" cy="764438"/>
          </a:xfrm>
          <a:prstGeom prst="roundRect">
            <a:avLst/>
          </a:prstGeom>
          <a:solidFill>
            <a:srgbClr val="3D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34175" y="3641140"/>
            <a:ext cx="384048" cy="384048"/>
          </a:xfrm>
          <a:prstGeom prst="ellipse">
            <a:avLst/>
          </a:prstGeom>
          <a:solidFill>
            <a:srgbClr val="3D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6239" y="3458260"/>
            <a:ext cx="4587087" cy="7644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Fewer than 5 acceptance criteria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19" y="4478731"/>
            <a:ext cx="5455767" cy="76443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02919" y="4478731"/>
            <a:ext cx="91440" cy="764438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04087" y="4661611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1" y="4478731"/>
            <a:ext cx="4587087" cy="7644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No Sponsor sign-off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33007" y="4478731"/>
            <a:ext cx="5455767" cy="76443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33007" y="4478731"/>
            <a:ext cx="91440" cy="764438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434175" y="4661611"/>
            <a:ext cx="384048" cy="384048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6239" y="4478731"/>
            <a:ext cx="4587087" cy="7644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Ignoring POS / field training impact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19" y="5499201"/>
            <a:ext cx="5455767" cy="76443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02919" y="5499201"/>
            <a:ext cx="91440" cy="764438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04087" y="5682081"/>
            <a:ext cx="384048" cy="384048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16151" y="5499201"/>
            <a:ext cx="4587087" cy="7644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Wrong or missing data classification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33007" y="5499201"/>
            <a:ext cx="5455767" cy="76443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233007" y="5499201"/>
            <a:ext cx="91440" cy="764438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434175" y="5682081"/>
            <a:ext cx="384048" cy="384048"/>
          </a:xfrm>
          <a:prstGeom prst="ellipse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46239" y="5499201"/>
            <a:ext cx="4587087" cy="7644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Copy-paste from vendor marketing material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Self-Check Before Submit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How to Write a BRD  ·  Business User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19" y="1417320"/>
            <a:ext cx="5410047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7511" y="1737360"/>
            <a:ext cx="365760" cy="36576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575" y="1417320"/>
            <a:ext cx="4587087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Can IT build without guessing my business rules?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417320"/>
            <a:ext cx="5410047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43319" y="1737360"/>
            <a:ext cx="365760" cy="36576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55383" y="1417320"/>
            <a:ext cx="4587087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Can UAT verify success using my acceptance criteria?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19" y="2624328"/>
            <a:ext cx="5410047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67511" y="2944368"/>
            <a:ext cx="365760" cy="36576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9575" y="2624328"/>
            <a:ext cx="4587087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Can Risk/Audit understand control impact?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8727" y="2624328"/>
            <a:ext cx="5410047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43319" y="2944368"/>
            <a:ext cx="365760" cy="36576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5383" y="2624328"/>
            <a:ext cx="4587087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Sponsor (Director+) signed?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19" y="3831336"/>
            <a:ext cx="5410047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7511" y="4151376"/>
            <a:ext cx="365760" cy="365760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9575" y="3831336"/>
            <a:ext cx="4587087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In-scope AND out-of-scope written?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78727" y="3831336"/>
            <a:ext cx="5410047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43319" y="4151376"/>
            <a:ext cx="365760" cy="365760"/>
          </a:xfrm>
          <a:prstGeom prst="roundRect">
            <a:avLst/>
          </a:prstGeom>
          <a:solidFill>
            <a:srgbClr val="3D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55383" y="3831336"/>
            <a:ext cx="4587087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Compliance Section N complete?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19" y="5038344"/>
            <a:ext cx="5410047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67511" y="5358383"/>
            <a:ext cx="365760" cy="36576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AF9F5"/>
                </a:solidFill>
                <a:latin typeface="Poppins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9575" y="5038344"/>
            <a:ext cx="4587087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141413"/>
                </a:solidFill>
                <a:latin typeface="Lora"/>
              </a:defRPr>
            </a:pPr>
            <a:r>
              <a:t>Quality preview ≥ 80% (use BRD Intake App)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Quality Gate — What BA Checks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How to Write a BRD  ·  Business User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E5D59"/>
                </a:solidFill>
                <a:latin typeface="Lora"/>
              </a:defRPr>
            </a:pPr>
            <a:r>
              <a:t>Pass requirements: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19" y="1874519"/>
            <a:ext cx="5455767" cy="20665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19" y="1874519"/>
            <a:ext cx="91440" cy="2066543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04087" y="2057400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151" y="1874519"/>
            <a:ext cx="4587087" cy="20665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All mandatory sections complete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874519"/>
            <a:ext cx="5455767" cy="20665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33007" y="1874519"/>
            <a:ext cx="91440" cy="2066543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34175" y="2057400"/>
            <a:ext cx="384048" cy="384048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239" y="1874519"/>
            <a:ext cx="4587087" cy="20665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Quality score ≥ 80%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19" y="4197096"/>
            <a:ext cx="5455767" cy="20665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19" y="4197096"/>
            <a:ext cx="91440" cy="2066543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7" y="4379976"/>
            <a:ext cx="384048" cy="384048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1" y="4197096"/>
            <a:ext cx="4587087" cy="20665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Sponsor sign-off on file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Compliance Quick Reference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How to Write a BRD  ·  Business User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4582844" cy="70104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Loan approval / disbursement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277788" y="1648968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25844" y="1417320"/>
            <a:ext cx="5825770" cy="70104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Risk + Credit Policy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246376"/>
            <a:ext cx="4582844" cy="701040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Interest / fees / contract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277788" y="2478024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725844" y="2246376"/>
            <a:ext cx="5825770" cy="70104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Legal + Finance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075432"/>
            <a:ext cx="4582844" cy="70104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Customer SMS / email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277788" y="3307080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725844" y="3075432"/>
            <a:ext cx="5825770" cy="70104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Legal (approved template)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904487"/>
            <a:ext cx="4582844" cy="70104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Third-party data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277788" y="4136135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725844" y="3904487"/>
            <a:ext cx="5825770" cy="70104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Vendor Risk + Legal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733544"/>
            <a:ext cx="4582844" cy="701040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Collections / legal process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277788" y="4965192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725844" y="4733544"/>
            <a:ext cx="5825770" cy="70104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Compliance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562600"/>
            <a:ext cx="4582844" cy="701040"/>
          </a:xfrm>
          <a:prstGeom prst="roundRect">
            <a:avLst/>
          </a:prstGeom>
          <a:solidFill>
            <a:srgbClr val="3D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50" b="1">
                <a:solidFill>
                  <a:srgbClr val="FAF9F5"/>
                </a:solidFill>
                <a:latin typeface="Lora"/>
              </a:defRPr>
            </a:pPr>
            <a:r>
              <a:t>Data on POS / home device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277788" y="5794248"/>
            <a:ext cx="365760" cy="237744"/>
          </a:xfrm>
          <a:prstGeom prst="rightArrow">
            <a:avLst/>
          </a:prstGeom>
          <a:solidFill>
            <a:srgbClr val="B0A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725844" y="5562600"/>
            <a:ext cx="5825770" cy="70104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IT-Security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Tools &amp; Resources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How to Write a BRD  ·  Business User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19" y="1417320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19" y="1417320"/>
            <a:ext cx="91440" cy="1019556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4087" y="1600200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1" y="1417320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BRD Intake App (wizard + score preview):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417320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33007" y="1417320"/>
            <a:ext cx="91440" cy="1019556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34175" y="1600200"/>
            <a:ext cx="384048" cy="384048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6239" y="1417320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app/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19" y="2692908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19" y="2692908"/>
            <a:ext cx="91440" cy="1019556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04087" y="2875788"/>
            <a:ext cx="384048" cy="384048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1" y="2692908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Templates &amp; samples: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3007" y="2692908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33007" y="2692908"/>
            <a:ext cx="91440" cy="1019556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34175" y="2875788"/>
            <a:ext cx="384048" cy="384048"/>
          </a:xfrm>
          <a:prstGeom prst="ellipse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6239" y="2692908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docs/01-brd-template-en.md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19" y="3968496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2919" y="3968496"/>
            <a:ext cx="91440" cy="1019556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04087" y="4151376"/>
            <a:ext cx="384048" cy="384048"/>
          </a:xfrm>
          <a:prstGeom prst="ellipse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1" y="3968496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docs/02-brd-template-bilingual-vi-en.md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3007" y="3968496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33007" y="3968496"/>
            <a:ext cx="91440" cy="1019556"/>
          </a:xfrm>
          <a:prstGeom prst="roundRect">
            <a:avLst/>
          </a:prstGeom>
          <a:solidFill>
            <a:srgbClr val="3D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34175" y="4151376"/>
            <a:ext cx="384048" cy="384048"/>
          </a:xfrm>
          <a:prstGeom prst="ellipse">
            <a:avLst/>
          </a:prstGeom>
          <a:solidFill>
            <a:srgbClr val="3D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6239" y="3968496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examples/04a-brd-pos-lending.md (gold standard)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19" y="5244084"/>
            <a:ext cx="5455767" cy="10195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02919" y="5244084"/>
            <a:ext cx="91440" cy="1019556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04087" y="5426964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1" y="5244084"/>
            <a:ext cx="4587087" cy="10195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Submit via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What NOT to Put in Your BRD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How to Write a BRD  ·  Business User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1783080"/>
            <a:ext cx="9631375" cy="4251959"/>
          </a:xfrm>
          <a:prstGeom prst="roundRect">
            <a:avLst/>
          </a:prstGeom>
          <a:solidFill>
            <a:srgbClr val="E8E6DC"/>
          </a:solidFill>
          <a:ln w="1905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280160" y="1783080"/>
            <a:ext cx="128016" cy="4251959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2208276"/>
            <a:ext cx="87169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141413"/>
                </a:solidFill>
                <a:latin typeface="Lora"/>
              </a:defRPr>
            </a:pPr>
            <a:r>
              <a:t>✗ API names, Kafka, database, microservices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775204"/>
            <a:ext cx="87169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141413"/>
                </a:solidFill>
                <a:latin typeface="Lora"/>
              </a:defRPr>
            </a:pPr>
            <a:r>
              <a:t>✗ "ASAP" without business reason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342132"/>
            <a:ext cx="87169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141413"/>
                </a:solidFill>
                <a:latin typeface="Lora"/>
              </a:defRPr>
            </a:pPr>
            <a:r>
              <a:t>✗ Request to disable MFA or DLP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909060"/>
            <a:ext cx="87169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141413"/>
                </a:solidFill>
                <a:latin typeface="Lora"/>
              </a:defRPr>
            </a:pPr>
            <a:r>
              <a:t>✗ Personal device / Gmail / Dropbox for customer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475988"/>
            <a:ext cx="87169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141413"/>
                </a:solidFill>
                <a:latin typeface="Lora"/>
              </a:defRPr>
            </a:pPr>
            <a:r>
              <a:t>✗ IT headcount or sprint planning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5042916"/>
            <a:ext cx="871697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141413"/>
                </a:solidFill>
                <a:latin typeface="Lora"/>
              </a:defRPr>
            </a:pPr>
            <a:r>
              <a:t>If you need access or password reset → Service Desk, not BRD.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AF9F5"/>
                </a:solidFill>
                <a:latin typeface="Poppins"/>
              </a:defRPr>
            </a:pPr>
            <a: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How to Write a BRD  ·  Business User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19" y="1417320"/>
            <a:ext cx="5455767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19" y="1417320"/>
            <a:ext cx="91440" cy="1444752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4087" y="1600200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1" y="1417320"/>
            <a:ext cx="4587087" cy="1444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Open BRD template or Intake App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417320"/>
            <a:ext cx="5455767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33007" y="1417320"/>
            <a:ext cx="91440" cy="1444752"/>
          </a:xfrm>
          <a:prstGeom prst="round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34175" y="1600200"/>
            <a:ext cx="384048" cy="384048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6239" y="1581912"/>
            <a:ext cx="4587087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1413"/>
                </a:solidFill>
                <a:latin typeface="Lora"/>
              </a:defRPr>
            </a:pPr>
            <a:r>
              <a:t>Draft using this guide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9039" y="2130552"/>
            <a:ext cx="4998567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E5D59"/>
                </a:solidFill>
                <a:latin typeface="Lora"/>
              </a:defRPr>
            </a:pPr>
            <a:r>
              <a:t>start with problem, not system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19" y="3118104"/>
            <a:ext cx="5455767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19" y="3118104"/>
            <a:ext cx="91440" cy="1444752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7" y="3300984"/>
            <a:ext cx="384048" cy="384048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1" y="3118104"/>
            <a:ext cx="4587087" cy="1444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Self-check and aim for ≥ 80% quality score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3007" y="3118104"/>
            <a:ext cx="5455767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33007" y="3118104"/>
            <a:ext cx="91440" cy="1444752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34175" y="3300984"/>
            <a:ext cx="384048" cy="384048"/>
          </a:xfrm>
          <a:prstGeom prst="ellipse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6239" y="3118104"/>
            <a:ext cx="4587087" cy="1444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Get Sponsor sign-off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19" y="4818888"/>
            <a:ext cx="5455767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19" y="4818888"/>
            <a:ext cx="91440" cy="1444752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04087" y="5001768"/>
            <a:ext cx="384048" cy="384048"/>
          </a:xfrm>
          <a:prstGeom prst="ellipse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6151" y="4818888"/>
            <a:ext cx="4587087" cy="1444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Submit via ServiceNow / Jira BRD form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3007" y="4818888"/>
            <a:ext cx="5455767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33007" y="4818888"/>
            <a:ext cx="91440" cy="1444752"/>
          </a:xfrm>
          <a:prstGeom prst="roundRect">
            <a:avLst/>
          </a:prstGeom>
          <a:solidFill>
            <a:srgbClr val="3D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34175" y="5001768"/>
            <a:ext cx="384048" cy="384048"/>
          </a:xfrm>
          <a:prstGeom prst="ellipse">
            <a:avLst/>
          </a:prstGeom>
          <a:solidFill>
            <a:srgbClr val="3D3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AF9F5"/>
                </a:solidFill>
                <a:latin typeface="Lora"/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6239" y="4818888"/>
            <a:ext cx="4587087" cy="1444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41413"/>
                </a:solidFill>
                <a:latin typeface="Lora"/>
              </a:defRPr>
            </a:pPr>
            <a:r>
              <a:t>Attend BA office hours if you need coaching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