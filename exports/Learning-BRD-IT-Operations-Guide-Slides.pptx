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251960"/>
            <a:ext cx="12191695" cy="7315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378440" y="685800"/>
            <a:ext cx="320040" cy="32004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972800" y="685800"/>
            <a:ext cx="320040" cy="320040"/>
          </a:xfrm>
          <a:prstGeom prst="ellipse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78440" y="1280160"/>
            <a:ext cx="320040" cy="320040"/>
          </a:xfrm>
          <a:prstGeom prst="ellipse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6596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D97757"/>
                </a:solidFill>
                <a:latin typeface="Lora"/>
              </a:defRPr>
            </a:pPr>
            <a:r>
              <a:t>FE CREDIT · IT OPERATIONS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77440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400" b="1">
                <a:solidFill>
                  <a:srgbClr val="FAF9F5"/>
                </a:solidFill>
                <a:latin typeface="Poppins"/>
              </a:defRPr>
            </a:pPr>
            <a:r>
              <a:t>FE Credit IT Operations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703320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B0AEA5"/>
                </a:solidFill>
                <a:latin typeface="Lora"/>
              </a:defRPr>
            </a:pPr>
            <a:r>
              <a:t>Delivery control · Support tickets · Incidents · Daily monitoring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178808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B0AEA5"/>
                </a:solidFill>
                <a:latin typeface="Lora"/>
              </a:defRPr>
            </a:pPr>
            <a:r>
              <a:t>For Ops Manager, Service Desk, on-call &amp; release coordinators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400" b="1">
                <a:solidFill>
                  <a:srgbClr val="FAF9F5"/>
                </a:solidFill>
                <a:latin typeface="Poppins"/>
              </a:defRPr>
            </a:pPr>
            <a:r>
              <a:t>Learning Objectives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IT Operations Guide  ·  Internal use only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19" y="1417320"/>
            <a:ext cx="5455767" cy="14447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19" y="1417320"/>
            <a:ext cx="91440" cy="1444752"/>
          </a:xfrm>
          <a:prstGeom prst="round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04087" y="1600200"/>
            <a:ext cx="384048" cy="38404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AF9F5"/>
                </a:solidFill>
                <a:latin typeface="Lora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16151" y="1581912"/>
            <a:ext cx="4587087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141413"/>
                </a:solidFill>
                <a:latin typeface="Lora"/>
              </a:defRPr>
            </a:pPr>
            <a:r>
              <a:t>Control delivery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1" y="2130552"/>
            <a:ext cx="4998567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5E5D59"/>
                </a:solidFill>
                <a:latin typeface="Lora"/>
              </a:defRPr>
            </a:pPr>
            <a:r>
              <a:t>enforce gates without doing business work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3007" y="1417320"/>
            <a:ext cx="5455767" cy="14447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33007" y="1417320"/>
            <a:ext cx="91440" cy="1444752"/>
          </a:xfrm>
          <a:prstGeom prst="round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34175" y="1600200"/>
            <a:ext cx="384048" cy="384048"/>
          </a:xfrm>
          <a:prstGeom prst="ellipse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AF9F5"/>
                </a:solidFill>
                <a:latin typeface="Lora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6239" y="1417320"/>
            <a:ext cx="4587087" cy="1444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141413"/>
                </a:solidFill>
                <a:latin typeface="Lora"/>
              </a:defRPr>
            </a:pPr>
            <a:r>
              <a:t>Triage support tickets to the correct bucket (IT vs Business)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19" y="3118104"/>
            <a:ext cx="5455767" cy="14447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02919" y="3118104"/>
            <a:ext cx="91440" cy="1444752"/>
          </a:xfrm>
          <a:prstGeom prst="round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04087" y="3300984"/>
            <a:ext cx="384048" cy="384048"/>
          </a:xfrm>
          <a:prstGeom prst="ellipse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AF9F5"/>
                </a:solidFill>
                <a:latin typeface="Lora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16151" y="3118104"/>
            <a:ext cx="4587087" cy="1444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141413"/>
                </a:solidFill>
                <a:latin typeface="Lora"/>
              </a:defRPr>
            </a:pPr>
            <a:r>
              <a:t>Run BOD/EOD rituals and monitor systems throughout the day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33007" y="3118104"/>
            <a:ext cx="5455767" cy="14447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233007" y="3118104"/>
            <a:ext cx="91440" cy="1444752"/>
          </a:xfrm>
          <a:prstGeom prst="round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34175" y="3300984"/>
            <a:ext cx="384048" cy="384048"/>
          </a:xfrm>
          <a:prstGeom prst="ellipse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AF9F5"/>
                </a:solidFill>
                <a:latin typeface="Lora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6239" y="3282696"/>
            <a:ext cx="4587087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141413"/>
                </a:solidFill>
                <a:latin typeface="Lora"/>
              </a:defRPr>
            </a:pPr>
            <a:r>
              <a:t>Handle incidents with business liaison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89039" y="3831336"/>
            <a:ext cx="4998567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5E5D59"/>
                </a:solidFill>
                <a:latin typeface="Lora"/>
              </a:defRPr>
            </a:pPr>
            <a:r>
              <a:t>IT restores systems first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19" y="4818888"/>
            <a:ext cx="5455767" cy="14447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02919" y="4818888"/>
            <a:ext cx="91440" cy="1444752"/>
          </a:xfrm>
          <a:prstGeom prst="roundRect">
            <a:avLst/>
          </a:prstGeom>
          <a:solidFill>
            <a:srgbClr val="BCD1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04087" y="5001768"/>
            <a:ext cx="384048" cy="384048"/>
          </a:xfrm>
          <a:prstGeom prst="ellipse">
            <a:avLst/>
          </a:prstGeom>
          <a:solidFill>
            <a:srgbClr val="BCD1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AF9F5"/>
                </a:solidFill>
                <a:latin typeface="Lora"/>
              </a:defRPr>
            </a:pPr>
            <a: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16151" y="4818888"/>
            <a:ext cx="4587087" cy="1444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141413"/>
                </a:solidFill>
                <a:latin typeface="Lora"/>
              </a:defRPr>
            </a:pPr>
            <a:r>
              <a:t>Know when to redirect, escalate, and schedule post-mortems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400" b="1">
                <a:solidFill>
                  <a:srgbClr val="FAF9F5"/>
                </a:solidFill>
                <a:latin typeface="Poppins"/>
              </a:defRPr>
            </a:pPr>
            <a:r>
              <a:t>Scope Boundary — IT vs Business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IT Operations Guide  ·  Internal use only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19" y="1417320"/>
            <a:ext cx="5455767" cy="10195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19" y="1417320"/>
            <a:ext cx="91440" cy="1019556"/>
          </a:xfrm>
          <a:prstGeom prst="round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04087" y="1600200"/>
            <a:ext cx="384048" cy="38404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AF9F5"/>
                </a:solidFill>
                <a:latin typeface="Lora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16151" y="1417320"/>
            <a:ext cx="4587087" cy="10195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141413"/>
                </a:solidFill>
                <a:latin typeface="Lora"/>
              </a:defRPr>
            </a:pPr>
            <a:r>
              <a:t>IT OPERATIONS OWNS: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3007" y="1417320"/>
            <a:ext cx="5455767" cy="10195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33007" y="1417320"/>
            <a:ext cx="91440" cy="1019556"/>
          </a:xfrm>
          <a:prstGeom prst="round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34175" y="1600200"/>
            <a:ext cx="384048" cy="384048"/>
          </a:xfrm>
          <a:prstGeom prst="ellipse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AF9F5"/>
                </a:solidFill>
                <a:latin typeface="Lora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6239" y="1417320"/>
            <a:ext cx="4587087" cy="10195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141413"/>
                </a:solidFill>
                <a:latin typeface="Lora"/>
              </a:defRPr>
            </a:pPr>
            <a:r>
              <a:t>System availability · Incidents &amp; recovery · Deploy / CAB / CR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19" y="2692908"/>
            <a:ext cx="5455767" cy="10195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02919" y="2692908"/>
            <a:ext cx="91440" cy="1019556"/>
          </a:xfrm>
          <a:prstGeom prst="round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04087" y="2875788"/>
            <a:ext cx="384048" cy="384048"/>
          </a:xfrm>
          <a:prstGeom prst="ellipse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AF9F5"/>
                </a:solidFill>
                <a:latin typeface="Lora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1" y="2692908"/>
            <a:ext cx="4587087" cy="10195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141413"/>
                </a:solidFill>
                <a:latin typeface="Lora"/>
              </a:defRPr>
            </a:pPr>
            <a:r>
              <a:t>Access / infra / env · Execute import AFTER business approval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3007" y="2692908"/>
            <a:ext cx="5455767" cy="10195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233007" y="2692908"/>
            <a:ext cx="91440" cy="1019556"/>
          </a:xfrm>
          <a:prstGeom prst="round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34175" y="2875788"/>
            <a:ext cx="384048" cy="384048"/>
          </a:xfrm>
          <a:prstGeom prst="ellipse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AF9F5"/>
                </a:solidFill>
                <a:latin typeface="Lora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6239" y="2692908"/>
            <a:ext cx="4587087" cy="10195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141413"/>
                </a:solidFill>
                <a:latin typeface="Lora"/>
              </a:defRPr>
            </a:pPr>
            <a:r>
              <a:t>BUSINESS OWNS (not IT):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19" y="3968496"/>
            <a:ext cx="5455767" cy="10195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02919" y="3968496"/>
            <a:ext cx="91440" cy="1019556"/>
          </a:xfrm>
          <a:prstGeom prst="roundRect">
            <a:avLst/>
          </a:prstGeom>
          <a:solidFill>
            <a:srgbClr val="BCD1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04087" y="4151376"/>
            <a:ext cx="384048" cy="384048"/>
          </a:xfrm>
          <a:prstGeom prst="ellipse">
            <a:avLst/>
          </a:prstGeom>
          <a:solidFill>
            <a:srgbClr val="BCD1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AF9F5"/>
                </a:solidFill>
                <a:latin typeface="Lora"/>
              </a:defRPr>
            </a:pPr>
            <a: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16151" y="3968496"/>
            <a:ext cx="4587087" cy="10195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141413"/>
                </a:solidFill>
                <a:latin typeface="Lora"/>
              </a:defRPr>
            </a:pPr>
            <a:r>
              <a:t>Case / loan / collection updates · Business rules &amp; decisions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33007" y="3968496"/>
            <a:ext cx="5455767" cy="10195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233007" y="3968496"/>
            <a:ext cx="91440" cy="1019556"/>
          </a:xfrm>
          <a:prstGeom prst="roundRect">
            <a:avLst/>
          </a:prstGeom>
          <a:solidFill>
            <a:srgbClr val="3D3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434175" y="4151376"/>
            <a:ext cx="384048" cy="384048"/>
          </a:xfrm>
          <a:prstGeom prst="ellipse">
            <a:avLst/>
          </a:prstGeom>
          <a:solidFill>
            <a:srgbClr val="3D3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AF9F5"/>
                </a:solidFill>
                <a:latin typeface="Lora"/>
              </a:defRPr>
            </a:pPr>
            <a: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6239" y="3968496"/>
            <a:ext cx="4587087" cy="10195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141413"/>
                </a:solidFill>
                <a:latin typeface="Lora"/>
              </a:defRPr>
            </a:pPr>
            <a:r>
              <a:t>Data content &amp; maker-checker · UAT sign-off · BRD &amp; Sponsor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2919" y="5244084"/>
            <a:ext cx="5455767" cy="10195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502919" y="5244084"/>
            <a:ext cx="91440" cy="1019556"/>
          </a:xfrm>
          <a:prstGeom prst="round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04087" y="5426964"/>
            <a:ext cx="384048" cy="38404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AF9F5"/>
                </a:solidFill>
                <a:latin typeface="Lora"/>
              </a:defRPr>
            </a:pPr>
            <a: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16151" y="5244084"/>
            <a:ext cx="4587087" cy="10195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141413"/>
                </a:solidFill>
                <a:latin typeface="Lora"/>
              </a:defRPr>
            </a:pPr>
            <a:r>
              <a:t>Service Desk script: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33007" y="5244084"/>
            <a:ext cx="5455767" cy="10195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233007" y="5244084"/>
            <a:ext cx="91440" cy="1019556"/>
          </a:xfrm>
          <a:prstGeom prst="round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6434175" y="5426964"/>
            <a:ext cx="384048" cy="384048"/>
          </a:xfrm>
          <a:prstGeom prst="ellipse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AF9F5"/>
                </a:solidFill>
                <a:latin typeface="Lora"/>
              </a:defRPr>
            </a:pPr>
            <a: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46239" y="5244084"/>
            <a:ext cx="4587087" cy="10195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141413"/>
                </a:solidFill>
                <a:latin typeface="Lora"/>
              </a:defRPr>
            </a:pPr>
            <a:r>
              <a:t>"IT fixes systems and access. Business owns case updates and rules.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400" b="1">
                <a:solidFill>
                  <a:srgbClr val="FAF9F5"/>
                </a:solidFill>
                <a:latin typeface="Poppins"/>
              </a:defRPr>
            </a:pPr>
            <a:r>
              <a:t>Daily Ops Rhythm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IT Operations Guide  ·  Internal use only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5E5D59"/>
                </a:solidFill>
                <a:latin typeface="Lora"/>
              </a:defRPr>
            </a:pPr>
            <a:r>
              <a:t>Night 20:00–24:00 · Weekend: BOD/EOD + max 4h day if triggered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661007" y="3108960"/>
            <a:ext cx="1554480" cy="960120"/>
          </a:xfrm>
          <a:prstGeom prst="roundRect">
            <a:avLst/>
          </a:prstGeom>
          <a:solidFill>
            <a:srgbClr val="D97757"/>
          </a:solidFill>
          <a:ln w="19050">
            <a:solidFill>
              <a:srgbClr val="FAF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AF9F5"/>
                </a:solidFill>
                <a:latin typeface="Lora"/>
              </a:defRPr>
            </a:pPr>
            <a:r>
              <a:t>BOD</a:t>
            </a:r>
            <a:br/>
            <a:r>
              <a:t>04-08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233775" y="3442715"/>
            <a:ext cx="256031" cy="292608"/>
          </a:xfrm>
          <a:prstGeom prst="rightArrow">
            <a:avLst/>
          </a:prstGeom>
          <a:solidFill>
            <a:srgbClr val="B0A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489807" y="3108960"/>
            <a:ext cx="1554480" cy="960120"/>
          </a:xfrm>
          <a:prstGeom prst="roundRect">
            <a:avLst/>
          </a:prstGeom>
          <a:solidFill>
            <a:srgbClr val="6A9BCC"/>
          </a:solidFill>
          <a:ln w="19050">
            <a:solidFill>
              <a:srgbClr val="FAF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AF9F5"/>
                </a:solidFill>
                <a:latin typeface="Lora"/>
              </a:defRPr>
            </a:pPr>
            <a:r>
              <a:t>Biz alloc</a:t>
            </a:r>
            <a:br/>
            <a:r>
              <a:t>07:30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062575" y="3442715"/>
            <a:ext cx="256031" cy="292608"/>
          </a:xfrm>
          <a:prstGeom prst="rightArrow">
            <a:avLst/>
          </a:prstGeom>
          <a:solidFill>
            <a:srgbClr val="B0A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318607" y="3108960"/>
            <a:ext cx="1554480" cy="960120"/>
          </a:xfrm>
          <a:prstGeom prst="roundRect">
            <a:avLst/>
          </a:prstGeom>
          <a:solidFill>
            <a:srgbClr val="788C5D"/>
          </a:solidFill>
          <a:ln w="19050">
            <a:solidFill>
              <a:srgbClr val="FAF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AF9F5"/>
                </a:solidFill>
                <a:latin typeface="Lora"/>
              </a:defRPr>
            </a:pPr>
            <a:r>
              <a:t>Day shift</a:t>
            </a:r>
            <a:br/>
            <a:r>
              <a:t>08:30-17:30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6891375" y="3442715"/>
            <a:ext cx="256031" cy="292608"/>
          </a:xfrm>
          <a:prstGeom prst="rightArrow">
            <a:avLst/>
          </a:prstGeom>
          <a:solidFill>
            <a:srgbClr val="B0A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147407" y="3108960"/>
            <a:ext cx="1554480" cy="960120"/>
          </a:xfrm>
          <a:prstGeom prst="roundRect">
            <a:avLst/>
          </a:prstGeom>
          <a:solidFill>
            <a:srgbClr val="C46686"/>
          </a:solidFill>
          <a:ln w="19050">
            <a:solidFill>
              <a:srgbClr val="FAF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AF9F5"/>
                </a:solidFill>
                <a:latin typeface="Lora"/>
              </a:defRPr>
            </a:pPr>
            <a:r>
              <a:t>Monitor</a:t>
            </a:r>
            <a:br/>
            <a:r>
              <a:t>&amp; SR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8720175" y="3442715"/>
            <a:ext cx="256031" cy="292608"/>
          </a:xfrm>
          <a:prstGeom prst="rightArrow">
            <a:avLst/>
          </a:prstGeom>
          <a:solidFill>
            <a:srgbClr val="B0A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976207" y="3108960"/>
            <a:ext cx="1554480" cy="960120"/>
          </a:xfrm>
          <a:prstGeom prst="roundRect">
            <a:avLst/>
          </a:prstGeom>
          <a:solidFill>
            <a:srgbClr val="BCD1CA"/>
          </a:solidFill>
          <a:ln w="19050">
            <a:solidFill>
              <a:srgbClr val="FAF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AF9F5"/>
                </a:solidFill>
                <a:latin typeface="Lora"/>
              </a:defRPr>
            </a:pPr>
            <a:r>
              <a:t>EOD</a:t>
            </a:r>
            <a:br/>
            <a:r>
              <a:t>17:30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400" b="1">
                <a:solidFill>
                  <a:srgbClr val="FAF9F5"/>
                </a:solidFill>
                <a:latin typeface="Poppins"/>
              </a:defRPr>
            </a:pPr>
            <a:r>
              <a:t>Golden Rules for Ops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IT Operations Guide  ·  Internal use only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19" y="1417320"/>
            <a:ext cx="5455767" cy="14447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19" y="1417320"/>
            <a:ext cx="91440" cy="1444752"/>
          </a:xfrm>
          <a:prstGeom prst="round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04087" y="1600200"/>
            <a:ext cx="384048" cy="38404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AF9F5"/>
                </a:solidFill>
                <a:latin typeface="Lora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16151" y="1581912"/>
            <a:ext cx="4587087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141413"/>
                </a:solidFill>
                <a:latin typeface="Lora"/>
              </a:defRPr>
            </a:pPr>
            <a:r>
              <a:t>IT executes; business defines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1" y="2130552"/>
            <a:ext cx="4998567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5E5D59"/>
                </a:solidFill>
                <a:latin typeface="Lora"/>
              </a:defRPr>
            </a:pPr>
            <a:r>
              <a:t>no build without accepted BRD (≥ 80%)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3007" y="1417320"/>
            <a:ext cx="5455767" cy="14447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33007" y="1417320"/>
            <a:ext cx="91440" cy="1444752"/>
          </a:xfrm>
          <a:prstGeom prst="round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34175" y="1600200"/>
            <a:ext cx="384048" cy="384048"/>
          </a:xfrm>
          <a:prstGeom prst="ellipse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AF9F5"/>
                </a:solidFill>
                <a:latin typeface="Lora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6239" y="1417320"/>
            <a:ext cx="4587087" cy="1444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141413"/>
                </a:solidFill>
                <a:latin typeface="Lora"/>
              </a:defRPr>
            </a:pPr>
            <a:r>
              <a:t>Email / chat are NOT intake for projects or rule changes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19" y="3118104"/>
            <a:ext cx="5455767" cy="14447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02919" y="3118104"/>
            <a:ext cx="91440" cy="1444752"/>
          </a:xfrm>
          <a:prstGeom prst="round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04087" y="3300984"/>
            <a:ext cx="384048" cy="384048"/>
          </a:xfrm>
          <a:prstGeom prst="ellipse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AF9F5"/>
                </a:solidFill>
                <a:latin typeface="Lora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16151" y="3282696"/>
            <a:ext cx="4587087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141413"/>
                </a:solidFill>
                <a:latin typeface="Lora"/>
              </a:defRPr>
            </a:pPr>
            <a:r>
              <a:t>Data import is a business act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1" y="3831336"/>
            <a:ext cx="4998567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5E5D59"/>
                </a:solidFill>
                <a:latin typeface="Lora"/>
              </a:defRPr>
            </a:pPr>
            <a:r>
              <a:t>BRD + approved file + maker-checker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33007" y="3118104"/>
            <a:ext cx="5455767" cy="14447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233007" y="3118104"/>
            <a:ext cx="91440" cy="1444752"/>
          </a:xfrm>
          <a:prstGeom prst="round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34175" y="3300984"/>
            <a:ext cx="384048" cy="384048"/>
          </a:xfrm>
          <a:prstGeom prst="ellipse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AF9F5"/>
                </a:solidFill>
                <a:latin typeface="Lora"/>
              </a:defRPr>
            </a:pPr>
            <a: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6239" y="3282696"/>
            <a:ext cx="4587087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141413"/>
                </a:solidFill>
                <a:latin typeface="Lora"/>
              </a:defRPr>
            </a:pPr>
            <a:r>
              <a:t>UAT sign-off is business-owned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89039" y="3831336"/>
            <a:ext cx="4998567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5E5D59"/>
                </a:solidFill>
                <a:latin typeface="Lora"/>
              </a:defRPr>
            </a:pPr>
            <a:r>
              <a:t>IT does not accept for them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19" y="4818888"/>
            <a:ext cx="5455767" cy="14447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02919" y="4818888"/>
            <a:ext cx="91440" cy="1444752"/>
          </a:xfrm>
          <a:prstGeom prst="roundRect">
            <a:avLst/>
          </a:prstGeom>
          <a:solidFill>
            <a:srgbClr val="BCD1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04087" y="5001768"/>
            <a:ext cx="384048" cy="384048"/>
          </a:xfrm>
          <a:prstGeom prst="ellipse">
            <a:avLst/>
          </a:prstGeom>
          <a:solidFill>
            <a:srgbClr val="BCD1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AF9F5"/>
                </a:solidFill>
                <a:latin typeface="Lora"/>
              </a:defRPr>
            </a:pPr>
            <a: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16151" y="4818888"/>
            <a:ext cx="4587087" cy="1444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141413"/>
                </a:solidFill>
                <a:latin typeface="Lora"/>
              </a:defRPr>
            </a:pPr>
            <a:r>
              <a:t>No production data fix without approved business instruction + ticket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33007" y="4818888"/>
            <a:ext cx="5455767" cy="14447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233007" y="4818888"/>
            <a:ext cx="91440" cy="1444752"/>
          </a:xfrm>
          <a:prstGeom prst="roundRect">
            <a:avLst/>
          </a:prstGeom>
          <a:solidFill>
            <a:srgbClr val="3D3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434175" y="5001768"/>
            <a:ext cx="384048" cy="384048"/>
          </a:xfrm>
          <a:prstGeom prst="ellipse">
            <a:avLst/>
          </a:prstGeom>
          <a:solidFill>
            <a:srgbClr val="3D3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AF9F5"/>
                </a:solidFill>
                <a:latin typeface="Lora"/>
              </a:defRPr>
            </a:pPr>
            <a: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46239" y="4983480"/>
            <a:ext cx="4587087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141413"/>
                </a:solidFill>
                <a:latin typeface="Lora"/>
              </a:defRPr>
            </a:pPr>
            <a:r>
              <a:t>Document and redirect wrong-bucket requests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89039" y="5532120"/>
            <a:ext cx="4998567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5E5D59"/>
                </a:solidFill>
                <a:latin typeface="Lora"/>
              </a:defRPr>
            </a:pPr>
            <a:r>
              <a:t>do not silently help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400" b="1">
                <a:solidFill>
                  <a:srgbClr val="FAF9F5"/>
                </a:solidFill>
                <a:latin typeface="Poppins"/>
              </a:defRPr>
            </a:pPr>
            <a:r>
              <a:t>Shift Schedule — Ops &amp; Service Desk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IT Operations Guide  ·  Internal use only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17320"/>
            <a:ext cx="4582844" cy="749808"/>
          </a:xfrm>
          <a:prstGeom prst="round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l">
              <a:defRPr sz="1150" b="1">
                <a:solidFill>
                  <a:srgbClr val="FAF9F5"/>
                </a:solidFill>
                <a:latin typeface="Lora"/>
              </a:defRPr>
            </a:pPr>
            <a:r>
              <a:t>NIGHT SHIFT</a:t>
            </a:r>
          </a:p>
        </p:txBody>
      </p:sp>
      <p:sp>
        <p:nvSpPr>
          <p:cNvPr id="9" name="Right Arrow 8"/>
          <p:cNvSpPr/>
          <p:nvPr/>
        </p:nvSpPr>
        <p:spPr>
          <a:xfrm>
            <a:off x="5277788" y="1673352"/>
            <a:ext cx="365760" cy="237744"/>
          </a:xfrm>
          <a:prstGeom prst="rightArrow">
            <a:avLst/>
          </a:prstGeom>
          <a:solidFill>
            <a:srgbClr val="B0A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725844" y="1417320"/>
            <a:ext cx="5825770" cy="749808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l">
              <a:defRPr sz="1100" b="0">
                <a:solidFill>
                  <a:srgbClr val="141413"/>
                </a:solidFill>
                <a:latin typeface="Lora"/>
              </a:defRPr>
            </a:pPr>
            <a:r>
              <a:t>20:00 – 24:00   Monitor · batch · on-call · handover to BOD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295144"/>
            <a:ext cx="4582844" cy="749808"/>
          </a:xfrm>
          <a:prstGeom prst="round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l">
              <a:defRPr sz="1150" b="1">
                <a:solidFill>
                  <a:srgbClr val="FAF9F5"/>
                </a:solidFill>
                <a:latin typeface="Lora"/>
              </a:defRPr>
            </a:pPr>
            <a:r>
              <a:t>BOD WINDOW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277788" y="2551176"/>
            <a:ext cx="365760" cy="237744"/>
          </a:xfrm>
          <a:prstGeom prst="rightArrow">
            <a:avLst/>
          </a:prstGeom>
          <a:solidFill>
            <a:srgbClr val="B0A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725844" y="2295144"/>
            <a:ext cx="5825770" cy="749808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l">
              <a:defRPr sz="1100" b="0">
                <a:solidFill>
                  <a:srgbClr val="141413"/>
                </a:solidFill>
                <a:latin typeface="Lora"/>
              </a:defRPr>
            </a:pPr>
            <a:r>
              <a:t>04:00 – 08:00   Health · releases · ready-state prep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172968"/>
            <a:ext cx="4582844" cy="749808"/>
          </a:xfrm>
          <a:prstGeom prst="round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l">
              <a:defRPr sz="1150" b="1">
                <a:solidFill>
                  <a:srgbClr val="FAF9F5"/>
                </a:solidFill>
                <a:latin typeface="Lora"/>
              </a:defRPr>
            </a:pPr>
            <a:r>
              <a:t>BUSINESS ALLOC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277788" y="3429000"/>
            <a:ext cx="365760" cy="237744"/>
          </a:xfrm>
          <a:prstGeom prst="rightArrow">
            <a:avLst/>
          </a:prstGeom>
          <a:solidFill>
            <a:srgbClr val="B0A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725844" y="3172968"/>
            <a:ext cx="5825770" cy="749808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l">
              <a:defRPr sz="1100" b="0">
                <a:solidFill>
                  <a:srgbClr val="141413"/>
                </a:solidFill>
                <a:latin typeface="Lora"/>
              </a:defRPr>
            </a:pPr>
            <a:r>
              <a:t>07:30           Business users allocate apps — systems green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050791"/>
            <a:ext cx="4582844" cy="749808"/>
          </a:xfrm>
          <a:prstGeom prst="round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l">
              <a:defRPr sz="1150" b="1">
                <a:solidFill>
                  <a:srgbClr val="FAF9F5"/>
                </a:solidFill>
                <a:latin typeface="Lora"/>
              </a:defRPr>
            </a:pPr>
            <a:r>
              <a:t>DAY SHIFT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5277788" y="4306824"/>
            <a:ext cx="365760" cy="237744"/>
          </a:xfrm>
          <a:prstGeom prst="rightArrow">
            <a:avLst/>
          </a:prstGeom>
          <a:solidFill>
            <a:srgbClr val="B0A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725844" y="4050791"/>
            <a:ext cx="5825770" cy="749808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l">
              <a:defRPr sz="1100" b="0">
                <a:solidFill>
                  <a:srgbClr val="141413"/>
                </a:solidFill>
                <a:latin typeface="Lora"/>
              </a:defRPr>
            </a:pPr>
            <a:r>
              <a:t>08:30 – 17:30   Catalog SR · incidents · delivery control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928616"/>
            <a:ext cx="4582844" cy="749808"/>
          </a:xfrm>
          <a:prstGeom prst="roundRect">
            <a:avLst/>
          </a:prstGeom>
          <a:solidFill>
            <a:srgbClr val="BCD1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l">
              <a:defRPr sz="1150" b="1">
                <a:solidFill>
                  <a:srgbClr val="FAF9F5"/>
                </a:solidFill>
                <a:latin typeface="Lora"/>
              </a:defRPr>
            </a:pPr>
            <a:r>
              <a:t>EOD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5277788" y="5184648"/>
            <a:ext cx="365760" cy="237744"/>
          </a:xfrm>
          <a:prstGeom prst="rightArrow">
            <a:avLst/>
          </a:prstGeom>
          <a:solidFill>
            <a:srgbClr val="B0A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725844" y="4928616"/>
            <a:ext cx="5825770" cy="749808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l">
              <a:defRPr sz="1100" b="0">
                <a:solidFill>
                  <a:srgbClr val="141413"/>
                </a:solidFill>
                <a:latin typeface="Lora"/>
              </a:defRPr>
            </a:pPr>
            <a:r>
              <a:t>17:30           Close day · handover to night (20:00)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400" b="1">
                <a:solidFill>
                  <a:srgbClr val="FAF9F5"/>
                </a:solidFill>
                <a:latin typeface="Poppins"/>
              </a:defRPr>
            </a:pPr>
            <a:r>
              <a:t>Ops Roster — Who Handles What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IT Operations Guide  ·  Internal use only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19" y="1417320"/>
            <a:ext cx="5455767" cy="10195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19" y="1417320"/>
            <a:ext cx="91440" cy="1019556"/>
          </a:xfrm>
          <a:prstGeom prst="round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04087" y="1600200"/>
            <a:ext cx="384048" cy="38404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AF9F5"/>
                </a:solidFill>
                <a:latin typeface="Lora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16151" y="1417320"/>
            <a:ext cx="4587087" cy="10195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141413"/>
                </a:solidFill>
                <a:latin typeface="Lora"/>
              </a:defRPr>
            </a:pPr>
            <a:r>
              <a:t>ROSTER BY WORK TYPE (not by who asks loudest):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3007" y="1417320"/>
            <a:ext cx="5455767" cy="10195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33007" y="1417320"/>
            <a:ext cx="91440" cy="1019556"/>
          </a:xfrm>
          <a:prstGeom prst="round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34175" y="1600200"/>
            <a:ext cx="384048" cy="384048"/>
          </a:xfrm>
          <a:prstGeom prst="ellipse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AF9F5"/>
                </a:solidFill>
                <a:latin typeface="Lora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6239" y="1417320"/>
            <a:ext cx="4587087" cy="10195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141413"/>
                </a:solidFill>
                <a:latin typeface="Lora"/>
              </a:defRPr>
            </a:pPr>
            <a:r>
              <a:t>IT OPS / SERVICE DESK (catalog SR + incidents):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19" y="2692908"/>
            <a:ext cx="5455767" cy="10195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02919" y="2692908"/>
            <a:ext cx="91440" cy="1019556"/>
          </a:xfrm>
          <a:prstGeom prst="round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04087" y="2875788"/>
            <a:ext cx="384048" cy="384048"/>
          </a:xfrm>
          <a:prstGeom prst="ellipse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AF9F5"/>
                </a:solidFill>
                <a:latin typeface="Lora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1" y="2692908"/>
            <a:ext cx="4587087" cy="10195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141413"/>
                </a:solidFill>
                <a:latin typeface="Lora"/>
              </a:defRPr>
            </a:pPr>
            <a:r>
              <a:t>Access · system down/slow · deploy/CR · env · approved import execution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3007" y="2692908"/>
            <a:ext cx="5455767" cy="10195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233007" y="2692908"/>
            <a:ext cx="91440" cy="1019556"/>
          </a:xfrm>
          <a:prstGeom prst="round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34175" y="2875788"/>
            <a:ext cx="384048" cy="384048"/>
          </a:xfrm>
          <a:prstGeom prst="ellipse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AF9F5"/>
                </a:solidFill>
                <a:latin typeface="Lora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6239" y="2692908"/>
            <a:ext cx="4587087" cy="10195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141413"/>
                </a:solidFill>
                <a:latin typeface="Lora"/>
              </a:defRPr>
            </a:pPr>
            <a:r>
              <a:t>BUSINESS OPS (self-service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19" y="3968496"/>
            <a:ext cx="5455767" cy="10195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02919" y="3968496"/>
            <a:ext cx="91440" cy="1019556"/>
          </a:xfrm>
          <a:prstGeom prst="roundRect">
            <a:avLst/>
          </a:prstGeom>
          <a:solidFill>
            <a:srgbClr val="BCD1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04087" y="4151376"/>
            <a:ext cx="384048" cy="384048"/>
          </a:xfrm>
          <a:prstGeom prst="ellipse">
            <a:avLst/>
          </a:prstGeom>
          <a:solidFill>
            <a:srgbClr val="BCD1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AF9F5"/>
                </a:solidFill>
                <a:latin typeface="Lora"/>
              </a:defRPr>
            </a:pPr>
            <a: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16151" y="3968496"/>
            <a:ext cx="4587087" cy="10195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141413"/>
                </a:solidFill>
                <a:latin typeface="Lora"/>
              </a:defRPr>
            </a:pPr>
            <a:r>
              <a:t>Case updates · loan/collection decisions · allocation disputes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33007" y="3968496"/>
            <a:ext cx="5455767" cy="10195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233007" y="3968496"/>
            <a:ext cx="91440" cy="1019556"/>
          </a:xfrm>
          <a:prstGeom prst="roundRect">
            <a:avLst/>
          </a:prstGeom>
          <a:solidFill>
            <a:srgbClr val="3D3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434175" y="4151376"/>
            <a:ext cx="384048" cy="384048"/>
          </a:xfrm>
          <a:prstGeom prst="ellipse">
            <a:avLst/>
          </a:prstGeom>
          <a:solidFill>
            <a:srgbClr val="3D3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AF9F5"/>
                </a:solidFill>
                <a:latin typeface="Lora"/>
              </a:defRPr>
            </a:pPr>
            <a: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6239" y="3968496"/>
            <a:ext cx="4587087" cy="10195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141413"/>
                </a:solidFill>
                <a:latin typeface="Lora"/>
              </a:defRPr>
            </a:pPr>
            <a:r>
              <a:t>Rule changes · bulk data · feature requests · UAT sign-off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2919" y="5244084"/>
            <a:ext cx="5455767" cy="10195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502919" y="5244084"/>
            <a:ext cx="91440" cy="1019556"/>
          </a:xfrm>
          <a:prstGeom prst="round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04087" y="5426964"/>
            <a:ext cx="384048" cy="38404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AF9F5"/>
                </a:solidFill>
                <a:latin typeface="Lora"/>
              </a:defRPr>
            </a:pPr>
            <a: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16151" y="5244084"/>
            <a:ext cx="4587087" cy="10195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141413"/>
                </a:solidFill>
                <a:latin typeface="Lora"/>
              </a:defRPr>
            </a:pPr>
            <a:r>
              <a:t>CASE HANDLING: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33007" y="5244084"/>
            <a:ext cx="5455767" cy="10195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233007" y="5244084"/>
            <a:ext cx="91440" cy="1019556"/>
          </a:xfrm>
          <a:prstGeom prst="round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6434175" y="5426964"/>
            <a:ext cx="384048" cy="384048"/>
          </a:xfrm>
          <a:prstGeom prst="ellipse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AF9F5"/>
                </a:solidFill>
                <a:latin typeface="Lora"/>
              </a:defRPr>
            </a:pPr>
            <a: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46239" y="5244084"/>
            <a:ext cx="4587087" cy="10195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141413"/>
                </a:solidFill>
                <a:latin typeface="Lora"/>
              </a:defRPr>
            </a:pPr>
            <a:r>
              <a:t>IT provides logs &amp; system restore only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400" b="1">
                <a:solidFill>
                  <a:srgbClr val="FAF9F5"/>
                </a:solidFill>
                <a:latin typeface="Poppins"/>
              </a:defRPr>
            </a:pPr>
            <a:r>
              <a:t>Weekend Coverage — Limited Hours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IT Operations Guide  ·  Internal use only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19" y="1417320"/>
            <a:ext cx="5455767" cy="10195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19" y="1417320"/>
            <a:ext cx="91440" cy="1019556"/>
          </a:xfrm>
          <a:prstGeom prst="round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04087" y="1600200"/>
            <a:ext cx="384048" cy="38404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AF9F5"/>
                </a:solidFill>
                <a:latin typeface="Lora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16151" y="1417320"/>
            <a:ext cx="4587087" cy="10195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141413"/>
                </a:solidFill>
                <a:latin typeface="Lora"/>
              </a:defRPr>
            </a:pPr>
            <a:r>
              <a:t>Weekends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3007" y="1417320"/>
            <a:ext cx="5455767" cy="10195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33007" y="1417320"/>
            <a:ext cx="91440" cy="1019556"/>
          </a:xfrm>
          <a:prstGeom prst="round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34175" y="1600200"/>
            <a:ext cx="384048" cy="384048"/>
          </a:xfrm>
          <a:prstGeom prst="ellipse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AF9F5"/>
                </a:solidFill>
                <a:latin typeface="Lora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6239" y="1417320"/>
            <a:ext cx="4587087" cy="10195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141413"/>
                </a:solidFill>
                <a:latin typeface="Lora"/>
              </a:defRPr>
            </a:pPr>
            <a:r>
              <a:t>STANDARD WEEKEND (no trigger):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19" y="2692908"/>
            <a:ext cx="5455767" cy="10195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02919" y="2692908"/>
            <a:ext cx="91440" cy="1019556"/>
          </a:xfrm>
          <a:prstGeom prst="round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04087" y="2875788"/>
            <a:ext cx="384048" cy="384048"/>
          </a:xfrm>
          <a:prstGeom prst="ellipse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AF9F5"/>
                </a:solidFill>
                <a:latin typeface="Lora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1" y="2692908"/>
            <a:ext cx="4587087" cy="10195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141413"/>
                </a:solidFill>
                <a:latin typeface="Lora"/>
              </a:defRPr>
            </a:pPr>
            <a:r>
              <a:t>BOD (04:00–08:00) · on-call monitor only · EOD handover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3007" y="2692908"/>
            <a:ext cx="5455767" cy="10195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233007" y="2692908"/>
            <a:ext cx="91440" cy="1019556"/>
          </a:xfrm>
          <a:prstGeom prst="round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34175" y="2875788"/>
            <a:ext cx="384048" cy="384048"/>
          </a:xfrm>
          <a:prstGeom prst="ellipse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AF9F5"/>
                </a:solidFill>
                <a:latin typeface="Lora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6239" y="2692908"/>
            <a:ext cx="4587087" cy="10195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141413"/>
                </a:solidFill>
                <a:latin typeface="Lora"/>
              </a:defRPr>
            </a:pPr>
            <a:r>
              <a:t>EXTENDED DAY SHIFT (max 4 hours)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19" y="3968496"/>
            <a:ext cx="5455767" cy="10195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02919" y="3968496"/>
            <a:ext cx="91440" cy="1019556"/>
          </a:xfrm>
          <a:prstGeom prst="roundRect">
            <a:avLst/>
          </a:prstGeom>
          <a:solidFill>
            <a:srgbClr val="BCD1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04087" y="4151376"/>
            <a:ext cx="384048" cy="384048"/>
          </a:xfrm>
          <a:prstGeom prst="ellipse">
            <a:avLst/>
          </a:prstGeom>
          <a:solidFill>
            <a:srgbClr val="BCD1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AF9F5"/>
                </a:solidFill>
                <a:latin typeface="Lora"/>
              </a:defRPr>
            </a:pPr>
            <a: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16151" y="3968496"/>
            <a:ext cx="4587087" cy="10195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141413"/>
                </a:solidFill>
                <a:latin typeface="Lora"/>
              </a:defRPr>
            </a:pPr>
            <a:r>
              <a:t>Batch/data feed late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33007" y="3968496"/>
            <a:ext cx="5455767" cy="10195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233007" y="3968496"/>
            <a:ext cx="91440" cy="1019556"/>
          </a:xfrm>
          <a:prstGeom prst="roundRect">
            <a:avLst/>
          </a:prstGeom>
          <a:solidFill>
            <a:srgbClr val="3D3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434175" y="4151376"/>
            <a:ext cx="384048" cy="384048"/>
          </a:xfrm>
          <a:prstGeom prst="ellipse">
            <a:avLst/>
          </a:prstGeom>
          <a:solidFill>
            <a:srgbClr val="3D3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AF9F5"/>
                </a:solidFill>
                <a:latin typeface="Lora"/>
              </a:defRPr>
            </a:pPr>
            <a: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6239" y="3968496"/>
            <a:ext cx="4587087" cy="10195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141413"/>
                </a:solidFill>
                <a:latin typeface="Lora"/>
              </a:defRPr>
            </a:pPr>
            <a:r>
              <a:t>P1/P2 incident affecting allocation or catalog access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2919" y="5244084"/>
            <a:ext cx="5455767" cy="10195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502919" y="5244084"/>
            <a:ext cx="91440" cy="1019556"/>
          </a:xfrm>
          <a:prstGeom prst="round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04087" y="5426964"/>
            <a:ext cx="384048" cy="38404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AF9F5"/>
                </a:solidFill>
                <a:latin typeface="Lora"/>
              </a:defRPr>
            </a:pPr>
            <a: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16151" y="5244084"/>
            <a:ext cx="4587087" cy="10195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141413"/>
                </a:solidFill>
                <a:latin typeface="Lora"/>
              </a:defRPr>
            </a:pPr>
            <a:r>
              <a:t>Critical SR in IT catalog (access/system)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33007" y="5244084"/>
            <a:ext cx="5455767" cy="10195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233007" y="5244084"/>
            <a:ext cx="91440" cy="1019556"/>
          </a:xfrm>
          <a:prstGeom prst="round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6434175" y="5426964"/>
            <a:ext cx="384048" cy="384048"/>
          </a:xfrm>
          <a:prstGeom prst="ellipse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AF9F5"/>
                </a:solidFill>
                <a:latin typeface="Lora"/>
              </a:defRPr>
            </a:pPr>
            <a: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46239" y="5244084"/>
            <a:ext cx="4587087" cy="10195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141413"/>
                </a:solidFill>
                <a:latin typeface="Lora"/>
              </a:defRPr>
            </a:pPr>
            <a:r>
              <a:t>OUT OF SCOPE weekends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400" b="1">
                <a:solidFill>
                  <a:srgbClr val="FAF9F5"/>
                </a:solidFill>
                <a:latin typeface="Poppins"/>
              </a:defRPr>
            </a:pPr>
            <a:r>
              <a:t>IT Catalog SR — Support Only, Not Delivery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IT Operations Guide  ·  Internal use only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19" y="1417320"/>
            <a:ext cx="5455767" cy="10195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19" y="1417320"/>
            <a:ext cx="91440" cy="1019556"/>
          </a:xfrm>
          <a:prstGeom prst="round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04087" y="1600200"/>
            <a:ext cx="384048" cy="38404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AF9F5"/>
                </a:solidFill>
                <a:latin typeface="Lora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16151" y="1417320"/>
            <a:ext cx="4587087" cy="10195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141413"/>
                </a:solidFill>
                <a:latin typeface="Lora"/>
              </a:defRPr>
            </a:pPr>
            <a:r>
              <a:t>IT Service Catalog accepts ONLY operational support: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3007" y="1417320"/>
            <a:ext cx="5455767" cy="10195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33007" y="1417320"/>
            <a:ext cx="91440" cy="1019556"/>
          </a:xfrm>
          <a:prstGeom prst="round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34175" y="1600200"/>
            <a:ext cx="384048" cy="384048"/>
          </a:xfrm>
          <a:prstGeom prst="ellipse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AF9F5"/>
                </a:solidFill>
                <a:latin typeface="Lora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6239" y="1417320"/>
            <a:ext cx="4587087" cy="10195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141413"/>
                </a:solidFill>
                <a:latin typeface="Lora"/>
              </a:defRPr>
            </a:pPr>
            <a:r>
              <a:t>IN CATALOG (IT resolves):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19" y="2692908"/>
            <a:ext cx="5455767" cy="10195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02919" y="2692908"/>
            <a:ext cx="91440" cy="1019556"/>
          </a:xfrm>
          <a:prstGeom prst="round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04087" y="2875788"/>
            <a:ext cx="384048" cy="384048"/>
          </a:xfrm>
          <a:prstGeom prst="ellipse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AF9F5"/>
                </a:solidFill>
                <a:latin typeface="Lora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1" y="2692908"/>
            <a:ext cx="4587087" cy="10195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141413"/>
                </a:solidFill>
                <a:latin typeface="Lora"/>
              </a:defRPr>
            </a:pPr>
            <a:r>
              <a:t>Password / VPN / access · account lock · system error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3007" y="2692908"/>
            <a:ext cx="5455767" cy="10195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233007" y="2692908"/>
            <a:ext cx="91440" cy="1019556"/>
          </a:xfrm>
          <a:prstGeom prst="round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34175" y="2875788"/>
            <a:ext cx="384048" cy="384048"/>
          </a:xfrm>
          <a:prstGeom prst="ellipse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AF9F5"/>
                </a:solidFill>
                <a:latin typeface="Lora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6239" y="2692908"/>
            <a:ext cx="4587087" cy="10195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141413"/>
                </a:solidFill>
                <a:latin typeface="Lora"/>
              </a:defRPr>
            </a:pPr>
            <a:r>
              <a:t>Performance · integration down · approved import run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19" y="3968496"/>
            <a:ext cx="5455767" cy="10195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02919" y="3968496"/>
            <a:ext cx="91440" cy="1019556"/>
          </a:xfrm>
          <a:prstGeom prst="roundRect">
            <a:avLst/>
          </a:prstGeom>
          <a:solidFill>
            <a:srgbClr val="BCD1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04087" y="4151376"/>
            <a:ext cx="384048" cy="384048"/>
          </a:xfrm>
          <a:prstGeom prst="ellipse">
            <a:avLst/>
          </a:prstGeom>
          <a:solidFill>
            <a:srgbClr val="BCD1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AF9F5"/>
                </a:solidFill>
                <a:latin typeface="Lora"/>
              </a:defRPr>
            </a:pPr>
            <a: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16151" y="3968496"/>
            <a:ext cx="4587087" cy="10195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141413"/>
                </a:solidFill>
                <a:latin typeface="Lora"/>
              </a:defRPr>
            </a:pPr>
            <a:r>
              <a:t>NOT IN CATALOG (delegate to business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33007" y="3968496"/>
            <a:ext cx="5455767" cy="10195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233007" y="3968496"/>
            <a:ext cx="91440" cy="1019556"/>
          </a:xfrm>
          <a:prstGeom prst="roundRect">
            <a:avLst/>
          </a:prstGeom>
          <a:solidFill>
            <a:srgbClr val="3D3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434175" y="4151376"/>
            <a:ext cx="384048" cy="384048"/>
          </a:xfrm>
          <a:prstGeom prst="ellipse">
            <a:avLst/>
          </a:prstGeom>
          <a:solidFill>
            <a:srgbClr val="3D3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AF9F5"/>
                </a:solidFill>
                <a:latin typeface="Lora"/>
              </a:defRPr>
            </a:pPr>
            <a: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6239" y="3968496"/>
            <a:ext cx="4587087" cy="10195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141413"/>
                </a:solidFill>
                <a:latin typeface="Lora"/>
              </a:defRPr>
            </a:pPr>
            <a:r>
              <a:t>Update case / status / allocation · change business rules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2919" y="5244084"/>
            <a:ext cx="5455767" cy="10195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502919" y="5244084"/>
            <a:ext cx="91440" cy="1019556"/>
          </a:xfrm>
          <a:prstGeom prst="round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04087" y="5426964"/>
            <a:ext cx="384048" cy="38404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AF9F5"/>
                </a:solidFill>
                <a:latin typeface="Lora"/>
              </a:defRPr>
            </a:pPr>
            <a: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16151" y="5244084"/>
            <a:ext cx="4587087" cy="10195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141413"/>
                </a:solidFill>
                <a:latin typeface="Lora"/>
              </a:defRPr>
            </a:pPr>
            <a:r>
              <a:t>New screen / report / feature · "build this for us"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33007" y="5244084"/>
            <a:ext cx="5455767" cy="10195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233007" y="5244084"/>
            <a:ext cx="91440" cy="1019556"/>
          </a:xfrm>
          <a:prstGeom prst="round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6434175" y="5426964"/>
            <a:ext cx="384048" cy="384048"/>
          </a:xfrm>
          <a:prstGeom prst="ellipse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AF9F5"/>
                </a:solidFill>
                <a:latin typeface="Lora"/>
              </a:defRPr>
            </a:pPr>
            <a: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46239" y="5244084"/>
            <a:ext cx="4587087" cy="10195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141413"/>
                </a:solidFill>
                <a:latin typeface="Lora"/>
              </a:defRPr>
            </a:pPr>
            <a:r>
              <a:t>Explain why loan rejected · fix customer outcome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400" b="1">
                <a:solidFill>
                  <a:srgbClr val="FAF9F5"/>
                </a:solidFill>
                <a:latin typeface="Poppins"/>
              </a:defRPr>
            </a:pPr>
            <a:r>
              <a:t>Delivery Control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IT Operations Guide  ·  Internal use only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5E5D59"/>
                </a:solidFill>
                <a:latin typeface="Lora"/>
              </a:defRPr>
            </a:pPr>
            <a:r>
              <a:t>Ops enforces gates — does not skip UAT or CAB under pressure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199" y="3108960"/>
            <a:ext cx="1375910" cy="960120"/>
          </a:xfrm>
          <a:prstGeom prst="roundRect">
            <a:avLst/>
          </a:prstGeom>
          <a:solidFill>
            <a:srgbClr val="D97757"/>
          </a:solidFill>
          <a:ln w="19050">
            <a:solidFill>
              <a:srgbClr val="FAF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AF9F5"/>
                </a:solidFill>
                <a:latin typeface="Lora"/>
              </a:defRPr>
            </a:pPr>
            <a:r>
              <a:t>Receive</a:t>
            </a:r>
            <a:br/>
            <a:r>
              <a:t>Req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1851398" y="3442715"/>
            <a:ext cx="256031" cy="292608"/>
          </a:xfrm>
          <a:prstGeom prst="rightArrow">
            <a:avLst/>
          </a:prstGeom>
          <a:solidFill>
            <a:srgbClr val="B0A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107430" y="3108960"/>
            <a:ext cx="1375910" cy="960120"/>
          </a:xfrm>
          <a:prstGeom prst="roundRect">
            <a:avLst/>
          </a:prstGeom>
          <a:solidFill>
            <a:srgbClr val="6A9BCC"/>
          </a:solidFill>
          <a:ln w="19050">
            <a:solidFill>
              <a:srgbClr val="FAF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AF9F5"/>
                </a:solidFill>
                <a:latin typeface="Lora"/>
              </a:defRPr>
            </a:pPr>
            <a:r>
              <a:t>BRD</a:t>
            </a:r>
            <a:br/>
            <a:r>
              <a:t>Gate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501629" y="3442715"/>
            <a:ext cx="256031" cy="292608"/>
          </a:xfrm>
          <a:prstGeom prst="rightArrow">
            <a:avLst/>
          </a:prstGeom>
          <a:solidFill>
            <a:srgbClr val="B0A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757661" y="3108960"/>
            <a:ext cx="1375910" cy="960120"/>
          </a:xfrm>
          <a:prstGeom prst="roundRect">
            <a:avLst/>
          </a:prstGeom>
          <a:solidFill>
            <a:srgbClr val="788C5D"/>
          </a:solidFill>
          <a:ln w="19050">
            <a:solidFill>
              <a:srgbClr val="FAF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AF9F5"/>
                </a:solidFill>
                <a:latin typeface="Lora"/>
              </a:defRPr>
            </a:pPr>
            <a:r>
              <a:t>Triage</a:t>
            </a:r>
            <a:br/>
            <a:r>
              <a:t>&amp; FSD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151860" y="3442715"/>
            <a:ext cx="256031" cy="292608"/>
          </a:xfrm>
          <a:prstGeom prst="rightArrow">
            <a:avLst/>
          </a:prstGeom>
          <a:solidFill>
            <a:srgbClr val="B0A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407892" y="3108960"/>
            <a:ext cx="1375910" cy="960120"/>
          </a:xfrm>
          <a:prstGeom prst="roundRect">
            <a:avLst/>
          </a:prstGeom>
          <a:solidFill>
            <a:srgbClr val="C46686"/>
          </a:solidFill>
          <a:ln w="19050">
            <a:solidFill>
              <a:srgbClr val="FAF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AF9F5"/>
                </a:solidFill>
                <a:latin typeface="Lora"/>
              </a:defRPr>
            </a:pPr>
            <a:r>
              <a:t>Build</a:t>
            </a:r>
            <a:br/>
            <a:r>
              <a:t>&amp; SIT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6802090" y="3442715"/>
            <a:ext cx="256031" cy="292608"/>
          </a:xfrm>
          <a:prstGeom prst="rightArrow">
            <a:avLst/>
          </a:prstGeom>
          <a:solidFill>
            <a:srgbClr val="B0A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058122" y="3108960"/>
            <a:ext cx="1375910" cy="960120"/>
          </a:xfrm>
          <a:prstGeom prst="roundRect">
            <a:avLst/>
          </a:prstGeom>
          <a:solidFill>
            <a:srgbClr val="BCD1CA"/>
          </a:solidFill>
          <a:ln w="19050">
            <a:solidFill>
              <a:srgbClr val="FAF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AF9F5"/>
                </a:solidFill>
                <a:latin typeface="Lora"/>
              </a:defRPr>
            </a:pPr>
            <a:r>
              <a:t>UAT</a:t>
            </a:r>
            <a:br/>
            <a:r>
              <a:t>sign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8452321" y="3442715"/>
            <a:ext cx="256031" cy="292608"/>
          </a:xfrm>
          <a:prstGeom prst="rightArrow">
            <a:avLst/>
          </a:prstGeom>
          <a:solidFill>
            <a:srgbClr val="B0A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708353" y="3108960"/>
            <a:ext cx="1375910" cy="960120"/>
          </a:xfrm>
          <a:prstGeom prst="roundRect">
            <a:avLst/>
          </a:prstGeom>
          <a:solidFill>
            <a:srgbClr val="3D3D3A"/>
          </a:solidFill>
          <a:ln w="19050">
            <a:solidFill>
              <a:srgbClr val="FAF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AF9F5"/>
                </a:solidFill>
                <a:latin typeface="Lora"/>
              </a:defRPr>
            </a:pPr>
            <a:r>
              <a:t>CAB</a:t>
            </a:r>
            <a:br/>
            <a:r>
              <a:t>Ship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10102552" y="3442715"/>
            <a:ext cx="256031" cy="292608"/>
          </a:xfrm>
          <a:prstGeom prst="rightArrow">
            <a:avLst/>
          </a:prstGeom>
          <a:solidFill>
            <a:srgbClr val="B0A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0358584" y="3108960"/>
            <a:ext cx="1375910" cy="960120"/>
          </a:xfrm>
          <a:prstGeom prst="roundRect">
            <a:avLst/>
          </a:prstGeom>
          <a:solidFill>
            <a:srgbClr val="D97757"/>
          </a:solidFill>
          <a:ln w="19050">
            <a:solidFill>
              <a:srgbClr val="FAF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AF9F5"/>
                </a:solidFill>
                <a:latin typeface="Lora"/>
              </a:defRPr>
            </a:pPr>
            <a:r>
              <a:t>Hyper-</a:t>
            </a:r>
            <a:br/>
            <a:r>
              <a:t>care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400" b="1">
                <a:solidFill>
                  <a:srgbClr val="FAF9F5"/>
                </a:solidFill>
                <a:latin typeface="Poppins"/>
              </a:defRPr>
            </a:pPr>
            <a:r>
              <a:t>Delivery Control — Your Role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IT Operations Guide  ·  Internal use only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5E5D59"/>
                </a:solidFill>
                <a:latin typeface="Lora"/>
              </a:defRPr>
            </a:pPr>
            <a:r>
              <a:t>Ops Manager controls the PIPELINE, not business decisions: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19" y="1920240"/>
            <a:ext cx="5410047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67511" y="2240280"/>
            <a:ext cx="365760" cy="365760"/>
          </a:xfrm>
          <a:prstGeom prst="round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AF9F5"/>
                </a:solidFill>
                <a:latin typeface="Poppins"/>
              </a:defRPr>
            </a:pPr>
            <a: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79575" y="1920240"/>
            <a:ext cx="4587087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0">
                <a:solidFill>
                  <a:srgbClr val="141413"/>
                </a:solidFill>
                <a:latin typeface="Lora"/>
              </a:defRPr>
            </a:pPr>
            <a:r>
              <a:t>Enforce one front door (ITSM catalog)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78727" y="1920240"/>
            <a:ext cx="5410047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43319" y="2240280"/>
            <a:ext cx="365760" cy="365760"/>
          </a:xfrm>
          <a:prstGeom prst="round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AF9F5"/>
                </a:solidFill>
                <a:latin typeface="Poppins"/>
              </a:defRPr>
            </a:pPr>
            <a: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55383" y="1920240"/>
            <a:ext cx="4587087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0">
                <a:solidFill>
                  <a:srgbClr val="141413"/>
                </a:solidFill>
                <a:latin typeface="Lora"/>
              </a:defRPr>
            </a:pPr>
            <a:r>
              <a:t>Block IT execution on business-bucket work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19" y="3127248"/>
            <a:ext cx="5410047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67511" y="3447288"/>
            <a:ext cx="365760" cy="365760"/>
          </a:xfrm>
          <a:prstGeom prst="round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AF9F5"/>
                </a:solidFill>
                <a:latin typeface="Poppins"/>
              </a:defRPr>
            </a:pPr>
            <a: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79575" y="3127248"/>
            <a:ext cx="4587087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0">
                <a:solidFill>
                  <a:srgbClr val="141413"/>
                </a:solidFill>
                <a:latin typeface="Lora"/>
              </a:defRPr>
            </a:pPr>
            <a:r>
              <a:t>Verify BRD linked before FSD / sprint / deploy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78727" y="3127248"/>
            <a:ext cx="5410047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43319" y="3447288"/>
            <a:ext cx="365760" cy="365760"/>
          </a:xfrm>
          <a:prstGeom prst="round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AF9F5"/>
                </a:solidFill>
                <a:latin typeface="Poppins"/>
              </a:defRPr>
            </a:pPr>
            <a: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55383" y="3127248"/>
            <a:ext cx="4587087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0">
                <a:solidFill>
                  <a:srgbClr val="141413"/>
                </a:solidFill>
                <a:latin typeface="Lora"/>
              </a:defRPr>
            </a:pPr>
            <a:r>
              <a:t>Run release readiness + CAB evidence check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19" y="4334256"/>
            <a:ext cx="5410047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67511" y="4654296"/>
            <a:ext cx="365760" cy="365760"/>
          </a:xfrm>
          <a:prstGeom prst="roundRect">
            <a:avLst/>
          </a:prstGeom>
          <a:solidFill>
            <a:srgbClr val="BCD1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AF9F5"/>
                </a:solidFill>
                <a:latin typeface="Poppins"/>
              </a:defRPr>
            </a:pPr>
            <a: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79575" y="4334256"/>
            <a:ext cx="4587087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0">
                <a:solidFill>
                  <a:srgbClr val="141413"/>
                </a:solidFill>
                <a:latin typeface="Lora"/>
              </a:defRPr>
            </a:pPr>
            <a:r>
              <a:t>Own hypercare (T+1 to T+14) after go-live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78727" y="4334256"/>
            <a:ext cx="5410047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443319" y="4654296"/>
            <a:ext cx="365760" cy="365760"/>
          </a:xfrm>
          <a:prstGeom prst="roundRect">
            <a:avLst/>
          </a:prstGeom>
          <a:solidFill>
            <a:srgbClr val="3D3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AF9F5"/>
                </a:solidFill>
                <a:latin typeface="Poppins"/>
              </a:defRPr>
            </a:pPr>
            <a: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55383" y="4334256"/>
            <a:ext cx="4587087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0">
                <a:solidFill>
                  <a:srgbClr val="141413"/>
                </a:solidFill>
                <a:latin typeface="Lora"/>
              </a:defRPr>
            </a:pPr>
            <a:r>
              <a:t>Sample tickets daily for bucket correctness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400" b="1">
                <a:solidFill>
                  <a:srgbClr val="FAF9F5"/>
                </a:solidFill>
                <a:latin typeface="Poppins"/>
              </a:defRPr>
            </a:pPr>
            <a:r>
              <a:t>Release Readiness — Go / No-Go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IT Operations Guide  ·  Internal use only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5E5D59"/>
                </a:solidFill>
                <a:latin typeface="Lora"/>
              </a:defRPr>
            </a:pPr>
            <a:r>
              <a:t>Before ANY production deploy, verify: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19" y="1920240"/>
            <a:ext cx="5410047" cy="93497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67511" y="2204847"/>
            <a:ext cx="365760" cy="365760"/>
          </a:xfrm>
          <a:prstGeom prst="round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AF9F5"/>
                </a:solidFill>
                <a:latin typeface="Poppins"/>
              </a:defRPr>
            </a:pPr>
            <a: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79575" y="1920240"/>
            <a:ext cx="4587087" cy="93497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0">
                <a:solidFill>
                  <a:srgbClr val="141413"/>
                </a:solidFill>
                <a:latin typeface="Lora"/>
              </a:defRPr>
            </a:pPr>
            <a:r>
              <a:t>BRD accepted (score ≥ 80%) and linked to CR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78727" y="1920240"/>
            <a:ext cx="5410047" cy="93497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43319" y="2204847"/>
            <a:ext cx="365760" cy="365760"/>
          </a:xfrm>
          <a:prstGeom prst="round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AF9F5"/>
                </a:solidFill>
                <a:latin typeface="Poppins"/>
              </a:defRPr>
            </a:pPr>
            <a: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55383" y="1920240"/>
            <a:ext cx="4587087" cy="93497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0">
                <a:solidFill>
                  <a:srgbClr val="141413"/>
                </a:solidFill>
                <a:latin typeface="Lora"/>
              </a:defRPr>
            </a:pPr>
            <a:r>
              <a:t>FSD complete; in-scope stories closed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19" y="3056382"/>
            <a:ext cx="5410047" cy="93497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67511" y="3340989"/>
            <a:ext cx="365760" cy="365760"/>
          </a:xfrm>
          <a:prstGeom prst="round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AF9F5"/>
                </a:solidFill>
                <a:latin typeface="Poppins"/>
              </a:defRPr>
            </a:pPr>
            <a: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79575" y="3056382"/>
            <a:ext cx="4587087" cy="93497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0">
                <a:solidFill>
                  <a:srgbClr val="141413"/>
                </a:solidFill>
                <a:latin typeface="Lora"/>
              </a:defRPr>
            </a:pPr>
            <a:r>
              <a:t>SIT exit criteria met — test summary attached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78727" y="3056382"/>
            <a:ext cx="5410047" cy="93497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43319" y="3340989"/>
            <a:ext cx="365760" cy="365760"/>
          </a:xfrm>
          <a:prstGeom prst="round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AF9F5"/>
                </a:solidFill>
                <a:latin typeface="Poppins"/>
              </a:defRPr>
            </a:pPr>
            <a: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55383" y="3056382"/>
            <a:ext cx="4587087" cy="93497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0">
                <a:solidFill>
                  <a:srgbClr val="141413"/>
                </a:solidFill>
                <a:latin typeface="Lora"/>
              </a:defRPr>
            </a:pPr>
            <a:r>
              <a:t>UAT signed by Business Sponsor (not IT)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19" y="4192524"/>
            <a:ext cx="5410047" cy="93497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67511" y="4477131"/>
            <a:ext cx="365760" cy="365760"/>
          </a:xfrm>
          <a:prstGeom prst="roundRect">
            <a:avLst/>
          </a:prstGeom>
          <a:solidFill>
            <a:srgbClr val="BCD1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AF9F5"/>
                </a:solidFill>
                <a:latin typeface="Poppins"/>
              </a:defRPr>
            </a:pPr>
            <a: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79575" y="4192524"/>
            <a:ext cx="4587087" cy="93497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0">
                <a:solidFill>
                  <a:srgbClr val="141413"/>
                </a:solidFill>
                <a:latin typeface="Lora"/>
              </a:defRPr>
            </a:pPr>
            <a:r>
              <a:t>CAB approved (IT-Governance)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78727" y="4192524"/>
            <a:ext cx="5410047" cy="93497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443319" y="4477131"/>
            <a:ext cx="365760" cy="365760"/>
          </a:xfrm>
          <a:prstGeom prst="roundRect">
            <a:avLst/>
          </a:prstGeom>
          <a:solidFill>
            <a:srgbClr val="3D3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AF9F5"/>
                </a:solidFill>
                <a:latin typeface="Poppins"/>
              </a:defRPr>
            </a:pPr>
            <a: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55383" y="4192524"/>
            <a:ext cx="4587087" cy="93497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0">
                <a:solidFill>
                  <a:srgbClr val="141413"/>
                </a:solidFill>
                <a:latin typeface="Lora"/>
              </a:defRPr>
            </a:pPr>
            <a:r>
              <a:t>IT-Security sign-off (if flagged)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19" y="5328666"/>
            <a:ext cx="5410047" cy="93497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67511" y="5613273"/>
            <a:ext cx="365760" cy="365760"/>
          </a:xfrm>
          <a:prstGeom prst="round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AF9F5"/>
                </a:solidFill>
                <a:latin typeface="Poppins"/>
              </a:defRPr>
            </a:pPr>
            <a: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79575" y="5328666"/>
            <a:ext cx="4587087" cy="93497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0">
                <a:solidFill>
                  <a:srgbClr val="141413"/>
                </a:solidFill>
                <a:latin typeface="Lora"/>
              </a:defRPr>
            </a:pPr>
            <a:r>
              <a:t>Rollback plan tested · Comms &amp; training done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78727" y="5328666"/>
            <a:ext cx="5410047" cy="93497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443319" y="5613273"/>
            <a:ext cx="365760" cy="365760"/>
          </a:xfrm>
          <a:prstGeom prst="round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AF9F5"/>
                </a:solidFill>
                <a:latin typeface="Poppins"/>
              </a:defRPr>
            </a:pPr>
            <a: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55383" y="5328666"/>
            <a:ext cx="4587087" cy="93497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0">
                <a:solidFill>
                  <a:srgbClr val="141413"/>
                </a:solidFill>
                <a:latin typeface="Lora"/>
              </a:defRPr>
            </a:pPr>
            <a:r>
              <a:t>Hypercare roster assigned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400" b="1">
                <a:solidFill>
                  <a:srgbClr val="FAF9F5"/>
                </a:solidFill>
                <a:latin typeface="Poppins"/>
              </a:defRPr>
            </a:pPr>
            <a:r>
              <a:t>Hard Gates — Non-Negotiable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IT Operations Guide  ·  Internal use only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19" y="1417320"/>
            <a:ext cx="5455767" cy="14447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19" y="1417320"/>
            <a:ext cx="91440" cy="1444752"/>
          </a:xfrm>
          <a:prstGeom prst="round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04087" y="1600200"/>
            <a:ext cx="384048" cy="38404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AF9F5"/>
                </a:solidFill>
                <a:latin typeface="Lora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16151" y="1417320"/>
            <a:ext cx="4587087" cy="1444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141413"/>
                </a:solidFill>
                <a:latin typeface="Lora"/>
              </a:defRPr>
            </a:pPr>
            <a:r>
              <a:t>No FSD / sprint without accepted BRD (≥ 80%)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3007" y="1417320"/>
            <a:ext cx="5455767" cy="14447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33007" y="1417320"/>
            <a:ext cx="91440" cy="1444752"/>
          </a:xfrm>
          <a:prstGeom prst="round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34175" y="1600200"/>
            <a:ext cx="384048" cy="384048"/>
          </a:xfrm>
          <a:prstGeom prst="ellipse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AF9F5"/>
                </a:solidFill>
                <a:latin typeface="Lora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6239" y="1417320"/>
            <a:ext cx="4587087" cy="1444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141413"/>
                </a:solidFill>
                <a:latin typeface="Lora"/>
              </a:defRPr>
            </a:pPr>
            <a:r>
              <a:t>No production deploy without UAT + CAB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19" y="3118104"/>
            <a:ext cx="5455767" cy="14447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02919" y="3118104"/>
            <a:ext cx="91440" cy="1444752"/>
          </a:xfrm>
          <a:prstGeom prst="round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04087" y="3300984"/>
            <a:ext cx="384048" cy="384048"/>
          </a:xfrm>
          <a:prstGeom prst="ellipse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AF9F5"/>
                </a:solidFill>
                <a:latin typeface="Lora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1" y="3118104"/>
            <a:ext cx="4587087" cy="1444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141413"/>
                </a:solidFill>
                <a:latin typeface="Lora"/>
              </a:defRPr>
            </a:pPr>
            <a:r>
              <a:t>No security bypass without IT-Security exception register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3007" y="3118104"/>
            <a:ext cx="5455767" cy="14447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233007" y="3118104"/>
            <a:ext cx="91440" cy="1444752"/>
          </a:xfrm>
          <a:prstGeom prst="round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34175" y="3300984"/>
            <a:ext cx="384048" cy="384048"/>
          </a:xfrm>
          <a:prstGeom prst="ellipse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AF9F5"/>
                </a:solidFill>
                <a:latin typeface="Lora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6239" y="3118104"/>
            <a:ext cx="4587087" cy="1444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141413"/>
                </a:solidFill>
                <a:latin typeface="Lora"/>
              </a:defRPr>
            </a:pPr>
            <a:r>
              <a:t>Emergency change → retro-BRD within 2 business days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19" y="4818888"/>
            <a:ext cx="5455767" cy="14447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02919" y="4818888"/>
            <a:ext cx="91440" cy="1444752"/>
          </a:xfrm>
          <a:prstGeom prst="roundRect">
            <a:avLst/>
          </a:prstGeom>
          <a:solidFill>
            <a:srgbClr val="BCD1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04087" y="5001768"/>
            <a:ext cx="384048" cy="384048"/>
          </a:xfrm>
          <a:prstGeom prst="ellipse">
            <a:avLst/>
          </a:prstGeom>
          <a:solidFill>
            <a:srgbClr val="BCD1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AF9F5"/>
                </a:solidFill>
                <a:latin typeface="Lora"/>
              </a:defRPr>
            </a:pPr>
            <a: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16151" y="4818888"/>
            <a:ext cx="4587087" cy="1444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141413"/>
                </a:solidFill>
                <a:latin typeface="Lora"/>
              </a:defRPr>
            </a:pPr>
            <a:r>
              <a:t>Deployments without linked BRD = 0 (monthly KPI)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33007" y="4818888"/>
            <a:ext cx="5455767" cy="14447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233007" y="4818888"/>
            <a:ext cx="91440" cy="1444752"/>
          </a:xfrm>
          <a:prstGeom prst="roundRect">
            <a:avLst/>
          </a:prstGeom>
          <a:solidFill>
            <a:srgbClr val="3D3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434175" y="5001768"/>
            <a:ext cx="384048" cy="384048"/>
          </a:xfrm>
          <a:prstGeom prst="ellipse">
            <a:avLst/>
          </a:prstGeom>
          <a:solidFill>
            <a:srgbClr val="3D3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AF9F5"/>
                </a:solidFill>
                <a:latin typeface="Lora"/>
              </a:defRPr>
            </a:pPr>
            <a: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6239" y="4818888"/>
            <a:ext cx="4587087" cy="1444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141413"/>
                </a:solidFill>
                <a:latin typeface="Lora"/>
              </a:defRPr>
            </a:pPr>
            <a:r>
              <a:t>Business data fixes by IT without approval = 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400" b="1">
                <a:solidFill>
                  <a:srgbClr val="FAF9F5"/>
                </a:solidFill>
                <a:latin typeface="Poppins"/>
              </a:defRPr>
            </a:pPr>
            <a:r>
              <a:t>Bucket Allocation Matrix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IT Operations Guide  ·  Internal use only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17320"/>
            <a:ext cx="4582844" cy="493775"/>
          </a:xfrm>
          <a:prstGeom prst="round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l">
              <a:defRPr sz="1150" b="1">
                <a:solidFill>
                  <a:srgbClr val="FAF9F5"/>
                </a:solidFill>
                <a:latin typeface="Lora"/>
              </a:defRPr>
            </a:pPr>
            <a:r>
              <a:t>PASSWORD / VPN / ACCESS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5277788" y="1545336"/>
            <a:ext cx="365760" cy="237744"/>
          </a:xfrm>
          <a:prstGeom prst="rightArrow">
            <a:avLst/>
          </a:prstGeom>
          <a:solidFill>
            <a:srgbClr val="B0A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725844" y="1417320"/>
            <a:ext cx="5825770" cy="493775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l">
              <a:defRPr sz="1100" b="0">
                <a:solidFill>
                  <a:srgbClr val="141413"/>
                </a:solidFill>
                <a:latin typeface="Lora"/>
              </a:defRPr>
            </a:pPr>
            <a:r>
              <a:t>IT bucket · Service Desk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039112"/>
            <a:ext cx="4582844" cy="493775"/>
          </a:xfrm>
          <a:prstGeom prst="round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l">
              <a:defRPr sz="1150" b="1">
                <a:solidFill>
                  <a:srgbClr val="FAF9F5"/>
                </a:solidFill>
                <a:latin typeface="Lora"/>
              </a:defRPr>
            </a:pPr>
            <a:r>
              <a:t>SYSTEM DOWN / ERROR / SLOW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277788" y="2167128"/>
            <a:ext cx="365760" cy="237744"/>
          </a:xfrm>
          <a:prstGeom prst="rightArrow">
            <a:avLst/>
          </a:prstGeom>
          <a:solidFill>
            <a:srgbClr val="B0A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725844" y="2039112"/>
            <a:ext cx="5825770" cy="493775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l">
              <a:defRPr sz="1100" b="0">
                <a:solidFill>
                  <a:srgbClr val="141413"/>
                </a:solidFill>
                <a:latin typeface="Lora"/>
              </a:defRPr>
            </a:pPr>
            <a:r>
              <a:t>IT bucket · Incident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660904"/>
            <a:ext cx="4582844" cy="493775"/>
          </a:xfrm>
          <a:prstGeom prst="round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l">
              <a:defRPr sz="1150" b="1">
                <a:solidFill>
                  <a:srgbClr val="FAF9F5"/>
                </a:solidFill>
                <a:latin typeface="Lora"/>
              </a:defRPr>
            </a:pPr>
            <a:r>
              <a:t>CHANGE APPROVAL RULE / ADD FIELD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277788" y="2788920"/>
            <a:ext cx="365760" cy="237744"/>
          </a:xfrm>
          <a:prstGeom prst="rightArrow">
            <a:avLst/>
          </a:prstGeom>
          <a:solidFill>
            <a:srgbClr val="B0A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725844" y="2660904"/>
            <a:ext cx="5825770" cy="493775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l">
              <a:defRPr sz="1100" b="0">
                <a:solidFill>
                  <a:srgbClr val="141413"/>
                </a:solidFill>
                <a:latin typeface="Lora"/>
              </a:defRPr>
            </a:pPr>
            <a:r>
              <a:t>Business bucket · BRD intake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282696"/>
            <a:ext cx="4582844" cy="493775"/>
          </a:xfrm>
          <a:prstGeom prst="round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l">
              <a:defRPr sz="1150" b="1">
                <a:solidFill>
                  <a:srgbClr val="FAF9F5"/>
                </a:solidFill>
                <a:latin typeface="Lora"/>
              </a:defRPr>
            </a:pPr>
            <a:r>
              <a:t>UPDATE 500 CASE STATUSES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5277788" y="3410712"/>
            <a:ext cx="365760" cy="237744"/>
          </a:xfrm>
          <a:prstGeom prst="rightArrow">
            <a:avLst/>
          </a:prstGeom>
          <a:solidFill>
            <a:srgbClr val="B0A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725844" y="3282696"/>
            <a:ext cx="5825770" cy="493775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l">
              <a:defRPr sz="1100" b="0">
                <a:solidFill>
                  <a:srgbClr val="141413"/>
                </a:solidFill>
                <a:latin typeface="Lora"/>
              </a:defRPr>
            </a:pPr>
            <a:r>
              <a:t>Business bucket · import approval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904487"/>
            <a:ext cx="4582844" cy="493775"/>
          </a:xfrm>
          <a:prstGeom prst="roundRect">
            <a:avLst/>
          </a:prstGeom>
          <a:solidFill>
            <a:srgbClr val="BCD1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l">
              <a:defRPr sz="1150" b="1">
                <a:solidFill>
                  <a:srgbClr val="FAF9F5"/>
                </a:solidFill>
                <a:latin typeface="Lora"/>
              </a:defRPr>
            </a:pPr>
            <a:r>
              <a:t>BUILD FEATURE / INTEGRATION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5277788" y="4032503"/>
            <a:ext cx="365760" cy="237744"/>
          </a:xfrm>
          <a:prstGeom prst="rightArrow">
            <a:avLst/>
          </a:prstGeom>
          <a:solidFill>
            <a:srgbClr val="B0A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725844" y="3904487"/>
            <a:ext cx="5825770" cy="493775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l">
              <a:defRPr sz="1100" b="0">
                <a:solidFill>
                  <a:srgbClr val="141413"/>
                </a:solidFill>
                <a:latin typeface="Lora"/>
              </a:defRPr>
            </a:pPr>
            <a:r>
              <a:t>Business bucket · BRD → triage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4526279"/>
            <a:ext cx="4582844" cy="493775"/>
          </a:xfrm>
          <a:prstGeom prst="roundRect">
            <a:avLst/>
          </a:prstGeom>
          <a:solidFill>
            <a:srgbClr val="3D3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l">
              <a:defRPr sz="1150" b="1">
                <a:solidFill>
                  <a:srgbClr val="FAF9F5"/>
                </a:solidFill>
                <a:latin typeface="Lora"/>
              </a:defRPr>
            </a:pPr>
            <a:r>
              <a:t>DEPLOY RELEASE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5277788" y="4654295"/>
            <a:ext cx="365760" cy="237744"/>
          </a:xfrm>
          <a:prstGeom prst="rightArrow">
            <a:avLst/>
          </a:prstGeom>
          <a:solidFill>
            <a:srgbClr val="B0A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725844" y="4526279"/>
            <a:ext cx="5825770" cy="493775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l">
              <a:defRPr sz="1100" b="0">
                <a:solidFill>
                  <a:srgbClr val="141413"/>
                </a:solidFill>
                <a:latin typeface="Lora"/>
              </a:defRPr>
            </a:pPr>
            <a:r>
              <a:t>IT bucket · CR after UAT + CAB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148072"/>
            <a:ext cx="4582844" cy="493775"/>
          </a:xfrm>
          <a:prstGeom prst="round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l">
              <a:defRPr sz="1150" b="1">
                <a:solidFill>
                  <a:srgbClr val="FAF9F5"/>
                </a:solidFill>
                <a:latin typeface="Lora"/>
              </a:defRPr>
            </a:pPr>
            <a:r>
              <a:t>IMPORT PARTNER FILE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5277788" y="5276088"/>
            <a:ext cx="365760" cy="237744"/>
          </a:xfrm>
          <a:prstGeom prst="rightArrow">
            <a:avLst/>
          </a:prstGeom>
          <a:solidFill>
            <a:srgbClr val="B0A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725844" y="5148072"/>
            <a:ext cx="5825770" cy="493775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l">
              <a:defRPr sz="1100" b="0">
                <a:solidFill>
                  <a:srgbClr val="141413"/>
                </a:solidFill>
                <a:latin typeface="Lora"/>
              </a:defRPr>
            </a:pPr>
            <a:r>
              <a:t>Business approval → IT executes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5769864"/>
            <a:ext cx="4582844" cy="493775"/>
          </a:xfrm>
          <a:prstGeom prst="round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l">
              <a:defRPr sz="1150" b="1">
                <a:solidFill>
                  <a:srgbClr val="FAF9F5"/>
                </a:solidFill>
                <a:latin typeface="Lora"/>
              </a:defRPr>
            </a:pPr>
            <a:r>
              <a:t>WHY WAS LOAN REJECTED?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5277788" y="5897879"/>
            <a:ext cx="365760" cy="237744"/>
          </a:xfrm>
          <a:prstGeom prst="rightArrow">
            <a:avLst/>
          </a:prstGeom>
          <a:solidFill>
            <a:srgbClr val="B0A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725844" y="5769864"/>
            <a:ext cx="5825770" cy="493775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l">
              <a:defRPr sz="1100" b="0">
                <a:solidFill>
                  <a:srgbClr val="141413"/>
                </a:solidFill>
                <a:latin typeface="Lora"/>
              </a:defRPr>
            </a:pPr>
            <a:r>
              <a:t>Business ops — IT provides logs only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400" b="1">
                <a:solidFill>
                  <a:srgbClr val="FAF9F5"/>
                </a:solidFill>
                <a:latin typeface="Poppins"/>
              </a:defRPr>
            </a:pPr>
            <a:r>
              <a:t>Support Ticket Handling 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IT Operations Guide  ·  Internal use only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5E5D59"/>
                </a:solidFill>
                <a:latin typeface="Lora"/>
              </a:defRPr>
            </a:pPr>
            <a:r>
              <a:t>Catalog = support only · case/rule/feature → delegate to business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661007" y="3108960"/>
            <a:ext cx="1554480" cy="960120"/>
          </a:xfrm>
          <a:prstGeom prst="roundRect">
            <a:avLst/>
          </a:prstGeom>
          <a:solidFill>
            <a:srgbClr val="D97757"/>
          </a:solidFill>
          <a:ln w="19050">
            <a:solidFill>
              <a:srgbClr val="FAF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AF9F5"/>
                </a:solidFill>
                <a:latin typeface="Lora"/>
              </a:defRPr>
            </a:pPr>
            <a:r>
              <a:t>Catalog</a:t>
            </a:r>
            <a:br/>
            <a:r>
              <a:t>ITSM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233775" y="3442715"/>
            <a:ext cx="256031" cy="292608"/>
          </a:xfrm>
          <a:prstGeom prst="rightArrow">
            <a:avLst/>
          </a:prstGeom>
          <a:solidFill>
            <a:srgbClr val="B0A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489807" y="3108960"/>
            <a:ext cx="1554480" cy="960120"/>
          </a:xfrm>
          <a:prstGeom prst="roundRect">
            <a:avLst/>
          </a:prstGeom>
          <a:solidFill>
            <a:srgbClr val="6A9BCC"/>
          </a:solidFill>
          <a:ln w="19050">
            <a:solidFill>
              <a:srgbClr val="FAF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AF9F5"/>
                </a:solidFill>
                <a:latin typeface="Lora"/>
              </a:defRPr>
            </a:pPr>
            <a:r>
              <a:t>IT or</a:t>
            </a:r>
            <a:br/>
            <a:r>
              <a:t>Business?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062575" y="3442715"/>
            <a:ext cx="256031" cy="292608"/>
          </a:xfrm>
          <a:prstGeom prst="rightArrow">
            <a:avLst/>
          </a:prstGeom>
          <a:solidFill>
            <a:srgbClr val="B0A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318607" y="3108960"/>
            <a:ext cx="1554480" cy="960120"/>
          </a:xfrm>
          <a:prstGeom prst="roundRect">
            <a:avLst/>
          </a:prstGeom>
          <a:solidFill>
            <a:srgbClr val="788C5D"/>
          </a:solidFill>
          <a:ln w="19050">
            <a:solidFill>
              <a:srgbClr val="FAF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AF9F5"/>
                </a:solidFill>
                <a:latin typeface="Lora"/>
              </a:defRPr>
            </a:pPr>
            <a:r>
              <a:t>IT SR</a:t>
            </a:r>
            <a:br/>
            <a:r>
              <a:t>resolve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6891375" y="3442715"/>
            <a:ext cx="256031" cy="292608"/>
          </a:xfrm>
          <a:prstGeom prst="rightArrow">
            <a:avLst/>
          </a:prstGeom>
          <a:solidFill>
            <a:srgbClr val="B0A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147407" y="3108960"/>
            <a:ext cx="1554480" cy="960120"/>
          </a:xfrm>
          <a:prstGeom prst="roundRect">
            <a:avLst/>
          </a:prstGeom>
          <a:solidFill>
            <a:srgbClr val="C46686"/>
          </a:solidFill>
          <a:ln w="19050">
            <a:solidFill>
              <a:srgbClr val="FAF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AF9F5"/>
                </a:solidFill>
                <a:latin typeface="Lora"/>
              </a:defRPr>
            </a:pPr>
            <a:r>
              <a:t>Business</a:t>
            </a:r>
            <a:br/>
            <a:r>
              <a:t>self-svc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8720175" y="3442715"/>
            <a:ext cx="256031" cy="292608"/>
          </a:xfrm>
          <a:prstGeom prst="rightArrow">
            <a:avLst/>
          </a:prstGeom>
          <a:solidFill>
            <a:srgbClr val="B0A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976207" y="3108960"/>
            <a:ext cx="1554480" cy="960120"/>
          </a:xfrm>
          <a:prstGeom prst="roundRect">
            <a:avLst/>
          </a:prstGeom>
          <a:solidFill>
            <a:srgbClr val="BCD1CA"/>
          </a:solidFill>
          <a:ln w="19050">
            <a:solidFill>
              <a:srgbClr val="FAF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AF9F5"/>
                </a:solidFill>
                <a:latin typeface="Lora"/>
              </a:defRPr>
            </a:pPr>
            <a:r>
              <a:t>Close /</a:t>
            </a:r>
            <a:br/>
            <a:r>
              <a:t>redirect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400" b="1">
                <a:solidFill>
                  <a:srgbClr val="FAF9F5"/>
                </a:solidFill>
                <a:latin typeface="Poppins"/>
              </a:defRPr>
            </a:pPr>
            <a:r>
              <a:t>Flowchart — Ticket Triage Decision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IT Operations Guide  ·  Internal use only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5E5D59"/>
                </a:solidFill>
                <a:latin typeface="Lora"/>
              </a:defRPr>
            </a:pPr>
            <a:r>
              <a:t>Stop at the first Yes — IT executes systems only, never business work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1828800"/>
            <a:ext cx="4206240" cy="731520"/>
          </a:xfrm>
          <a:prstGeom prst="roundRect">
            <a:avLst/>
          </a:prstGeom>
          <a:solidFill>
            <a:srgbClr val="788C5D"/>
          </a:solidFill>
          <a:ln w="19050">
            <a:solidFill>
              <a:srgbClr val="FAF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AF9F5"/>
                </a:solidFill>
                <a:latin typeface="Lora"/>
              </a:defRPr>
            </a:pPr>
            <a:r>
              <a:t>Request arrives (ITSM catalog)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017520" y="2560320"/>
            <a:ext cx="0" cy="164592"/>
          </a:xfrm>
          <a:prstGeom prst="line">
            <a:avLst/>
          </a:prstGeom>
          <a:ln w="19050">
            <a:solidFill>
              <a:srgbClr val="B0AE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Diamond 10"/>
          <p:cNvSpPr/>
          <p:nvPr/>
        </p:nvSpPr>
        <p:spPr>
          <a:xfrm>
            <a:off x="914400" y="2724912"/>
            <a:ext cx="4206240" cy="731520"/>
          </a:xfrm>
          <a:prstGeom prst="diamond">
            <a:avLst/>
          </a:prstGeom>
          <a:solidFill>
            <a:srgbClr val="D97757"/>
          </a:solidFill>
          <a:ln w="19050">
            <a:solidFill>
              <a:srgbClr val="FAF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AF9F5"/>
                </a:solidFill>
                <a:latin typeface="Lora"/>
              </a:defRPr>
            </a:pPr>
            <a:r>
              <a:t>System broken / slow / access blocked?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017520" y="3456432"/>
            <a:ext cx="0" cy="164592"/>
          </a:xfrm>
          <a:prstGeom prst="line">
            <a:avLst/>
          </a:prstGeom>
          <a:ln w="19050">
            <a:solidFill>
              <a:srgbClr val="B0AE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035040" y="2816352"/>
            <a:ext cx="5486400" cy="548640"/>
          </a:xfrm>
          <a:prstGeom prst="roundRect">
            <a:avLst/>
          </a:prstGeom>
          <a:solidFill>
            <a:srgbClr val="6A9BCC"/>
          </a:solidFill>
          <a:ln w="19050">
            <a:solidFill>
              <a:srgbClr val="FAF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FAF9F5"/>
                </a:solidFill>
                <a:latin typeface="Lora"/>
              </a:defRPr>
            </a:pPr>
            <a:r>
              <a:t>IT bucket → Incident or Service Desk (resolve per SLA)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120640" y="3090672"/>
            <a:ext cx="914400" cy="0"/>
          </a:xfrm>
          <a:prstGeom prst="line">
            <a:avLst/>
          </a:prstGeom>
          <a:ln w="19050">
            <a:solidFill>
              <a:srgbClr val="B0AE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166359" y="2779776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788C5D"/>
                </a:solidFill>
                <a:latin typeface="Lora"/>
              </a:defRPr>
            </a:pPr>
            <a:r>
              <a:t>Yes</a:t>
            </a:r>
          </a:p>
        </p:txBody>
      </p:sp>
      <p:sp>
        <p:nvSpPr>
          <p:cNvPr id="16" name="Diamond 15"/>
          <p:cNvSpPr/>
          <p:nvPr/>
        </p:nvSpPr>
        <p:spPr>
          <a:xfrm>
            <a:off x="914400" y="3621024"/>
            <a:ext cx="4206240" cy="731520"/>
          </a:xfrm>
          <a:prstGeom prst="diamond">
            <a:avLst/>
          </a:prstGeom>
          <a:solidFill>
            <a:srgbClr val="D97757"/>
          </a:solidFill>
          <a:ln w="19050">
            <a:solidFill>
              <a:srgbClr val="FAF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AF9F5"/>
                </a:solidFill>
                <a:latin typeface="Lora"/>
              </a:defRPr>
            </a:pPr>
            <a:r>
              <a:t>Change rule / case / allocation / import?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017520" y="4352544"/>
            <a:ext cx="0" cy="164592"/>
          </a:xfrm>
          <a:prstGeom prst="line">
            <a:avLst/>
          </a:prstGeom>
          <a:ln w="19050">
            <a:solidFill>
              <a:srgbClr val="B0AE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035040" y="3712463"/>
            <a:ext cx="5486400" cy="548640"/>
          </a:xfrm>
          <a:prstGeom prst="roundRect">
            <a:avLst/>
          </a:prstGeom>
          <a:solidFill>
            <a:srgbClr val="6A9BCC"/>
          </a:solidFill>
          <a:ln w="19050">
            <a:solidFill>
              <a:srgbClr val="FAF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FAF9F5"/>
                </a:solidFill>
                <a:latin typeface="Lora"/>
              </a:defRPr>
            </a:pPr>
            <a:r>
              <a:t>Business bucket → redirect to BRD / self-service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120640" y="3986784"/>
            <a:ext cx="914400" cy="0"/>
          </a:xfrm>
          <a:prstGeom prst="line">
            <a:avLst/>
          </a:prstGeom>
          <a:ln w="19050">
            <a:solidFill>
              <a:srgbClr val="B0AE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166359" y="3675888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788C5D"/>
                </a:solidFill>
                <a:latin typeface="Lora"/>
              </a:defRPr>
            </a:pPr>
            <a:r>
              <a:t>Yes</a:t>
            </a:r>
          </a:p>
        </p:txBody>
      </p:sp>
      <p:sp>
        <p:nvSpPr>
          <p:cNvPr id="21" name="Diamond 20"/>
          <p:cNvSpPr/>
          <p:nvPr/>
        </p:nvSpPr>
        <p:spPr>
          <a:xfrm>
            <a:off x="914400" y="4517136"/>
            <a:ext cx="4206240" cy="731520"/>
          </a:xfrm>
          <a:prstGeom prst="diamond">
            <a:avLst/>
          </a:prstGeom>
          <a:solidFill>
            <a:srgbClr val="D97757"/>
          </a:solidFill>
          <a:ln w="19050">
            <a:solidFill>
              <a:srgbClr val="FAF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AF9F5"/>
                </a:solidFill>
                <a:latin typeface="Lora"/>
              </a:defRPr>
            </a:pPr>
            <a:r>
              <a:t>Build / enhance / new feature?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017520" y="5248656"/>
            <a:ext cx="0" cy="164592"/>
          </a:xfrm>
          <a:prstGeom prst="line">
            <a:avLst/>
          </a:prstGeom>
          <a:ln w="19050">
            <a:solidFill>
              <a:srgbClr val="B0AE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6035040" y="4608576"/>
            <a:ext cx="5486400" cy="548640"/>
          </a:xfrm>
          <a:prstGeom prst="roundRect">
            <a:avLst/>
          </a:prstGeom>
          <a:solidFill>
            <a:srgbClr val="6A9BCC"/>
          </a:solidFill>
          <a:ln w="19050">
            <a:solidFill>
              <a:srgbClr val="FAF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FAF9F5"/>
                </a:solidFill>
                <a:latin typeface="Lora"/>
              </a:defRPr>
            </a:pPr>
            <a:r>
              <a:t>BRD accepted ≥80%? No → redirect; Yes → IT triage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120640" y="4882896"/>
            <a:ext cx="914400" cy="0"/>
          </a:xfrm>
          <a:prstGeom prst="line">
            <a:avLst/>
          </a:prstGeom>
          <a:ln w="19050">
            <a:solidFill>
              <a:srgbClr val="B0AE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166359" y="457200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788C5D"/>
                </a:solidFill>
                <a:latin typeface="Lora"/>
              </a:defRPr>
            </a:pPr>
            <a:r>
              <a:t>Yes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4400" y="5413248"/>
            <a:ext cx="4206240" cy="731520"/>
          </a:xfrm>
          <a:prstGeom prst="roundRect">
            <a:avLst/>
          </a:prstGeom>
          <a:solidFill>
            <a:srgbClr val="C46686"/>
          </a:solidFill>
          <a:ln w="19050">
            <a:solidFill>
              <a:srgbClr val="FAF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AF9F5"/>
                </a:solidFill>
                <a:latin typeface="Lora"/>
              </a:defRPr>
            </a:pPr>
            <a:r>
              <a:t>Unsure → BA 30-min triage (no Dev assign)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400" b="1">
                <a:solidFill>
                  <a:srgbClr val="FAF9F5"/>
                </a:solidFill>
                <a:latin typeface="Poppins"/>
              </a:defRPr>
            </a:pPr>
            <a:r>
              <a:t>30-Second Triage Card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IT Operations Guide  ·  Internal use only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19" y="1417320"/>
            <a:ext cx="5455767" cy="10195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19" y="1417320"/>
            <a:ext cx="91440" cy="1019556"/>
          </a:xfrm>
          <a:prstGeom prst="round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04087" y="1600200"/>
            <a:ext cx="384048" cy="38404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AF9F5"/>
                </a:solidFill>
                <a:latin typeface="Lora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16151" y="1417320"/>
            <a:ext cx="4587087" cy="10195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141413"/>
                </a:solidFill>
                <a:latin typeface="Lora"/>
              </a:defRPr>
            </a:pPr>
            <a:r>
              <a:t>Ask in order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3007" y="1417320"/>
            <a:ext cx="5455767" cy="10195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33007" y="1417320"/>
            <a:ext cx="91440" cy="1019556"/>
          </a:xfrm>
          <a:prstGeom prst="round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34175" y="1600200"/>
            <a:ext cx="384048" cy="384048"/>
          </a:xfrm>
          <a:prstGeom prst="ellipse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AF9F5"/>
                </a:solidFill>
                <a:latin typeface="Lora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6239" y="1417320"/>
            <a:ext cx="4587087" cy="10195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141413"/>
                </a:solidFill>
                <a:latin typeface="Lora"/>
              </a:defRPr>
            </a:pPr>
            <a:r>
              <a:t>Is the SYSTEM broken, slow, or access blocked?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19" y="2692908"/>
            <a:ext cx="5455767" cy="10195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02919" y="2692908"/>
            <a:ext cx="91440" cy="1019556"/>
          </a:xfrm>
          <a:prstGeom prst="round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04087" y="2875788"/>
            <a:ext cx="384048" cy="384048"/>
          </a:xfrm>
          <a:prstGeom prst="ellipse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AF9F5"/>
                </a:solidFill>
                <a:latin typeface="Lora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1" y="2692908"/>
            <a:ext cx="4587087" cy="10195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141413"/>
                </a:solidFill>
                <a:latin typeface="Lora"/>
              </a:defRPr>
            </a:pPr>
            <a:r>
              <a:t>YES → IT ticket (Incident or Service Desk)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3007" y="2692908"/>
            <a:ext cx="5455767" cy="10195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233007" y="2692908"/>
            <a:ext cx="91440" cy="1019556"/>
          </a:xfrm>
          <a:prstGeom prst="round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34175" y="2875788"/>
            <a:ext cx="384048" cy="384048"/>
          </a:xfrm>
          <a:prstGeom prst="ellipse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AF9F5"/>
                </a:solidFill>
                <a:latin typeface="Lora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6239" y="2692908"/>
            <a:ext cx="4587087" cy="10195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141413"/>
                </a:solidFill>
                <a:latin typeface="Lora"/>
              </a:defRPr>
            </a:pPr>
            <a:r>
              <a:t>Is it CHANGE RULE / CASE / IMPORT / REPORT DEFINITION?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19" y="3968496"/>
            <a:ext cx="5455767" cy="10195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02919" y="3968496"/>
            <a:ext cx="91440" cy="1019556"/>
          </a:xfrm>
          <a:prstGeom prst="roundRect">
            <a:avLst/>
          </a:prstGeom>
          <a:solidFill>
            <a:srgbClr val="BCD1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04087" y="4151376"/>
            <a:ext cx="384048" cy="384048"/>
          </a:xfrm>
          <a:prstGeom prst="ellipse">
            <a:avLst/>
          </a:prstGeom>
          <a:solidFill>
            <a:srgbClr val="BCD1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AF9F5"/>
                </a:solidFill>
                <a:latin typeface="Lora"/>
              </a:defRPr>
            </a:pPr>
            <a: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16151" y="3968496"/>
            <a:ext cx="4587087" cy="10195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141413"/>
                </a:solidFill>
                <a:latin typeface="Lora"/>
              </a:defRPr>
            </a:pPr>
            <a:r>
              <a:t>YES → Business bucket → redirect to BRD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33007" y="3968496"/>
            <a:ext cx="5455767" cy="10195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233007" y="3968496"/>
            <a:ext cx="91440" cy="1019556"/>
          </a:xfrm>
          <a:prstGeom prst="roundRect">
            <a:avLst/>
          </a:prstGeom>
          <a:solidFill>
            <a:srgbClr val="3D3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434175" y="4151376"/>
            <a:ext cx="384048" cy="384048"/>
          </a:xfrm>
          <a:prstGeom prst="ellipse">
            <a:avLst/>
          </a:prstGeom>
          <a:solidFill>
            <a:srgbClr val="3D3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AF9F5"/>
                </a:solidFill>
                <a:latin typeface="Lora"/>
              </a:defRPr>
            </a:pPr>
            <a: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6239" y="3968496"/>
            <a:ext cx="4587087" cy="10195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141413"/>
                </a:solidFill>
                <a:latin typeface="Lora"/>
              </a:defRPr>
            </a:pPr>
            <a:r>
              <a:t>Is it BUILD / ENHANCE / INTEGRATE?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2919" y="5244084"/>
            <a:ext cx="5455767" cy="10195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502919" y="5244084"/>
            <a:ext cx="91440" cy="1019556"/>
          </a:xfrm>
          <a:prstGeom prst="round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04087" y="5426964"/>
            <a:ext cx="384048" cy="38404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AF9F5"/>
                </a:solidFill>
                <a:latin typeface="Lora"/>
              </a:defRPr>
            </a:pPr>
            <a: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16151" y="5244084"/>
            <a:ext cx="4587087" cy="10195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141413"/>
                </a:solidFill>
                <a:latin typeface="Lora"/>
              </a:defRPr>
            </a:pPr>
            <a:r>
              <a:t>YES → Accepted BRD linked? NO → redirect to BRD first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33007" y="5244084"/>
            <a:ext cx="5455767" cy="10195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233007" y="5244084"/>
            <a:ext cx="91440" cy="1019556"/>
          </a:xfrm>
          <a:prstGeom prst="round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6434175" y="5426964"/>
            <a:ext cx="384048" cy="384048"/>
          </a:xfrm>
          <a:prstGeom prst="ellipse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AF9F5"/>
                </a:solidFill>
                <a:latin typeface="Lora"/>
              </a:defRPr>
            </a:pPr>
            <a: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46239" y="5244084"/>
            <a:ext cx="4587087" cy="10195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141413"/>
                </a:solidFill>
                <a:latin typeface="Lora"/>
              </a:defRPr>
            </a:pPr>
            <a:r>
              <a:t>Still unsure? → BA 30-min triage call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400" b="1">
                <a:solidFill>
                  <a:srgbClr val="FAF9F5"/>
                </a:solidFill>
                <a:latin typeface="Poppins"/>
              </a:defRPr>
            </a:pPr>
            <a:r>
              <a:t>Support Ticket Runbook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IT Operations Guide  ·  Internal use only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19" y="1417320"/>
            <a:ext cx="3545738" cy="14447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19" y="1417320"/>
            <a:ext cx="91440" cy="1444752"/>
          </a:xfrm>
          <a:prstGeom prst="round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04087" y="1600200"/>
            <a:ext cx="384048" cy="38404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AF9F5"/>
                </a:solidFill>
                <a:latin typeface="Lora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16151" y="1581912"/>
            <a:ext cx="2677058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141413"/>
                </a:solidFill>
                <a:latin typeface="Lora"/>
              </a:defRPr>
            </a:pPr>
            <a:r>
              <a:t>ACKNOWLEDGE (≤ 15 min P3)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1" y="2130552"/>
            <a:ext cx="3088538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5E5D59"/>
                </a:solidFill>
                <a:latin typeface="Lora"/>
              </a:defRPr>
            </a:pPr>
            <a:r>
              <a:t>ITSM ticket from catalog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22978" y="1417320"/>
            <a:ext cx="3545738" cy="14447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22978" y="1417320"/>
            <a:ext cx="91440" cy="1444752"/>
          </a:xfrm>
          <a:prstGeom prst="round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524146" y="1600200"/>
            <a:ext cx="384048" cy="384048"/>
          </a:xfrm>
          <a:prstGeom prst="ellipse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AF9F5"/>
                </a:solidFill>
                <a:latin typeface="Lora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36210" y="1581912"/>
            <a:ext cx="2677058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141413"/>
                </a:solidFill>
                <a:latin typeface="Lora"/>
              </a:defRPr>
            </a:pPr>
            <a:r>
              <a:t>CLASSIFY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9010" y="2130552"/>
            <a:ext cx="3088538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5E5D59"/>
                </a:solidFill>
                <a:latin typeface="Lora"/>
              </a:defRPr>
            </a:pPr>
            <a:r>
              <a:t>IT catalog / Business self-service / Incident (≤ 30 min)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43036" y="1417320"/>
            <a:ext cx="3545738" cy="14447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143036" y="1417320"/>
            <a:ext cx="91440" cy="1444752"/>
          </a:xfrm>
          <a:prstGeom prst="round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344204" y="1600200"/>
            <a:ext cx="384048" cy="384048"/>
          </a:xfrm>
          <a:prstGeom prst="ellipse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AF9F5"/>
                </a:solidFill>
                <a:latin typeface="Lora"/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56268" y="1581912"/>
            <a:ext cx="2677058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141413"/>
                </a:solidFill>
                <a:latin typeface="Lora"/>
              </a:defRPr>
            </a:pPr>
            <a:r>
              <a:t>If business-owned (case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99068" y="2130552"/>
            <a:ext cx="3088538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5E5D59"/>
                </a:solidFill>
                <a:latin typeface="Lora"/>
              </a:defRPr>
            </a:pPr>
            <a:r>
              <a:t>rule, feature) → redirect &amp; close IT queue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19" y="3118104"/>
            <a:ext cx="3545738" cy="14447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02919" y="3118104"/>
            <a:ext cx="91440" cy="1444752"/>
          </a:xfrm>
          <a:prstGeom prst="round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04087" y="3300984"/>
            <a:ext cx="384048" cy="384048"/>
          </a:xfrm>
          <a:prstGeom prst="ellipse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AF9F5"/>
                </a:solidFill>
                <a:latin typeface="Lora"/>
              </a:defRPr>
            </a:pPr>
            <a: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16151" y="3118104"/>
            <a:ext cx="2677058" cy="1444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141413"/>
                </a:solidFill>
                <a:latin typeface="Lora"/>
              </a:defRPr>
            </a:pPr>
            <a:r>
              <a:t>If IT catalog → assign group + priority (≤ 1 hr)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22978" y="3118104"/>
            <a:ext cx="3545738" cy="14447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322978" y="3118104"/>
            <a:ext cx="91440" cy="1444752"/>
          </a:xfrm>
          <a:prstGeom prst="roundRect">
            <a:avLst/>
          </a:prstGeom>
          <a:solidFill>
            <a:srgbClr val="BCD1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524146" y="3300984"/>
            <a:ext cx="384048" cy="384048"/>
          </a:xfrm>
          <a:prstGeom prst="ellipse">
            <a:avLst/>
          </a:prstGeom>
          <a:solidFill>
            <a:srgbClr val="BCD1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AF9F5"/>
                </a:solidFill>
                <a:latin typeface="Lora"/>
              </a:defRPr>
            </a:pPr>
            <a: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36210" y="3282696"/>
            <a:ext cx="2677058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141413"/>
                </a:solidFill>
                <a:latin typeface="Lora"/>
              </a:defRPr>
            </a:pPr>
            <a:r>
              <a:t>RESOLVE per SLA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9010" y="3831336"/>
            <a:ext cx="3088538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5E5D59"/>
                </a:solidFill>
                <a:latin typeface="Lora"/>
              </a:defRPr>
            </a:pPr>
            <a:r>
              <a:t>systems &amp; access only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43036" y="3118104"/>
            <a:ext cx="3545738" cy="14447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143036" y="3118104"/>
            <a:ext cx="91440" cy="1444752"/>
          </a:xfrm>
          <a:prstGeom prst="roundRect">
            <a:avLst/>
          </a:prstGeom>
          <a:solidFill>
            <a:srgbClr val="3D3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344204" y="3300984"/>
            <a:ext cx="384048" cy="384048"/>
          </a:xfrm>
          <a:prstGeom prst="ellipse">
            <a:avLst/>
          </a:prstGeom>
          <a:solidFill>
            <a:srgbClr val="3D3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AF9F5"/>
                </a:solidFill>
                <a:latin typeface="Lora"/>
              </a:defRPr>
            </a:pPr>
            <a: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56268" y="3282696"/>
            <a:ext cx="2677058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141413"/>
                </a:solidFill>
                <a:latin typeface="Lora"/>
              </a:defRPr>
            </a:pPr>
            <a:r>
              <a:t>CLOSE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99068" y="3831336"/>
            <a:ext cx="3088538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5E5D59"/>
                </a:solidFill>
                <a:latin typeface="Lora"/>
              </a:defRPr>
            </a:pPr>
            <a:r>
              <a:t>user confirms; KB article if repeat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02919" y="4818888"/>
            <a:ext cx="3545738" cy="14447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502919" y="4818888"/>
            <a:ext cx="91440" cy="1444752"/>
          </a:xfrm>
          <a:prstGeom prst="round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704087" y="5001768"/>
            <a:ext cx="384048" cy="38404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AF9F5"/>
                </a:solidFill>
                <a:latin typeface="Lora"/>
              </a:defRPr>
            </a:pPr>
            <a:r>
              <a:t>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216151" y="4983480"/>
            <a:ext cx="2677058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141413"/>
                </a:solidFill>
                <a:latin typeface="Lora"/>
              </a:defRPr>
            </a:pPr>
            <a:r>
              <a:t>EOD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58951" y="5532120"/>
            <a:ext cx="3088538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5E5D59"/>
                </a:solidFill>
                <a:latin typeface="Lora"/>
              </a:defRPr>
            </a:pPr>
            <a:r>
              <a:t>wrong-bucket count; weekend triggers logged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400" b="1">
                <a:solidFill>
                  <a:srgbClr val="FAF9F5"/>
                </a:solidFill>
                <a:latin typeface="Poppins"/>
              </a:defRPr>
            </a:pPr>
            <a:r>
              <a:t>Redirect Template — Delegate to Business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IT Operations Guide  ·  Internal use only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5E5D59"/>
                </a:solidFill>
                <a:latin typeface="Lora"/>
              </a:defRPr>
            </a:pPr>
            <a:r>
              <a:t>Send when request is NOT in IT catalog (case, rule, feature):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19" y="1874519"/>
            <a:ext cx="5455767" cy="2066543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02919" y="1874519"/>
            <a:ext cx="91440" cy="2066543"/>
          </a:xfrm>
          <a:prstGeom prst="round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04087" y="2057400"/>
            <a:ext cx="384048" cy="38404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AF9F5"/>
                </a:solidFill>
                <a:latin typeface="Lora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16151" y="1874519"/>
            <a:ext cx="4587087" cy="206654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141413"/>
                </a:solidFill>
                <a:latin typeface="Lora"/>
              </a:defRPr>
            </a:pPr>
            <a:r>
              <a:t>Case / allocation updates → business ops process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3007" y="1874519"/>
            <a:ext cx="5455767" cy="2066543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33007" y="1874519"/>
            <a:ext cx="91440" cy="2066543"/>
          </a:xfrm>
          <a:prstGeom prst="round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34175" y="2057400"/>
            <a:ext cx="384048" cy="384048"/>
          </a:xfrm>
          <a:prstGeom prst="ellipse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AF9F5"/>
                </a:solidFill>
                <a:latin typeface="Lora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6239" y="1874519"/>
            <a:ext cx="4587087" cy="206654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141413"/>
                </a:solidFill>
                <a:latin typeface="Lora"/>
              </a:defRPr>
            </a:pPr>
            <a:r>
              <a:t>Rule or feature changes → BRD intake + Sponsor sign-off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19" y="4197096"/>
            <a:ext cx="5455767" cy="2066543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02919" y="4197096"/>
            <a:ext cx="91440" cy="2066543"/>
          </a:xfrm>
          <a:prstGeom prst="round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04087" y="4379976"/>
            <a:ext cx="384048" cy="384048"/>
          </a:xfrm>
          <a:prstGeom prst="ellipse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AF9F5"/>
                </a:solidFill>
                <a:latin typeface="Lora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16151" y="4361688"/>
            <a:ext cx="4587087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141413"/>
                </a:solidFill>
                <a:latin typeface="Lora"/>
              </a:defRPr>
            </a:pPr>
            <a:r>
              <a:t>Outcome disputes (loan rejected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1" y="4910328"/>
            <a:ext cx="4998567" cy="12435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5E5D59"/>
                </a:solidFill>
                <a:latin typeface="Lora"/>
              </a:defRPr>
            </a:pPr>
            <a:r>
              <a:t>etc.) → Credit / business ops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400" b="1">
                <a:solidFill>
                  <a:srgbClr val="FAF9F5"/>
                </a:solidFill>
                <a:latin typeface="Poppins"/>
              </a:defRPr>
            </a:pPr>
            <a:r>
              <a:t>Incident vs SR vs Business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IT Operations Guide  ·  Internal use only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19" y="1417320"/>
            <a:ext cx="5455767" cy="10195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19" y="1417320"/>
            <a:ext cx="91440" cy="1019556"/>
          </a:xfrm>
          <a:prstGeom prst="round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04087" y="1600200"/>
            <a:ext cx="384048" cy="38404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AF9F5"/>
                </a:solidFill>
                <a:latin typeface="Lora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16151" y="1417320"/>
            <a:ext cx="4587087" cy="10195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141413"/>
                </a:solidFill>
                <a:latin typeface="Lora"/>
              </a:defRPr>
            </a:pPr>
            <a:r>
              <a:t>INCIDENT (IT)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3007" y="1417320"/>
            <a:ext cx="5455767" cy="10195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33007" y="1417320"/>
            <a:ext cx="91440" cy="1019556"/>
          </a:xfrm>
          <a:prstGeom prst="round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34175" y="1600200"/>
            <a:ext cx="384048" cy="384048"/>
          </a:xfrm>
          <a:prstGeom prst="ellipse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AF9F5"/>
                </a:solidFill>
                <a:latin typeface="Lora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6239" y="1417320"/>
            <a:ext cx="4587087" cy="10195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141413"/>
                </a:solidFill>
                <a:latin typeface="Lora"/>
              </a:defRPr>
            </a:pPr>
            <a:r>
              <a:t>SERVICE REQUEST (IT)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19" y="2692908"/>
            <a:ext cx="5455767" cy="10195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02919" y="2692908"/>
            <a:ext cx="91440" cy="1019556"/>
          </a:xfrm>
          <a:prstGeom prst="round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04087" y="2875788"/>
            <a:ext cx="384048" cy="384048"/>
          </a:xfrm>
          <a:prstGeom prst="ellipse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AF9F5"/>
                </a:solidFill>
                <a:latin typeface="Lora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1" y="2692908"/>
            <a:ext cx="4587087" cy="10195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141413"/>
                </a:solidFill>
                <a:latin typeface="Lora"/>
              </a:defRPr>
            </a:pPr>
            <a:r>
              <a:t>BUSINESS WORK (not IT)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3007" y="2692908"/>
            <a:ext cx="5455767" cy="10195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233007" y="2692908"/>
            <a:ext cx="91440" cy="1019556"/>
          </a:xfrm>
          <a:prstGeom prst="round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34175" y="2875788"/>
            <a:ext cx="384048" cy="384048"/>
          </a:xfrm>
          <a:prstGeom prst="ellipse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AF9F5"/>
                </a:solidFill>
                <a:latin typeface="Lora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6239" y="2692908"/>
            <a:ext cx="4587087" cy="10195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141413"/>
                </a:solidFill>
                <a:latin typeface="Lora"/>
              </a:defRPr>
            </a:pPr>
            <a:r>
              <a:t>DEFECT (IT after release)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19" y="3968496"/>
            <a:ext cx="5455767" cy="10195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02919" y="3968496"/>
            <a:ext cx="91440" cy="1019556"/>
          </a:xfrm>
          <a:prstGeom prst="roundRect">
            <a:avLst/>
          </a:prstGeom>
          <a:solidFill>
            <a:srgbClr val="BCD1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04087" y="4151376"/>
            <a:ext cx="384048" cy="384048"/>
          </a:xfrm>
          <a:prstGeom prst="ellipse">
            <a:avLst/>
          </a:prstGeom>
          <a:solidFill>
            <a:srgbClr val="BCD1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AF9F5"/>
                </a:solidFill>
                <a:latin typeface="Lora"/>
              </a:defRPr>
            </a:pPr>
            <a: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16151" y="3968496"/>
            <a:ext cx="4587087" cy="10195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141413"/>
                </a:solidFill>
                <a:latin typeface="Lora"/>
              </a:defRPr>
            </a:pPr>
            <a:r>
              <a:t>User says "incident" but means business activity?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33007" y="3968496"/>
            <a:ext cx="5455767" cy="10195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233007" y="3968496"/>
            <a:ext cx="91440" cy="1019556"/>
          </a:xfrm>
          <a:prstGeom prst="roundRect">
            <a:avLst/>
          </a:prstGeom>
          <a:solidFill>
            <a:srgbClr val="3D3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434175" y="4151376"/>
            <a:ext cx="384048" cy="384048"/>
          </a:xfrm>
          <a:prstGeom prst="ellipse">
            <a:avLst/>
          </a:prstGeom>
          <a:solidFill>
            <a:srgbClr val="3D3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AF9F5"/>
                </a:solidFill>
                <a:latin typeface="Lora"/>
              </a:defRPr>
            </a:pPr>
            <a: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6239" y="3968496"/>
            <a:ext cx="4587087" cy="10195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141413"/>
                </a:solidFill>
                <a:latin typeface="Lora"/>
              </a:defRPr>
            </a:pPr>
            <a:r>
              <a:t>"Update 200 cases to closed" → Business import process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2919" y="5244084"/>
            <a:ext cx="5455767" cy="10195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502919" y="5244084"/>
            <a:ext cx="91440" cy="1019556"/>
          </a:xfrm>
          <a:prstGeom prst="round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04087" y="5426964"/>
            <a:ext cx="384048" cy="38404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AF9F5"/>
                </a:solidFill>
                <a:latin typeface="Lora"/>
              </a:defRPr>
            </a:pPr>
            <a: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16151" y="5244084"/>
            <a:ext cx="4587087" cy="10195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141413"/>
                </a:solidFill>
                <a:latin typeface="Lora"/>
              </a:defRPr>
            </a:pPr>
            <a:r>
              <a:t>"Customer angry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400" b="1">
                <a:solidFill>
                  <a:srgbClr val="FAF9F5"/>
                </a:solidFill>
                <a:latin typeface="Poppins"/>
              </a:defRPr>
            </a:pPr>
            <a:r>
              <a:t>Incident Response 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IT Operations Guide  ·  Internal use only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5E5D59"/>
                </a:solidFill>
                <a:latin typeface="Lora"/>
              </a:defRPr>
            </a:pPr>
            <a:r>
              <a:t>Restore service first — business data correction follows approved process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661007" y="3108960"/>
            <a:ext cx="1554480" cy="960120"/>
          </a:xfrm>
          <a:prstGeom prst="roundRect">
            <a:avLst/>
          </a:prstGeom>
          <a:solidFill>
            <a:srgbClr val="D97757"/>
          </a:solidFill>
          <a:ln w="19050">
            <a:solidFill>
              <a:srgbClr val="FAF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AF9F5"/>
                </a:solidFill>
                <a:latin typeface="Lora"/>
              </a:defRPr>
            </a:pPr>
            <a:r>
              <a:t>Detect</a:t>
            </a:r>
            <a:br/>
            <a:r>
              <a:t>&amp; log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233775" y="3442715"/>
            <a:ext cx="256031" cy="292608"/>
          </a:xfrm>
          <a:prstGeom prst="rightArrow">
            <a:avLst/>
          </a:prstGeom>
          <a:solidFill>
            <a:srgbClr val="B0A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489807" y="3108960"/>
            <a:ext cx="1554480" cy="960120"/>
          </a:xfrm>
          <a:prstGeom prst="roundRect">
            <a:avLst/>
          </a:prstGeom>
          <a:solidFill>
            <a:srgbClr val="6A9BCC"/>
          </a:solidFill>
          <a:ln w="19050">
            <a:solidFill>
              <a:srgbClr val="FAF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AF9F5"/>
                </a:solidFill>
                <a:latin typeface="Lora"/>
              </a:defRPr>
            </a:pPr>
            <a:r>
              <a:t>Triage</a:t>
            </a:r>
            <a:br/>
            <a:r>
              <a:t>P1-P4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062575" y="3442715"/>
            <a:ext cx="256031" cy="292608"/>
          </a:xfrm>
          <a:prstGeom prst="rightArrow">
            <a:avLst/>
          </a:prstGeom>
          <a:solidFill>
            <a:srgbClr val="B0A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318607" y="3108960"/>
            <a:ext cx="1554480" cy="960120"/>
          </a:xfrm>
          <a:prstGeom prst="roundRect">
            <a:avLst/>
          </a:prstGeom>
          <a:solidFill>
            <a:srgbClr val="788C5D"/>
          </a:solidFill>
          <a:ln w="19050">
            <a:solidFill>
              <a:srgbClr val="FAF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AF9F5"/>
                </a:solidFill>
                <a:latin typeface="Lora"/>
              </a:defRPr>
            </a:pPr>
            <a:r>
              <a:t>Diagnose</a:t>
            </a:r>
            <a:br/>
            <a:r>
              <a:t>&amp; contain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6891375" y="3442715"/>
            <a:ext cx="256031" cy="292608"/>
          </a:xfrm>
          <a:prstGeom prst="rightArrow">
            <a:avLst/>
          </a:prstGeom>
          <a:solidFill>
            <a:srgbClr val="B0A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147407" y="3108960"/>
            <a:ext cx="1554480" cy="960120"/>
          </a:xfrm>
          <a:prstGeom prst="roundRect">
            <a:avLst/>
          </a:prstGeom>
          <a:solidFill>
            <a:srgbClr val="C46686"/>
          </a:solidFill>
          <a:ln w="19050">
            <a:solidFill>
              <a:srgbClr val="FAF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AF9F5"/>
                </a:solidFill>
                <a:latin typeface="Lora"/>
              </a:defRPr>
            </a:pPr>
            <a:r>
              <a:t>Resolve</a:t>
            </a:r>
            <a:br/>
            <a:r>
              <a:t>&amp; verify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8720175" y="3442715"/>
            <a:ext cx="256031" cy="292608"/>
          </a:xfrm>
          <a:prstGeom prst="rightArrow">
            <a:avLst/>
          </a:prstGeom>
          <a:solidFill>
            <a:srgbClr val="B0A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976207" y="3108960"/>
            <a:ext cx="1554480" cy="960120"/>
          </a:xfrm>
          <a:prstGeom prst="roundRect">
            <a:avLst/>
          </a:prstGeom>
          <a:solidFill>
            <a:srgbClr val="BCD1CA"/>
          </a:solidFill>
          <a:ln w="19050">
            <a:solidFill>
              <a:srgbClr val="FAF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AF9F5"/>
                </a:solidFill>
                <a:latin typeface="Lora"/>
              </a:defRPr>
            </a:pPr>
            <a:r>
              <a:t>Post-</a:t>
            </a:r>
            <a:br/>
            <a:r>
              <a:t>mortem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400" b="1">
                <a:solidFill>
                  <a:srgbClr val="FAF9F5"/>
                </a:solidFill>
                <a:latin typeface="Poppins"/>
              </a:defRPr>
            </a:pPr>
            <a:r>
              <a:t>Incident Priority — P1 to P4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IT Operations Guide  ·  Internal use only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19" y="1417320"/>
            <a:ext cx="5455767" cy="10195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19" y="1417320"/>
            <a:ext cx="91440" cy="1019556"/>
          </a:xfrm>
          <a:prstGeom prst="round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04087" y="1600200"/>
            <a:ext cx="384048" cy="38404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AF9F5"/>
                </a:solidFill>
                <a:latin typeface="Lora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16151" y="1417320"/>
            <a:ext cx="4587087" cy="10195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141413"/>
                </a:solidFill>
                <a:latin typeface="Lora"/>
              </a:defRPr>
            </a:pPr>
            <a:r>
              <a:t>P1 CRITICAL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3007" y="1417320"/>
            <a:ext cx="5455767" cy="10195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33007" y="1417320"/>
            <a:ext cx="91440" cy="1019556"/>
          </a:xfrm>
          <a:prstGeom prst="round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34175" y="1600200"/>
            <a:ext cx="384048" cy="384048"/>
          </a:xfrm>
          <a:prstGeom prst="ellipse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AF9F5"/>
                </a:solidFill>
                <a:latin typeface="Lora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6239" y="1417320"/>
            <a:ext cx="4587087" cy="10195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141413"/>
                </a:solidFill>
                <a:latin typeface="Lora"/>
              </a:defRPr>
            </a:pPr>
            <a:r>
              <a:t>Notify within 30 min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19" y="2692908"/>
            <a:ext cx="5455767" cy="10195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02919" y="2692908"/>
            <a:ext cx="91440" cy="1019556"/>
          </a:xfrm>
          <a:prstGeom prst="round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04087" y="2875788"/>
            <a:ext cx="384048" cy="384048"/>
          </a:xfrm>
          <a:prstGeom prst="ellipse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AF9F5"/>
                </a:solidFill>
                <a:latin typeface="Lora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1" y="2692908"/>
            <a:ext cx="4587087" cy="10195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141413"/>
                </a:solidFill>
                <a:latin typeface="Lora"/>
              </a:defRPr>
            </a:pPr>
            <a:r>
              <a:t>P2 MAJOR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3007" y="2692908"/>
            <a:ext cx="5455767" cy="10195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233007" y="2692908"/>
            <a:ext cx="91440" cy="1019556"/>
          </a:xfrm>
          <a:prstGeom prst="round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34175" y="2875788"/>
            <a:ext cx="384048" cy="384048"/>
          </a:xfrm>
          <a:prstGeom prst="ellipse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AF9F5"/>
                </a:solidFill>
                <a:latin typeface="Lora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6239" y="2692908"/>
            <a:ext cx="4587087" cy="10195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141413"/>
                </a:solidFill>
                <a:latin typeface="Lora"/>
              </a:defRPr>
            </a:pPr>
            <a:r>
              <a:t>Notify within 1 hr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19" y="3968496"/>
            <a:ext cx="5455767" cy="10195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02919" y="3968496"/>
            <a:ext cx="91440" cy="1019556"/>
          </a:xfrm>
          <a:prstGeom prst="roundRect">
            <a:avLst/>
          </a:prstGeom>
          <a:solidFill>
            <a:srgbClr val="BCD1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04087" y="4151376"/>
            <a:ext cx="384048" cy="384048"/>
          </a:xfrm>
          <a:prstGeom prst="ellipse">
            <a:avLst/>
          </a:prstGeom>
          <a:solidFill>
            <a:srgbClr val="BCD1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AF9F5"/>
                </a:solidFill>
                <a:latin typeface="Lora"/>
              </a:defRPr>
            </a:pPr>
            <a: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16151" y="3968496"/>
            <a:ext cx="4587087" cy="10195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141413"/>
                </a:solidFill>
                <a:latin typeface="Lora"/>
              </a:defRPr>
            </a:pPr>
            <a:r>
              <a:t>P3 MODERATE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33007" y="3968496"/>
            <a:ext cx="5455767" cy="10195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233007" y="3968496"/>
            <a:ext cx="91440" cy="1019556"/>
          </a:xfrm>
          <a:prstGeom prst="roundRect">
            <a:avLst/>
          </a:prstGeom>
          <a:solidFill>
            <a:srgbClr val="3D3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434175" y="4151376"/>
            <a:ext cx="384048" cy="384048"/>
          </a:xfrm>
          <a:prstGeom prst="ellipse">
            <a:avLst/>
          </a:prstGeom>
          <a:solidFill>
            <a:srgbClr val="3D3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AF9F5"/>
                </a:solidFill>
                <a:latin typeface="Lora"/>
              </a:defRPr>
            </a:pPr>
            <a: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6239" y="3968496"/>
            <a:ext cx="4587087" cy="10195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141413"/>
                </a:solidFill>
                <a:latin typeface="Lora"/>
              </a:defRPr>
            </a:pPr>
            <a:r>
              <a:t>Notify within 4 hr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2919" y="5244084"/>
            <a:ext cx="5455767" cy="10195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502919" y="5244084"/>
            <a:ext cx="91440" cy="1019556"/>
          </a:xfrm>
          <a:prstGeom prst="round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04087" y="5426964"/>
            <a:ext cx="384048" cy="38404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AF9F5"/>
                </a:solidFill>
                <a:latin typeface="Lora"/>
              </a:defRPr>
            </a:pPr>
            <a: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16151" y="5244084"/>
            <a:ext cx="4587087" cy="10195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141413"/>
                </a:solidFill>
                <a:latin typeface="Lora"/>
              </a:defRPr>
            </a:pPr>
            <a:r>
              <a:t>P4 MINOR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400" b="1">
                <a:solidFill>
                  <a:srgbClr val="FAF9F5"/>
                </a:solidFill>
                <a:latin typeface="Poppins"/>
              </a:defRPr>
            </a:pPr>
            <a:r>
              <a:t>Incident Response — Phases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IT Operations Guide  ·  Internal use only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23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17320"/>
            <a:ext cx="4582844" cy="582603"/>
          </a:xfrm>
          <a:prstGeom prst="round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l">
              <a:defRPr sz="1150" b="1">
                <a:solidFill>
                  <a:srgbClr val="FAF9F5"/>
                </a:solidFill>
                <a:latin typeface="Lora"/>
              </a:defRPr>
            </a:pPr>
            <a:r>
              <a:t>DETECT     Monitor + user report</a:t>
            </a:r>
          </a:p>
        </p:txBody>
      </p:sp>
      <p:sp>
        <p:nvSpPr>
          <p:cNvPr id="9" name="Right Arrow 8"/>
          <p:cNvSpPr/>
          <p:nvPr/>
        </p:nvSpPr>
        <p:spPr>
          <a:xfrm>
            <a:off x="5277788" y="1589749"/>
            <a:ext cx="365760" cy="237744"/>
          </a:xfrm>
          <a:prstGeom prst="rightArrow">
            <a:avLst/>
          </a:prstGeom>
          <a:solidFill>
            <a:srgbClr val="B0A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725844" y="1417320"/>
            <a:ext cx="5825770" cy="582603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l">
              <a:defRPr sz="1100" b="0">
                <a:solidFill>
                  <a:srgbClr val="141413"/>
                </a:solidFill>
                <a:latin typeface="Lora"/>
              </a:defRPr>
            </a:pPr>
            <a:r>
              <a:t>log incident in ITSM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127939"/>
            <a:ext cx="4582844" cy="582603"/>
          </a:xfrm>
          <a:prstGeom prst="round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l">
              <a:defRPr sz="1150" b="1">
                <a:solidFill>
                  <a:srgbClr val="FAF9F5"/>
                </a:solidFill>
                <a:latin typeface="Lora"/>
              </a:defRPr>
            </a:pPr>
            <a:r>
              <a:t>TRIAGE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277788" y="2300369"/>
            <a:ext cx="365760" cy="237744"/>
          </a:xfrm>
          <a:prstGeom prst="rightArrow">
            <a:avLst/>
          </a:prstGeom>
          <a:solidFill>
            <a:srgbClr val="B0A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725844" y="2127939"/>
            <a:ext cx="5825770" cy="582603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l">
              <a:defRPr sz="1100" b="0">
                <a:solidFill>
                  <a:srgbClr val="141413"/>
                </a:solidFill>
                <a:latin typeface="Lora"/>
              </a:defRPr>
            </a:pPr>
            <a:r>
              <a:t>Classify P1–P4; open war room if P1/P2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838558"/>
            <a:ext cx="4582844" cy="582603"/>
          </a:xfrm>
          <a:prstGeom prst="round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l">
              <a:defRPr sz="1150" b="1">
                <a:solidFill>
                  <a:srgbClr val="FAF9F5"/>
                </a:solidFill>
                <a:latin typeface="Lora"/>
              </a:defRPr>
            </a:pPr>
            <a:r>
              <a:t>DIAGNOSE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277788" y="3010988"/>
            <a:ext cx="365760" cy="237744"/>
          </a:xfrm>
          <a:prstGeom prst="rightArrow">
            <a:avLst/>
          </a:prstGeom>
          <a:solidFill>
            <a:srgbClr val="B0A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725844" y="2838558"/>
            <a:ext cx="5825770" cy="582603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l">
              <a:defRPr sz="1100" b="0">
                <a:solidFill>
                  <a:srgbClr val="141413"/>
                </a:solidFill>
                <a:latin typeface="Lora"/>
              </a:defRPr>
            </a:pPr>
            <a:r>
              <a:t>Logs, metrics, recent CRs — IT only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549178"/>
            <a:ext cx="4582844" cy="582603"/>
          </a:xfrm>
          <a:prstGeom prst="round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l">
              <a:defRPr sz="1150" b="1">
                <a:solidFill>
                  <a:srgbClr val="FAF9F5"/>
                </a:solidFill>
                <a:latin typeface="Lora"/>
              </a:defRPr>
            </a:pPr>
            <a:r>
              <a:t>CONTAIN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5277788" y="3721608"/>
            <a:ext cx="365760" cy="237744"/>
          </a:xfrm>
          <a:prstGeom prst="rightArrow">
            <a:avLst/>
          </a:prstGeom>
          <a:solidFill>
            <a:srgbClr val="B0A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725844" y="3549178"/>
            <a:ext cx="5825770" cy="582603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l">
              <a:defRPr sz="1100" b="0">
                <a:solidFill>
                  <a:srgbClr val="141413"/>
                </a:solidFill>
                <a:latin typeface="Lora"/>
              </a:defRPr>
            </a:pPr>
            <a:r>
              <a:t>Rollback, disable feature, scale — document decision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259797"/>
            <a:ext cx="4582844" cy="582603"/>
          </a:xfrm>
          <a:prstGeom prst="roundRect">
            <a:avLst/>
          </a:prstGeom>
          <a:solidFill>
            <a:srgbClr val="BCD1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l">
              <a:defRPr sz="1150" b="1">
                <a:solidFill>
                  <a:srgbClr val="FAF9F5"/>
                </a:solidFill>
                <a:latin typeface="Lora"/>
              </a:defRPr>
            </a:pPr>
            <a:r>
              <a:t>RESOLVE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5277788" y="4432227"/>
            <a:ext cx="365760" cy="237744"/>
          </a:xfrm>
          <a:prstGeom prst="rightArrow">
            <a:avLst/>
          </a:prstGeom>
          <a:solidFill>
            <a:srgbClr val="B0A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725844" y="4259797"/>
            <a:ext cx="5825770" cy="582603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l">
              <a:defRPr sz="1100" b="0">
                <a:solidFill>
                  <a:srgbClr val="141413"/>
                </a:solidFill>
                <a:latin typeface="Lora"/>
              </a:defRPr>
            </a:pPr>
            <a:r>
              <a:t>Fix deploy or data repair WITH business approval only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4970417"/>
            <a:ext cx="4582844" cy="582603"/>
          </a:xfrm>
          <a:prstGeom prst="roundRect">
            <a:avLst/>
          </a:prstGeom>
          <a:solidFill>
            <a:srgbClr val="3D3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l">
              <a:defRPr sz="1150" b="1">
                <a:solidFill>
                  <a:srgbClr val="FAF9F5"/>
                </a:solidFill>
                <a:latin typeface="Lora"/>
              </a:defRPr>
            </a:pPr>
            <a:r>
              <a:t>RECOVER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5277788" y="5142846"/>
            <a:ext cx="365760" cy="237744"/>
          </a:xfrm>
          <a:prstGeom prst="rightArrow">
            <a:avLst/>
          </a:prstGeom>
          <a:solidFill>
            <a:srgbClr val="B0A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725844" y="4970417"/>
            <a:ext cx="5825770" cy="582603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l">
              <a:defRPr sz="1100" b="0">
                <a:solidFill>
                  <a:srgbClr val="141413"/>
                </a:solidFill>
                <a:latin typeface="Lora"/>
              </a:defRPr>
            </a:pPr>
            <a:r>
              <a:t>Verify monitoring green; business confirms ops resumed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681036"/>
            <a:ext cx="4582844" cy="582603"/>
          </a:xfrm>
          <a:prstGeom prst="round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l">
              <a:defRPr sz="1150" b="1">
                <a:solidFill>
                  <a:srgbClr val="FAF9F5"/>
                </a:solidFill>
                <a:latin typeface="Lora"/>
              </a:defRPr>
            </a:pPr>
            <a:r>
              <a:t>CLOSE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5277788" y="5853466"/>
            <a:ext cx="365760" cy="237744"/>
          </a:xfrm>
          <a:prstGeom prst="rightArrow">
            <a:avLst/>
          </a:prstGeom>
          <a:solidFill>
            <a:srgbClr val="B0A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725844" y="5681036"/>
            <a:ext cx="5825770" cy="582603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l">
              <a:defRPr sz="1100" b="0">
                <a:solidFill>
                  <a:srgbClr val="141413"/>
                </a:solidFill>
                <a:latin typeface="Lora"/>
              </a:defRPr>
            </a:pPr>
            <a:r>
              <a:t>Timeline in ITSM; post-mortem if P1/P2 or repeat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400" b="1">
                <a:solidFill>
                  <a:srgbClr val="FAF9F5"/>
                </a:solidFill>
                <a:latin typeface="Poppins"/>
              </a:defRPr>
            </a:pPr>
            <a:r>
              <a:t>War Room Checklist — P1 / P2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IT Operations Guide  ·  Internal use only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19" y="1417320"/>
            <a:ext cx="5410047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67511" y="1737360"/>
            <a:ext cx="365760" cy="365760"/>
          </a:xfrm>
          <a:prstGeom prst="round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AF9F5"/>
                </a:solidFill>
                <a:latin typeface="Poppins"/>
              </a:defRPr>
            </a:pPr>
            <a: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9575" y="1417320"/>
            <a:ext cx="4587087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0">
                <a:solidFill>
                  <a:srgbClr val="141413"/>
                </a:solidFill>
                <a:latin typeface="Lora"/>
              </a:defRPr>
            </a:pPr>
            <a:r>
              <a:t>Incident commander appointed (Ops Manager)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78727" y="1417320"/>
            <a:ext cx="5410047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43319" y="1737360"/>
            <a:ext cx="365760" cy="365760"/>
          </a:xfrm>
          <a:prstGeom prst="round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AF9F5"/>
                </a:solidFill>
                <a:latin typeface="Poppins"/>
              </a:defRPr>
            </a:pPr>
            <a: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55383" y="1417320"/>
            <a:ext cx="4587087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0">
                <a:solidFill>
                  <a:srgbClr val="141413"/>
                </a:solidFill>
                <a:latin typeface="Lora"/>
              </a:defRPr>
            </a:pPr>
            <a:r>
              <a:t>Timeline log — 5-minute updates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19" y="2624328"/>
            <a:ext cx="5410047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67511" y="2944368"/>
            <a:ext cx="365760" cy="365760"/>
          </a:xfrm>
          <a:prstGeom prst="round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AF9F5"/>
                </a:solidFill>
                <a:latin typeface="Poppins"/>
              </a:defRPr>
            </a:pPr>
            <a: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79575" y="2624328"/>
            <a:ext cx="4587087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0">
                <a:solidFill>
                  <a:srgbClr val="141413"/>
                </a:solidFill>
                <a:latin typeface="Lora"/>
              </a:defRPr>
            </a:pPr>
            <a:r>
              <a:t>IT-Security notified if data / access impact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78727" y="2624328"/>
            <a:ext cx="5410047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43319" y="2944368"/>
            <a:ext cx="365760" cy="365760"/>
          </a:xfrm>
          <a:prstGeom prst="round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AF9F5"/>
                </a:solidFill>
                <a:latin typeface="Poppins"/>
              </a:defRPr>
            </a:pPr>
            <a: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55383" y="2624328"/>
            <a:ext cx="4587087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0">
                <a:solidFill>
                  <a:srgbClr val="141413"/>
                </a:solidFill>
                <a:latin typeface="Lora"/>
              </a:defRPr>
            </a:pPr>
            <a:r>
              <a:t>Business liaison on bridge (does NOT decide IT technical actions)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19" y="3831336"/>
            <a:ext cx="5410047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67511" y="4151376"/>
            <a:ext cx="365760" cy="365760"/>
          </a:xfrm>
          <a:prstGeom prst="roundRect">
            <a:avLst/>
          </a:prstGeom>
          <a:solidFill>
            <a:srgbClr val="BCD1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AF9F5"/>
                </a:solidFill>
                <a:latin typeface="Poppins"/>
              </a:defRPr>
            </a:pPr>
            <a: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79575" y="3831336"/>
            <a:ext cx="4587087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0">
                <a:solidFill>
                  <a:srgbClr val="141413"/>
                </a:solidFill>
                <a:latin typeface="Lora"/>
              </a:defRPr>
            </a:pPr>
            <a:r>
              <a:t>GRC notified if regulatory impact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78727" y="3831336"/>
            <a:ext cx="5410047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443319" y="4151376"/>
            <a:ext cx="365760" cy="365760"/>
          </a:xfrm>
          <a:prstGeom prst="roundRect">
            <a:avLst/>
          </a:prstGeom>
          <a:solidFill>
            <a:srgbClr val="3D3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AF9F5"/>
                </a:solidFill>
                <a:latin typeface="Poppins"/>
              </a:defRPr>
            </a:pPr>
            <a: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55383" y="3831336"/>
            <a:ext cx="4587087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0">
                <a:solidFill>
                  <a:srgbClr val="141413"/>
                </a:solidFill>
                <a:latin typeface="Lora"/>
              </a:defRPr>
            </a:pPr>
            <a:r>
              <a:t>Customer comms draft — Legal if customer-facing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19" y="5038344"/>
            <a:ext cx="5410047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67511" y="5358383"/>
            <a:ext cx="365760" cy="365760"/>
          </a:xfrm>
          <a:prstGeom prst="round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AF9F5"/>
                </a:solidFill>
                <a:latin typeface="Poppins"/>
              </a:defRPr>
            </a:pPr>
            <a: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79575" y="5038344"/>
            <a:ext cx="4587087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0">
                <a:solidFill>
                  <a:srgbClr val="141413"/>
                </a:solidFill>
                <a:latin typeface="Lora"/>
              </a:defRPr>
            </a:pPr>
            <a:r>
              <a:t>Rollback decision documented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78727" y="5038344"/>
            <a:ext cx="5410047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443319" y="5358383"/>
            <a:ext cx="365760" cy="365760"/>
          </a:xfrm>
          <a:prstGeom prst="round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AF9F5"/>
                </a:solidFill>
                <a:latin typeface="Poppins"/>
              </a:defRPr>
            </a:pPr>
            <a: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55383" y="5038344"/>
            <a:ext cx="4587087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0">
                <a:solidFill>
                  <a:srgbClr val="141413"/>
                </a:solidFill>
                <a:latin typeface="Lora"/>
              </a:defRPr>
            </a:pPr>
            <a:r>
              <a:t>Post-mortem scheduled within 5 business days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400" b="1">
                <a:solidFill>
                  <a:srgbClr val="FAF9F5"/>
                </a:solidFill>
                <a:latin typeface="Poppins"/>
              </a:defRPr>
            </a:pPr>
            <a:r>
              <a:t>BOD Runbook — Window 04:00 to 08:00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IT Operations Guide  ·  Internal use only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5E5D59"/>
                </a:solidFill>
                <a:latin typeface="Lora"/>
              </a:defRPr>
            </a:pPr>
            <a:r>
              <a:t>Weekend: BOD + EOD; day max 4h only on trigger · Ops Manager approves roster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74519"/>
            <a:ext cx="5394960" cy="790041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67512" y="2059228"/>
            <a:ext cx="420624" cy="420624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AF9F5"/>
                </a:solidFill>
                <a:latin typeface="Lora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1874519"/>
            <a:ext cx="4480560" cy="79004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0">
                <a:solidFill>
                  <a:srgbClr val="141413"/>
                </a:solidFill>
                <a:latin typeface="Lora"/>
              </a:defRPr>
            </a:pPr>
            <a:r>
              <a:t>04:00 — Open BOD; handover from night shift (20:00–24:00 prior day)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774289"/>
            <a:ext cx="5394960" cy="790041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67512" y="2958998"/>
            <a:ext cx="420624" cy="420624"/>
          </a:xfrm>
          <a:prstGeom prst="ellipse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AF9F5"/>
                </a:solidFill>
                <a:latin typeface="Lora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2774289"/>
            <a:ext cx="4480560" cy="79004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0">
                <a:solidFill>
                  <a:srgbClr val="141413"/>
                </a:solidFill>
                <a:latin typeface="Lora"/>
              </a:defRPr>
            </a:pPr>
            <a:r>
              <a:t>Review overnight P1/P2 — none open or unowned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674059"/>
            <a:ext cx="5394960" cy="790041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67512" y="3858768"/>
            <a:ext cx="420624" cy="420624"/>
          </a:xfrm>
          <a:prstGeom prst="ellipse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AF9F5"/>
                </a:solidFill>
                <a:latin typeface="Lora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3674059"/>
            <a:ext cx="4480560" cy="79004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0">
                <a:solidFill>
                  <a:srgbClr val="141413"/>
                </a:solidFill>
                <a:latin typeface="Lora"/>
              </a:defRPr>
            </a:pPr>
            <a:r>
              <a:t>Confirm production health + overnight batch jobs complete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4573828"/>
            <a:ext cx="5394960" cy="790041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67512" y="4758537"/>
            <a:ext cx="420624" cy="420624"/>
          </a:xfrm>
          <a:prstGeom prst="ellipse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AF9F5"/>
                </a:solidFill>
                <a:latin typeface="Lora"/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4573828"/>
            <a:ext cx="4480560" cy="79004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0">
                <a:solidFill>
                  <a:srgbClr val="141413"/>
                </a:solidFill>
                <a:latin typeface="Lora"/>
              </a:defRPr>
            </a:pPr>
            <a:r>
              <a:t>List releases today — CR approved? UAT linked?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5473598"/>
            <a:ext cx="5394960" cy="790041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67512" y="5658307"/>
            <a:ext cx="420624" cy="420624"/>
          </a:xfrm>
          <a:prstGeom prst="ellipse">
            <a:avLst/>
          </a:prstGeom>
          <a:solidFill>
            <a:srgbClr val="BCD1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AF9F5"/>
                </a:solidFill>
                <a:latin typeface="Lora"/>
              </a:defRPr>
            </a:pPr>
            <a: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5473598"/>
            <a:ext cx="4480560" cy="79004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0">
                <a:solidFill>
                  <a:srgbClr val="141413"/>
                </a:solidFill>
                <a:latin typeface="Lora"/>
              </a:defRPr>
            </a:pPr>
            <a:r>
              <a:t>CAB outcomes — failed deploy? Hypercare check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63640" y="1874519"/>
            <a:ext cx="5394960" cy="790041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428231" y="2059228"/>
            <a:ext cx="420624" cy="420624"/>
          </a:xfrm>
          <a:prstGeom prst="ellipse">
            <a:avLst/>
          </a:prstGeom>
          <a:solidFill>
            <a:srgbClr val="3D3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AF9F5"/>
                </a:solidFill>
                <a:latin typeface="Lora"/>
              </a:defRPr>
            </a:pPr>
            <a: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95159" y="1874519"/>
            <a:ext cx="4480560" cy="79004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0">
                <a:solidFill>
                  <a:srgbClr val="141413"/>
                </a:solidFill>
                <a:latin typeface="Lora"/>
              </a:defRPr>
            </a:pPr>
            <a:r>
              <a:t>Wrong-bucket SR count; BRD queue &gt; 5 days? Escalate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63640" y="2774289"/>
            <a:ext cx="5394960" cy="790041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428231" y="2958998"/>
            <a:ext cx="420624" cy="420624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AF9F5"/>
                </a:solidFill>
                <a:latin typeface="Lora"/>
              </a:defRPr>
            </a:pPr>
            <a:r>
              <a:t>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95159" y="2774289"/>
            <a:ext cx="4480560" cy="79004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0">
                <a:solidFill>
                  <a:srgbClr val="141413"/>
                </a:solidFill>
                <a:latin typeface="Lora"/>
              </a:defRPr>
            </a:pPr>
            <a:r>
              <a:t>07:30 — Confirm apps green for business user allocation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63640" y="3674059"/>
            <a:ext cx="5394960" cy="790041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428231" y="3858768"/>
            <a:ext cx="420624" cy="420624"/>
          </a:xfrm>
          <a:prstGeom prst="ellipse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AF9F5"/>
                </a:solidFill>
                <a:latin typeface="Lora"/>
              </a:defRPr>
            </a:pPr>
            <a:r>
              <a:t>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95159" y="3674059"/>
            <a:ext cx="4480560" cy="79004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0">
                <a:solidFill>
                  <a:srgbClr val="141413"/>
                </a:solidFill>
                <a:latin typeface="Lora"/>
              </a:defRPr>
            </a:pPr>
            <a:r>
              <a:t>Weekend? Approve extended day roster only if data late / incident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63640" y="4573828"/>
            <a:ext cx="5394960" cy="790041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28231" y="4758537"/>
            <a:ext cx="420624" cy="420624"/>
          </a:xfrm>
          <a:prstGeom prst="ellipse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AF9F5"/>
                </a:solidFill>
                <a:latin typeface="Lora"/>
              </a:defRPr>
            </a:pPr>
            <a:r>
              <a:t>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95159" y="4573828"/>
            <a:ext cx="4480560" cy="79004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0">
                <a:solidFill>
                  <a:srgbClr val="141413"/>
                </a:solidFill>
                <a:latin typeface="Lora"/>
              </a:defRPr>
            </a:pPr>
            <a:r>
              <a:t>08:00 — Publish BOD log; assign day-shift escalation path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63640" y="5473598"/>
            <a:ext cx="5394960" cy="790041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428231" y="5658307"/>
            <a:ext cx="420624" cy="420624"/>
          </a:xfrm>
          <a:prstGeom prst="ellipse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AF9F5"/>
                </a:solidFill>
                <a:latin typeface="Lora"/>
              </a:defRPr>
            </a:pPr>
            <a:r>
              <a:t>10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95159" y="5473598"/>
            <a:ext cx="4480560" cy="79004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0">
                <a:solidFill>
                  <a:srgbClr val="141413"/>
                </a:solidFill>
                <a:latin typeface="Lora"/>
              </a:defRPr>
            </a:pPr>
            <a:r>
              <a:t>08:30 — Day shift (08:30–17:30) assumes Service Desk lead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400" b="1">
                <a:solidFill>
                  <a:srgbClr val="FAF9F5"/>
                </a:solidFill>
                <a:latin typeface="Poppins"/>
              </a:defRPr>
            </a:pPr>
            <a:r>
              <a:t>Org Chart — Ops &amp; Support Resourcing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IT Operations Guide  ·  Internal use only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5E5D59"/>
                </a:solidFill>
                <a:latin typeface="Lora"/>
              </a:defRPr>
            </a:pPr>
            <a:r>
              <a:t>Roster by work type — IT handles systems; business work is delegated back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09847" y="1874519"/>
            <a:ext cx="4572000" cy="658368"/>
          </a:xfrm>
          <a:prstGeom prst="roundRect">
            <a:avLst/>
          </a:prstGeom>
          <a:solidFill>
            <a:srgbClr val="141413"/>
          </a:solidFill>
          <a:ln w="19050">
            <a:solidFill>
              <a:srgbClr val="FAF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AF9F5"/>
                </a:solidFill>
                <a:latin typeface="Lora"/>
              </a:defRPr>
            </a:pPr>
            <a:r>
              <a:t>IT Ops Manager</a:t>
            </a:r>
          </a:p>
        </p:txBody>
      </p:sp>
      <p:cxnSp>
        <p:nvCxnSpPr>
          <p:cNvPr id="10" name="Connector 9"/>
          <p:cNvCxnSpPr/>
          <p:nvPr/>
        </p:nvCxnSpPr>
        <p:spPr>
          <a:xfrm flipH="1">
            <a:off x="2123389" y="2532887"/>
            <a:ext cx="3972458" cy="548640"/>
          </a:xfrm>
          <a:prstGeom prst="line">
            <a:avLst/>
          </a:prstGeom>
          <a:ln w="19050">
            <a:solidFill>
              <a:srgbClr val="B0AE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74320" y="3081527"/>
            <a:ext cx="3698138" cy="621792"/>
          </a:xfrm>
          <a:prstGeom prst="roundRect">
            <a:avLst/>
          </a:prstGeom>
          <a:solidFill>
            <a:srgbClr val="D97757"/>
          </a:solidFill>
          <a:ln w="19050">
            <a:solidFill>
              <a:srgbClr val="FAF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AF9F5"/>
                </a:solidFill>
                <a:latin typeface="Lora"/>
              </a:defRPr>
            </a:pPr>
            <a:r>
              <a:t>Service Desk Lead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023359"/>
            <a:ext cx="3332378" cy="530352"/>
          </a:xfrm>
          <a:prstGeom prst="rect">
            <a:avLst/>
          </a:prstGeom>
          <a:solidFill>
            <a:srgbClr val="E8E6DC"/>
          </a:solidFill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0">
                <a:solidFill>
                  <a:srgbClr val="141413"/>
                </a:solidFill>
                <a:latin typeface="Lora"/>
              </a:defRPr>
            </a:pPr>
            <a:r>
              <a:t>L1 catalog SR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718303"/>
            <a:ext cx="3332378" cy="530352"/>
          </a:xfrm>
          <a:prstGeom prst="rect">
            <a:avLst/>
          </a:prstGeom>
          <a:solidFill>
            <a:srgbClr val="E8E6DC"/>
          </a:solidFill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0">
                <a:solidFill>
                  <a:srgbClr val="141413"/>
                </a:solidFill>
                <a:latin typeface="Lora"/>
              </a:defRPr>
            </a:pPr>
            <a:r>
              <a:t>Bucket triage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5413247"/>
            <a:ext cx="3332378" cy="530352"/>
          </a:xfrm>
          <a:prstGeom prst="rect">
            <a:avLst/>
          </a:prstGeom>
          <a:solidFill>
            <a:srgbClr val="E8E6DC"/>
          </a:solidFill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0">
                <a:solidFill>
                  <a:srgbClr val="141413"/>
                </a:solidFill>
                <a:latin typeface="Lora"/>
              </a:defRPr>
            </a:pPr>
            <a:r>
              <a:t>Redirect / KB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095847" y="2532887"/>
            <a:ext cx="0" cy="548640"/>
          </a:xfrm>
          <a:prstGeom prst="line">
            <a:avLst/>
          </a:prstGeom>
          <a:ln w="19050">
            <a:solidFill>
              <a:srgbClr val="B0AE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4246778" y="3081527"/>
            <a:ext cx="3698138" cy="621792"/>
          </a:xfrm>
          <a:prstGeom prst="roundRect">
            <a:avLst/>
          </a:prstGeom>
          <a:solidFill>
            <a:srgbClr val="6A9BCC"/>
          </a:solidFill>
          <a:ln w="19050">
            <a:solidFill>
              <a:srgbClr val="FAF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AF9F5"/>
                </a:solidFill>
                <a:latin typeface="Lora"/>
              </a:defRPr>
            </a:pPr>
            <a:r>
              <a:t>Shift / On-call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29658" y="4023359"/>
            <a:ext cx="3332378" cy="530352"/>
          </a:xfrm>
          <a:prstGeom prst="rect">
            <a:avLst/>
          </a:prstGeom>
          <a:solidFill>
            <a:srgbClr val="E8E6DC"/>
          </a:solidFill>
          <a:ln w="12700">
            <a:solidFill>
              <a:srgbClr val="6A9B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0">
                <a:solidFill>
                  <a:srgbClr val="141413"/>
                </a:solidFill>
                <a:latin typeface="Lora"/>
              </a:defRPr>
            </a:pPr>
            <a:r>
              <a:t>Day 08:30–17:30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29658" y="4718303"/>
            <a:ext cx="3332378" cy="530352"/>
          </a:xfrm>
          <a:prstGeom prst="rect">
            <a:avLst/>
          </a:prstGeom>
          <a:solidFill>
            <a:srgbClr val="E8E6DC"/>
          </a:solidFill>
          <a:ln w="12700">
            <a:solidFill>
              <a:srgbClr val="6A9B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0">
                <a:solidFill>
                  <a:srgbClr val="141413"/>
                </a:solidFill>
                <a:latin typeface="Lora"/>
              </a:defRPr>
            </a:pPr>
            <a:r>
              <a:t>Night 20:00–24:00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29658" y="5413247"/>
            <a:ext cx="3332378" cy="530352"/>
          </a:xfrm>
          <a:prstGeom prst="rect">
            <a:avLst/>
          </a:prstGeom>
          <a:solidFill>
            <a:srgbClr val="E8E6DC"/>
          </a:solidFill>
          <a:ln w="12700">
            <a:solidFill>
              <a:srgbClr val="6A9B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0">
                <a:solidFill>
                  <a:srgbClr val="141413"/>
                </a:solidFill>
                <a:latin typeface="Lora"/>
              </a:defRPr>
            </a:pPr>
            <a:r>
              <a:t>Weekend on-call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095847" y="2532887"/>
            <a:ext cx="3972459" cy="548640"/>
          </a:xfrm>
          <a:prstGeom prst="line">
            <a:avLst/>
          </a:prstGeom>
          <a:ln w="19050">
            <a:solidFill>
              <a:srgbClr val="B0AE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8219236" y="3081527"/>
            <a:ext cx="3698138" cy="621792"/>
          </a:xfrm>
          <a:prstGeom prst="roundRect">
            <a:avLst/>
          </a:prstGeom>
          <a:solidFill>
            <a:srgbClr val="788C5D"/>
          </a:solidFill>
          <a:ln w="19050">
            <a:solidFill>
              <a:srgbClr val="FAF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AF9F5"/>
                </a:solidFill>
                <a:latin typeface="Lora"/>
              </a:defRPr>
            </a:pPr>
            <a:r>
              <a:t>Release &amp; Incident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402116" y="4023359"/>
            <a:ext cx="3332378" cy="530352"/>
          </a:xfrm>
          <a:prstGeom prst="rect">
            <a:avLst/>
          </a:prstGeom>
          <a:solidFill>
            <a:srgbClr val="E8E6DC"/>
          </a:solidFill>
          <a:ln w="12700">
            <a:solidFill>
              <a:srgbClr val="788C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0">
                <a:solidFill>
                  <a:srgbClr val="141413"/>
                </a:solidFill>
                <a:latin typeface="Lora"/>
              </a:defRPr>
            </a:pPr>
            <a:r>
              <a:t>CAB / change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402116" y="4718303"/>
            <a:ext cx="3332378" cy="530352"/>
          </a:xfrm>
          <a:prstGeom prst="rect">
            <a:avLst/>
          </a:prstGeom>
          <a:solidFill>
            <a:srgbClr val="E8E6DC"/>
          </a:solidFill>
          <a:ln w="12700">
            <a:solidFill>
              <a:srgbClr val="788C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0">
                <a:solidFill>
                  <a:srgbClr val="141413"/>
                </a:solidFill>
                <a:latin typeface="Lora"/>
              </a:defRPr>
            </a:pPr>
            <a:r>
              <a:t>Incident commander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402116" y="5413247"/>
            <a:ext cx="3332378" cy="530352"/>
          </a:xfrm>
          <a:prstGeom prst="rect">
            <a:avLst/>
          </a:prstGeom>
          <a:solidFill>
            <a:srgbClr val="E8E6DC"/>
          </a:solidFill>
          <a:ln w="12700">
            <a:solidFill>
              <a:srgbClr val="788C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0">
                <a:solidFill>
                  <a:srgbClr val="141413"/>
                </a:solidFill>
                <a:latin typeface="Lora"/>
              </a:defRPr>
            </a:pPr>
            <a:r>
              <a:t>Hypercare / Dev liaison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400" b="1">
                <a:solidFill>
                  <a:srgbClr val="FAF9F5"/>
                </a:solidFill>
                <a:latin typeface="Poppins"/>
              </a:defRPr>
            </a:pPr>
            <a:r>
              <a:t>System Monitoring — All 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IT Operations Guide  ·  Internal use only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5E5D59"/>
                </a:solidFill>
                <a:latin typeface="Lora"/>
              </a:defRPr>
            </a:pPr>
            <a:r>
              <a:t>Weekday: day shift (08:30–17:30) + night (20:00–24:00) on-call: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19" y="1920240"/>
            <a:ext cx="5410047" cy="93497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67511" y="2204847"/>
            <a:ext cx="365760" cy="365760"/>
          </a:xfrm>
          <a:prstGeom prst="round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AF9F5"/>
                </a:solidFill>
                <a:latin typeface="Poppins"/>
              </a:defRPr>
            </a:pPr>
            <a: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79575" y="1920240"/>
            <a:ext cx="4587087" cy="93497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0">
                <a:solidFill>
                  <a:srgbClr val="141413"/>
                </a:solidFill>
                <a:latin typeface="Lora"/>
              </a:defRPr>
            </a:pPr>
            <a:r>
              <a:t>Production health dashboard (green / amber / red)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78727" y="1920240"/>
            <a:ext cx="5410047" cy="93497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43319" y="2204847"/>
            <a:ext cx="365760" cy="365760"/>
          </a:xfrm>
          <a:prstGeom prst="round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AF9F5"/>
                </a:solidFill>
                <a:latin typeface="Poppins"/>
              </a:defRPr>
            </a:pPr>
            <a: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55383" y="1920240"/>
            <a:ext cx="4587087" cy="93497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0">
                <a:solidFill>
                  <a:srgbClr val="141413"/>
                </a:solidFill>
                <a:latin typeface="Lora"/>
              </a:defRPr>
            </a:pPr>
            <a:r>
              <a:t>Alert queue — no unacknowledged critical alerts &gt; 15 min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19" y="3056382"/>
            <a:ext cx="5410047" cy="93497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67511" y="3340989"/>
            <a:ext cx="365760" cy="365760"/>
          </a:xfrm>
          <a:prstGeom prst="round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AF9F5"/>
                </a:solidFill>
                <a:latin typeface="Poppins"/>
              </a:defRPr>
            </a:pPr>
            <a: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79575" y="3056382"/>
            <a:ext cx="4587087" cy="93497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0">
                <a:solidFill>
                  <a:srgbClr val="141413"/>
                </a:solidFill>
                <a:latin typeface="Lora"/>
              </a:defRPr>
            </a:pPr>
            <a:r>
              <a:t>Batch / EOD jobs — lending, collections, GL cut-offs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78727" y="3056382"/>
            <a:ext cx="5410047" cy="93497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43319" y="3340989"/>
            <a:ext cx="365760" cy="365760"/>
          </a:xfrm>
          <a:prstGeom prst="round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AF9F5"/>
                </a:solidFill>
                <a:latin typeface="Poppins"/>
              </a:defRPr>
            </a:pPr>
            <a: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55383" y="3056382"/>
            <a:ext cx="4587087" cy="93497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0">
                <a:solidFill>
                  <a:srgbClr val="141413"/>
                </a:solidFill>
                <a:latin typeface="Lora"/>
              </a:defRPr>
            </a:pPr>
            <a:r>
              <a:t>Integration queues — Finacle, FE ONLINE 2.0, POS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19" y="4192524"/>
            <a:ext cx="5410047" cy="93497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67511" y="4477131"/>
            <a:ext cx="365760" cy="365760"/>
          </a:xfrm>
          <a:prstGeom prst="roundRect">
            <a:avLst/>
          </a:prstGeom>
          <a:solidFill>
            <a:srgbClr val="BCD1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AF9F5"/>
                </a:solidFill>
                <a:latin typeface="Poppins"/>
              </a:defRPr>
            </a:pPr>
            <a: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79575" y="4192524"/>
            <a:ext cx="4587087" cy="93497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0">
                <a:solidFill>
                  <a:srgbClr val="141413"/>
                </a:solidFill>
                <a:latin typeface="Lora"/>
              </a:defRPr>
            </a:pPr>
            <a:r>
              <a:t>Hypercare releases — daily Sponsor check (T+1 to T+14)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78727" y="4192524"/>
            <a:ext cx="5410047" cy="93497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443319" y="4477131"/>
            <a:ext cx="365760" cy="365760"/>
          </a:xfrm>
          <a:prstGeom prst="roundRect">
            <a:avLst/>
          </a:prstGeom>
          <a:solidFill>
            <a:srgbClr val="3D3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AF9F5"/>
                </a:solidFill>
                <a:latin typeface="Poppins"/>
              </a:defRPr>
            </a:pPr>
            <a: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55383" y="4192524"/>
            <a:ext cx="4587087" cy="93497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0">
                <a:solidFill>
                  <a:srgbClr val="141413"/>
                </a:solidFill>
                <a:latin typeface="Lora"/>
              </a:defRPr>
            </a:pPr>
            <a:r>
              <a:t>Capacity — CPU, disk, connection pools on critical paths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19" y="5328666"/>
            <a:ext cx="5410047" cy="93497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67511" y="5613273"/>
            <a:ext cx="365760" cy="365760"/>
          </a:xfrm>
          <a:prstGeom prst="round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AF9F5"/>
                </a:solidFill>
                <a:latin typeface="Poppins"/>
              </a:defRPr>
            </a:pPr>
            <a: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79575" y="5328666"/>
            <a:ext cx="4587087" cy="93497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0">
                <a:solidFill>
                  <a:srgbClr val="141413"/>
                </a:solidFill>
                <a:latin typeface="Lora"/>
              </a:defRPr>
            </a:pPr>
            <a:r>
              <a:t>Security — failed login spikes, WAF blocks (escalate IT-Security)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400" b="1">
                <a:solidFill>
                  <a:srgbClr val="FAF9F5"/>
                </a:solidFill>
                <a:latin typeface="Poppins"/>
              </a:defRPr>
            </a:pPr>
            <a:r>
              <a:t>EOD Runbook — Day Shift Close 17:30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IT Operations Guide  ·  Internal use only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5E5D59"/>
                </a:solidFill>
                <a:latin typeface="Lora"/>
              </a:defRPr>
            </a:pPr>
            <a:r>
              <a:t>End of day shift (08:30–17:30) — handover to night (20:00–24:00):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19" y="1920240"/>
            <a:ext cx="5410047" cy="93497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67511" y="2204847"/>
            <a:ext cx="365760" cy="365760"/>
          </a:xfrm>
          <a:prstGeom prst="round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AF9F5"/>
                </a:solidFill>
                <a:latin typeface="Poppins"/>
              </a:defRPr>
            </a:pPr>
            <a: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79575" y="1920240"/>
            <a:ext cx="4587087" cy="93497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0">
                <a:solidFill>
                  <a:srgbClr val="141413"/>
                </a:solidFill>
                <a:latin typeface="Lora"/>
              </a:defRPr>
            </a:pPr>
            <a:r>
              <a:t>All P1/P2 updated in ITSM (not stale)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78727" y="1920240"/>
            <a:ext cx="5410047" cy="93497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43319" y="2204847"/>
            <a:ext cx="365760" cy="365760"/>
          </a:xfrm>
          <a:prstGeom prst="round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AF9F5"/>
                </a:solidFill>
                <a:latin typeface="Poppins"/>
              </a:defRPr>
            </a:pPr>
            <a: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55383" y="1920240"/>
            <a:ext cx="4587087" cy="93497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0">
                <a:solidFill>
                  <a:srgbClr val="141413"/>
                </a:solidFill>
                <a:latin typeface="Lora"/>
              </a:defRPr>
            </a:pPr>
            <a:r>
              <a:t>Open SRs — none unassigned past SLA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19" y="3056382"/>
            <a:ext cx="5410047" cy="93497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67511" y="3340989"/>
            <a:ext cx="365760" cy="365760"/>
          </a:xfrm>
          <a:prstGeom prst="round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AF9F5"/>
                </a:solidFill>
                <a:latin typeface="Poppins"/>
              </a:defRPr>
            </a:pPr>
            <a: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79575" y="3056382"/>
            <a:ext cx="4587087" cy="93497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0">
                <a:solidFill>
                  <a:srgbClr val="141413"/>
                </a:solidFill>
                <a:latin typeface="Lora"/>
              </a:defRPr>
            </a:pPr>
            <a:r>
              <a:t>Business-bucket redirects logged with reason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78727" y="3056382"/>
            <a:ext cx="5410047" cy="93497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43319" y="3340989"/>
            <a:ext cx="365760" cy="365760"/>
          </a:xfrm>
          <a:prstGeom prst="round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AF9F5"/>
                </a:solidFill>
                <a:latin typeface="Poppins"/>
              </a:defRPr>
            </a:pPr>
            <a: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55383" y="3056382"/>
            <a:ext cx="4587087" cy="93497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0">
                <a:solidFill>
                  <a:srgbClr val="141413"/>
                </a:solidFill>
                <a:latin typeface="Lora"/>
              </a:defRPr>
            </a:pPr>
            <a:r>
              <a:t>Deployments today — post-deploy verify complete?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19" y="4192524"/>
            <a:ext cx="5410047" cy="93497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67511" y="4477131"/>
            <a:ext cx="365760" cy="365760"/>
          </a:xfrm>
          <a:prstGeom prst="roundRect">
            <a:avLst/>
          </a:prstGeom>
          <a:solidFill>
            <a:srgbClr val="BCD1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AF9F5"/>
                </a:solidFill>
                <a:latin typeface="Poppins"/>
              </a:defRPr>
            </a:pPr>
            <a: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79575" y="4192524"/>
            <a:ext cx="4587087" cy="93497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0">
                <a:solidFill>
                  <a:srgbClr val="141413"/>
                </a:solidFill>
                <a:latin typeface="Lora"/>
              </a:defRPr>
            </a:pPr>
            <a:r>
              <a:t>Emergency changes — retro-BRD task opened?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78727" y="4192524"/>
            <a:ext cx="5410047" cy="93497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443319" y="4477131"/>
            <a:ext cx="365760" cy="365760"/>
          </a:xfrm>
          <a:prstGeom prst="roundRect">
            <a:avLst/>
          </a:prstGeom>
          <a:solidFill>
            <a:srgbClr val="3D3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AF9F5"/>
                </a:solidFill>
                <a:latin typeface="Poppins"/>
              </a:defRPr>
            </a:pPr>
            <a: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55383" y="4192524"/>
            <a:ext cx="4587087" cy="93497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0">
                <a:solidFill>
                  <a:srgbClr val="141413"/>
                </a:solidFill>
                <a:latin typeface="Lora"/>
              </a:defRPr>
            </a:pPr>
            <a:r>
              <a:t>Handover note for night / on-call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19" y="5328666"/>
            <a:ext cx="5410047" cy="93497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67511" y="5613273"/>
            <a:ext cx="365760" cy="365760"/>
          </a:xfrm>
          <a:prstGeom prst="round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AF9F5"/>
                </a:solidFill>
                <a:latin typeface="Poppins"/>
              </a:defRPr>
            </a:pPr>
            <a: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79575" y="5328666"/>
            <a:ext cx="4587087" cy="93497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0">
                <a:solidFill>
                  <a:srgbClr val="141413"/>
                </a:solidFill>
                <a:latin typeface="Lora"/>
              </a:defRPr>
            </a:pPr>
            <a:r>
              <a:t>No informal prod changes via chat — audit sample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78727" y="5328666"/>
            <a:ext cx="5410047" cy="93497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443319" y="5613273"/>
            <a:ext cx="365760" cy="365760"/>
          </a:xfrm>
          <a:prstGeom prst="round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AF9F5"/>
                </a:solidFill>
                <a:latin typeface="Poppins"/>
              </a:defRPr>
            </a:pPr>
            <a: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55383" y="5328666"/>
            <a:ext cx="4587087" cy="93497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0">
                <a:solidFill>
                  <a:srgbClr val="141413"/>
                </a:solidFill>
                <a:latin typeface="Lora"/>
              </a:defRPr>
            </a:pPr>
            <a:r>
              <a:t>Update Ops dashboard metrics (daily slice)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400" b="1">
                <a:solidFill>
                  <a:srgbClr val="FAF9F5"/>
                </a:solidFill>
                <a:latin typeface="Poppins"/>
              </a:defRPr>
            </a:pPr>
            <a:r>
              <a:t>BOM &amp; EOM — Monthly Rituals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IT Operations Guide  ·  Internal use only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29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19" y="1417320"/>
            <a:ext cx="5455767" cy="10195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19" y="1417320"/>
            <a:ext cx="91440" cy="1019556"/>
          </a:xfrm>
          <a:prstGeom prst="round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04087" y="1600200"/>
            <a:ext cx="384048" cy="38404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AF9F5"/>
                </a:solidFill>
                <a:latin typeface="Lora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16151" y="1417320"/>
            <a:ext cx="4587087" cy="10195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141413"/>
                </a:solidFill>
                <a:latin typeface="Lora"/>
              </a:defRPr>
            </a:pPr>
            <a:r>
              <a:t>BOM (1st business day, 60 min):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3007" y="1417320"/>
            <a:ext cx="5455767" cy="10195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33007" y="1417320"/>
            <a:ext cx="91440" cy="1019556"/>
          </a:xfrm>
          <a:prstGeom prst="round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34175" y="1600200"/>
            <a:ext cx="384048" cy="384048"/>
          </a:xfrm>
          <a:prstGeom prst="ellipse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AF9F5"/>
                </a:solidFill>
                <a:latin typeface="Lora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6239" y="1417320"/>
            <a:ext cx="4587087" cy="10195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141413"/>
                </a:solidFill>
                <a:latin typeface="Lora"/>
              </a:defRPr>
            </a:pPr>
            <a:r>
              <a:t>Last month KPIs · BRD volume vs BA capacity · release calendar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19" y="2692908"/>
            <a:ext cx="5455767" cy="10195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02919" y="2692908"/>
            <a:ext cx="91440" cy="1019556"/>
          </a:xfrm>
          <a:prstGeom prst="round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04087" y="2875788"/>
            <a:ext cx="384048" cy="384048"/>
          </a:xfrm>
          <a:prstGeom prst="ellipse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AF9F5"/>
                </a:solidFill>
                <a:latin typeface="Lora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1" y="2692908"/>
            <a:ext cx="4587087" cy="10195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141413"/>
                </a:solidFill>
                <a:latin typeface="Lora"/>
              </a:defRPr>
            </a:pPr>
            <a:r>
              <a:t>Incident trends · wrong-bucket training plan · CAB roster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3007" y="2692908"/>
            <a:ext cx="5455767" cy="10195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233007" y="2692908"/>
            <a:ext cx="91440" cy="1019556"/>
          </a:xfrm>
          <a:prstGeom prst="round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34175" y="2875788"/>
            <a:ext cx="384048" cy="384048"/>
          </a:xfrm>
          <a:prstGeom prst="ellipse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AF9F5"/>
                </a:solidFill>
                <a:latin typeface="Lora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6239" y="2692908"/>
            <a:ext cx="4587087" cy="10195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141413"/>
                </a:solidFill>
                <a:latin typeface="Lora"/>
              </a:defRPr>
            </a:pPr>
            <a:r>
              <a:t>EOM (last business day, 60 min):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19" y="3968496"/>
            <a:ext cx="5455767" cy="10195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02919" y="3968496"/>
            <a:ext cx="91440" cy="1019556"/>
          </a:xfrm>
          <a:prstGeom prst="roundRect">
            <a:avLst/>
          </a:prstGeom>
          <a:solidFill>
            <a:srgbClr val="BCD1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04087" y="4151376"/>
            <a:ext cx="384048" cy="384048"/>
          </a:xfrm>
          <a:prstGeom prst="ellipse">
            <a:avLst/>
          </a:prstGeom>
          <a:solidFill>
            <a:srgbClr val="BCD1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AF9F5"/>
                </a:solidFill>
                <a:latin typeface="Lora"/>
              </a:defRPr>
            </a:pPr>
            <a: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16151" y="3968496"/>
            <a:ext cx="4587087" cy="10195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141413"/>
                </a:solidFill>
                <a:latin typeface="Lora"/>
              </a:defRPr>
            </a:pPr>
            <a:r>
              <a:t>Change freeze for critical systems · evidence pack sample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33007" y="3968496"/>
            <a:ext cx="5455767" cy="10195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233007" y="3968496"/>
            <a:ext cx="91440" cy="1019556"/>
          </a:xfrm>
          <a:prstGeom prst="roundRect">
            <a:avLst/>
          </a:prstGeom>
          <a:solidFill>
            <a:srgbClr val="3D3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434175" y="4151376"/>
            <a:ext cx="384048" cy="384048"/>
          </a:xfrm>
          <a:prstGeom prst="ellipse">
            <a:avLst/>
          </a:prstGeom>
          <a:solidFill>
            <a:srgbClr val="3D3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AF9F5"/>
                </a:solidFill>
                <a:latin typeface="Lora"/>
              </a:defRPr>
            </a:pPr>
            <a: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6239" y="3968496"/>
            <a:ext cx="4587087" cy="10195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141413"/>
                </a:solidFill>
                <a:latin typeface="Lora"/>
              </a:defRPr>
            </a:pPr>
            <a:r>
              <a:t>Deploys without BRD = 0 · UAT before prod = 100%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2919" y="5244084"/>
            <a:ext cx="5455767" cy="10195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502919" y="5244084"/>
            <a:ext cx="91440" cy="1019556"/>
          </a:xfrm>
          <a:prstGeom prst="round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04087" y="5426964"/>
            <a:ext cx="384048" cy="38404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AF9F5"/>
                </a:solidFill>
                <a:latin typeface="Lora"/>
              </a:defRPr>
            </a:pPr>
            <a: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16151" y="5244084"/>
            <a:ext cx="4587087" cy="10195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141413"/>
                </a:solidFill>
                <a:latin typeface="Lora"/>
              </a:defRPr>
            </a:pPr>
            <a:r>
              <a:t>Incident summary to leadership · lessons learned top 3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33007" y="5244084"/>
            <a:ext cx="5455767" cy="10195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233007" y="5244084"/>
            <a:ext cx="91440" cy="1019556"/>
          </a:xfrm>
          <a:prstGeom prst="round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6434175" y="5426964"/>
            <a:ext cx="384048" cy="384048"/>
          </a:xfrm>
          <a:prstGeom prst="ellipse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AF9F5"/>
                </a:solidFill>
                <a:latin typeface="Lora"/>
              </a:defRPr>
            </a:pPr>
            <a: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46239" y="5244084"/>
            <a:ext cx="4587087" cy="10195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141413"/>
                </a:solidFill>
                <a:latin typeface="Lora"/>
              </a:defRPr>
            </a:pPr>
            <a:r>
              <a:t>Wrong-bucket report to BU Heads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400" b="1">
                <a:solidFill>
                  <a:srgbClr val="FAF9F5"/>
                </a:solidFill>
                <a:latin typeface="Poppins"/>
              </a:defRPr>
            </a:pPr>
            <a:r>
              <a:t>Post-Mortem &amp; Lessons Learned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IT Operations Guide  ·  Internal use only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30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280160" y="1783080"/>
            <a:ext cx="9631375" cy="4251959"/>
          </a:xfrm>
          <a:prstGeom prst="roundRect">
            <a:avLst/>
          </a:prstGeom>
          <a:solidFill>
            <a:srgbClr val="E8E6DC"/>
          </a:solidFill>
          <a:ln w="1905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280160" y="1783080"/>
            <a:ext cx="128016" cy="4251959"/>
          </a:xfrm>
          <a:prstGeom prst="round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37360" y="2208276"/>
            <a:ext cx="871697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700" b="0">
                <a:solidFill>
                  <a:srgbClr val="141413"/>
                </a:solidFill>
                <a:latin typeface="Lora"/>
              </a:defRPr>
            </a:pPr>
            <a:r>
              <a:t>Mandatory when: P1/P2 · failed deploy · repeat P3 (3× in 90 days)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2775204"/>
            <a:ext cx="871697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700" b="0">
                <a:solidFill>
                  <a:srgbClr val="141413"/>
                </a:solidFill>
                <a:latin typeface="Lora"/>
              </a:defRPr>
            </a:pPr>
            <a:r>
              <a:t>  · emergency change · wrong-bucket caused customer impact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3342132"/>
            <a:ext cx="871697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700" b="0">
                <a:solidFill>
                  <a:srgbClr val="141413"/>
                </a:solidFill>
                <a:latin typeface="Lora"/>
              </a:defRPr>
            </a:pPr>
            <a:r>
              <a:t>Blameless focus: timeline of facts → root cause → SMART actions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3909060"/>
            <a:ext cx="871697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700" b="0">
                <a:solidFill>
                  <a:srgbClr val="141413"/>
                </a:solidFill>
                <a:latin typeface="Lora"/>
              </a:defRPr>
            </a:pPr>
            <a:r>
              <a:t>Separate: IT systems failure vs business process vs handoff confusion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4475988"/>
            <a:ext cx="871697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700" b="0">
                <a:solidFill>
                  <a:srgbClr val="141413"/>
                </a:solidFill>
                <a:latin typeface="Lora"/>
              </a:defRPr>
            </a:pPr>
            <a:r>
              <a:t>Distribute lessons to: Service Desk KB · BU newsletter · Dev retro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5042916"/>
            <a:ext cx="871697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700" b="0">
                <a:solidFill>
                  <a:srgbClr val="141413"/>
                </a:solidFill>
                <a:latin typeface="Lora"/>
              </a:defRPr>
            </a:pPr>
            <a:r>
              <a:t>  · EOM leadership pack · quarterly audit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400" b="1">
                <a:solidFill>
                  <a:srgbClr val="FAF9F5"/>
                </a:solidFill>
                <a:latin typeface="Poppins"/>
              </a:defRPr>
            </a:pPr>
            <a:r>
              <a:t>Ops Guardrails — Posture Card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IT Operations Guide  ·  Internal use only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400" b="1">
                <a:solidFill>
                  <a:srgbClr val="FAF9F5"/>
                </a:solidFill>
                <a:latin typeface="Poppins"/>
              </a:defRPr>
            </a:pPr>
            <a:r>
              <a:t>Ops Guardrails — Posture Card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IT Operations Guide  ·  Internal use only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32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19" y="1417320"/>
            <a:ext cx="3545738" cy="14447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19" y="1417320"/>
            <a:ext cx="91440" cy="1444752"/>
          </a:xfrm>
          <a:prstGeom prst="round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04087" y="1600200"/>
            <a:ext cx="384048" cy="38404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AF9F5"/>
                </a:solidFill>
                <a:latin typeface="Lora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16151" y="1581912"/>
            <a:ext cx="2677058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141413"/>
                </a:solidFill>
                <a:latin typeface="Lora"/>
              </a:defRPr>
            </a:pPr>
            <a:r>
              <a:t>Systems yes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1" y="2130552"/>
            <a:ext cx="3088538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5E5D59"/>
                </a:solidFill>
                <a:latin typeface="Lora"/>
              </a:defRPr>
            </a:pPr>
            <a:r>
              <a:t>business decisions no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22978" y="1417320"/>
            <a:ext cx="3545738" cy="14447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22978" y="1417320"/>
            <a:ext cx="91440" cy="1444752"/>
          </a:xfrm>
          <a:prstGeom prst="round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524146" y="1600200"/>
            <a:ext cx="384048" cy="384048"/>
          </a:xfrm>
          <a:prstGeom prst="ellipse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AF9F5"/>
                </a:solidFill>
                <a:latin typeface="Lora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36210" y="1417320"/>
            <a:ext cx="2677058" cy="1444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141413"/>
                </a:solidFill>
                <a:latin typeface="Lora"/>
              </a:defRPr>
            </a:pPr>
            <a:r>
              <a:t>No prod data fix without approved instruction + ticket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43036" y="1417320"/>
            <a:ext cx="3545738" cy="14447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143036" y="1417320"/>
            <a:ext cx="91440" cy="1444752"/>
          </a:xfrm>
          <a:prstGeom prst="round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344204" y="1600200"/>
            <a:ext cx="384048" cy="384048"/>
          </a:xfrm>
          <a:prstGeom prst="ellipse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AF9F5"/>
                </a:solidFill>
                <a:latin typeface="Lora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56268" y="1417320"/>
            <a:ext cx="2677058" cy="1444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141413"/>
                </a:solidFill>
                <a:latin typeface="Lora"/>
              </a:defRPr>
            </a:pPr>
            <a:r>
              <a:t>No rule change without BRD + FSD + deploy path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19" y="3118104"/>
            <a:ext cx="3545738" cy="14447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02919" y="3118104"/>
            <a:ext cx="91440" cy="1444752"/>
          </a:xfrm>
          <a:prstGeom prst="round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04087" y="3300984"/>
            <a:ext cx="384048" cy="384048"/>
          </a:xfrm>
          <a:prstGeom prst="ellipse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AF9F5"/>
                </a:solidFill>
                <a:latin typeface="Lora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16151" y="3118104"/>
            <a:ext cx="2677058" cy="1444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141413"/>
                </a:solidFill>
                <a:latin typeface="Lora"/>
              </a:defRPr>
            </a:pPr>
            <a:r>
              <a:t>No import without maker-checker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22978" y="3118104"/>
            <a:ext cx="3545738" cy="14447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322978" y="3118104"/>
            <a:ext cx="91440" cy="1444752"/>
          </a:xfrm>
          <a:prstGeom prst="roundRect">
            <a:avLst/>
          </a:prstGeom>
          <a:solidFill>
            <a:srgbClr val="BCD1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524146" y="3300984"/>
            <a:ext cx="384048" cy="384048"/>
          </a:xfrm>
          <a:prstGeom prst="ellipse">
            <a:avLst/>
          </a:prstGeom>
          <a:solidFill>
            <a:srgbClr val="BCD1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AF9F5"/>
                </a:solidFill>
                <a:latin typeface="Lora"/>
              </a:defRPr>
            </a:pPr>
            <a: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36210" y="3282696"/>
            <a:ext cx="2677058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141413"/>
                </a:solidFill>
                <a:latin typeface="Lora"/>
              </a:defRPr>
            </a:pPr>
            <a:r>
              <a:t>Incidents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9010" y="3831336"/>
            <a:ext cx="3088538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5E5D59"/>
                </a:solidFill>
                <a:latin typeface="Lora"/>
              </a:defRPr>
            </a:pPr>
            <a:r>
              <a:t>restore service first; data correction follows business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43036" y="3118104"/>
            <a:ext cx="3545738" cy="14447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143036" y="3118104"/>
            <a:ext cx="91440" cy="1444752"/>
          </a:xfrm>
          <a:prstGeom prst="roundRect">
            <a:avLst/>
          </a:prstGeom>
          <a:solidFill>
            <a:srgbClr val="3D3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344204" y="3300984"/>
            <a:ext cx="384048" cy="384048"/>
          </a:xfrm>
          <a:prstGeom prst="ellipse">
            <a:avLst/>
          </a:prstGeom>
          <a:solidFill>
            <a:srgbClr val="3D3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AF9F5"/>
                </a:solidFill>
                <a:latin typeface="Lora"/>
              </a:defRPr>
            </a:pPr>
            <a: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56268" y="3118104"/>
            <a:ext cx="2677058" cy="1444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141413"/>
                </a:solidFill>
                <a:latin typeface="Lora"/>
              </a:defRPr>
            </a:pPr>
            <a:r>
              <a:t>Email is not intake for changes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02919" y="4818888"/>
            <a:ext cx="3545738" cy="14447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502919" y="4818888"/>
            <a:ext cx="91440" cy="1444752"/>
          </a:xfrm>
          <a:prstGeom prst="round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704087" y="5001768"/>
            <a:ext cx="384048" cy="38404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AF9F5"/>
                </a:solidFill>
                <a:latin typeface="Lora"/>
              </a:defRPr>
            </a:pPr>
            <a:r>
              <a:t>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16151" y="4983480"/>
            <a:ext cx="2677058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141413"/>
                </a:solidFill>
                <a:latin typeface="Lora"/>
              </a:defRPr>
            </a:pPr>
            <a:r>
              <a:t>Document and redirect wrong-bucket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8951" y="5532120"/>
            <a:ext cx="3088538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5E5D59"/>
                </a:solidFill>
                <a:latin typeface="Lora"/>
              </a:defRPr>
            </a:pPr>
            <a:r>
              <a:t>don't do business work silently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322978" y="4818888"/>
            <a:ext cx="3545738" cy="14447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4322978" y="4818888"/>
            <a:ext cx="91440" cy="1444752"/>
          </a:xfrm>
          <a:prstGeom prst="round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4524146" y="5001768"/>
            <a:ext cx="384048" cy="384048"/>
          </a:xfrm>
          <a:prstGeom prst="ellipse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AF9F5"/>
                </a:solidFill>
                <a:latin typeface="Lora"/>
              </a:defRPr>
            </a:pPr>
            <a:r>
              <a:t>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36210" y="4983480"/>
            <a:ext cx="2677058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141413"/>
                </a:solidFill>
                <a:latin typeface="Lora"/>
              </a:defRPr>
            </a:pPr>
            <a:r>
              <a:t>P1/P2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9010" y="5532120"/>
            <a:ext cx="3088538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5E5D59"/>
                </a:solidFill>
                <a:latin typeface="Lora"/>
              </a:defRPr>
            </a:pPr>
            <a:r>
              <a:t>post-mortem always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400" b="1">
                <a:solidFill>
                  <a:srgbClr val="FAF9F5"/>
                </a:solidFill>
                <a:latin typeface="Poppins"/>
              </a:defRPr>
            </a:pPr>
            <a:r>
              <a:t>Key KPIs — Ops 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IT Operations Guide  ·  Internal use only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33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17320"/>
            <a:ext cx="4582844" cy="582603"/>
          </a:xfrm>
          <a:prstGeom prst="round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l">
              <a:defRPr sz="1150" b="1">
                <a:solidFill>
                  <a:srgbClr val="FAF9F5"/>
                </a:solidFill>
                <a:latin typeface="Lora"/>
              </a:defRPr>
            </a:pPr>
            <a:r>
              <a:t>Wrong-bucket SR rate</a:t>
            </a:r>
          </a:p>
        </p:txBody>
      </p:sp>
      <p:sp>
        <p:nvSpPr>
          <p:cNvPr id="9" name="Right Arrow 8"/>
          <p:cNvSpPr/>
          <p:nvPr/>
        </p:nvSpPr>
        <p:spPr>
          <a:xfrm>
            <a:off x="5277788" y="1589749"/>
            <a:ext cx="365760" cy="237744"/>
          </a:xfrm>
          <a:prstGeom prst="rightArrow">
            <a:avLst/>
          </a:prstGeom>
          <a:solidFill>
            <a:srgbClr val="B0A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725844" y="1417320"/>
            <a:ext cx="5825770" cy="582603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l">
              <a:defRPr sz="1100" b="0">
                <a:solidFill>
                  <a:srgbClr val="141413"/>
                </a:solidFill>
                <a:latin typeface="Lora"/>
              </a:defRPr>
            </a:pPr>
            <a:r>
              <a:t>trend down (EOD / EOM)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127939"/>
            <a:ext cx="4582844" cy="582603"/>
          </a:xfrm>
          <a:prstGeom prst="round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l">
              <a:defRPr sz="1150" b="1">
                <a:solidFill>
                  <a:srgbClr val="FAF9F5"/>
                </a:solidFill>
                <a:latin typeface="Lora"/>
              </a:defRPr>
            </a:pPr>
            <a:r>
              <a:t>SR classified within 1 hr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277788" y="2300369"/>
            <a:ext cx="365760" cy="237744"/>
          </a:xfrm>
          <a:prstGeom prst="rightArrow">
            <a:avLst/>
          </a:prstGeom>
          <a:solidFill>
            <a:srgbClr val="B0A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725844" y="2127939"/>
            <a:ext cx="5825770" cy="582603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l">
              <a:defRPr sz="1100" b="0">
                <a:solidFill>
                  <a:srgbClr val="141413"/>
                </a:solidFill>
                <a:latin typeface="Lora"/>
              </a:defRPr>
            </a:pPr>
            <a:r>
              <a:t>target ≥ 95%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838558"/>
            <a:ext cx="4582844" cy="582603"/>
          </a:xfrm>
          <a:prstGeom prst="round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l">
              <a:defRPr sz="1150" b="1">
                <a:solidFill>
                  <a:srgbClr val="FAF9F5"/>
                </a:solidFill>
                <a:latin typeface="Lora"/>
              </a:defRPr>
            </a:pPr>
            <a:r>
              <a:t>P1 MTTR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277788" y="3010988"/>
            <a:ext cx="365760" cy="237744"/>
          </a:xfrm>
          <a:prstGeom prst="rightArrow">
            <a:avLst/>
          </a:prstGeom>
          <a:solidFill>
            <a:srgbClr val="B0A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725844" y="2838558"/>
            <a:ext cx="5825770" cy="582603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l">
              <a:defRPr sz="1100" b="0">
                <a:solidFill>
                  <a:srgbClr val="141413"/>
                </a:solidFill>
                <a:latin typeface="Lora"/>
              </a:defRPr>
            </a:pPr>
            <a:r>
              <a:t>per policy (EOM)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549178"/>
            <a:ext cx="4582844" cy="582603"/>
          </a:xfrm>
          <a:prstGeom prst="round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l">
              <a:defRPr sz="1150" b="1">
                <a:solidFill>
                  <a:srgbClr val="FAF9F5"/>
                </a:solidFill>
                <a:latin typeface="Lora"/>
              </a:defRPr>
            </a:pPr>
            <a:r>
              <a:t>Post-mortems on time (P1/P2)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5277788" y="3721608"/>
            <a:ext cx="365760" cy="237744"/>
          </a:xfrm>
          <a:prstGeom prst="rightArrow">
            <a:avLst/>
          </a:prstGeom>
          <a:solidFill>
            <a:srgbClr val="B0A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725844" y="3549178"/>
            <a:ext cx="5825770" cy="582603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l">
              <a:defRPr sz="1100" b="0">
                <a:solidFill>
                  <a:srgbClr val="141413"/>
                </a:solidFill>
                <a:latin typeface="Lora"/>
              </a:defRPr>
            </a:pPr>
            <a:r>
              <a:t>target 100%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259797"/>
            <a:ext cx="4582844" cy="582603"/>
          </a:xfrm>
          <a:prstGeom prst="roundRect">
            <a:avLst/>
          </a:prstGeom>
          <a:solidFill>
            <a:srgbClr val="BCD1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l">
              <a:defRPr sz="1150" b="1">
                <a:solidFill>
                  <a:srgbClr val="FAF9F5"/>
                </a:solidFill>
                <a:latin typeface="Lora"/>
              </a:defRPr>
            </a:pPr>
            <a:r>
              <a:t>Deploys without BRD (month)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5277788" y="4432227"/>
            <a:ext cx="365760" cy="237744"/>
          </a:xfrm>
          <a:prstGeom prst="rightArrow">
            <a:avLst/>
          </a:prstGeom>
          <a:solidFill>
            <a:srgbClr val="B0A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725844" y="4259797"/>
            <a:ext cx="5825770" cy="582603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l">
              <a:defRPr sz="1100" b="0">
                <a:solidFill>
                  <a:srgbClr val="141413"/>
                </a:solidFill>
                <a:latin typeface="Lora"/>
              </a:defRPr>
            </a:pPr>
            <a:r>
              <a:t>target 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4970417"/>
            <a:ext cx="4582844" cy="582603"/>
          </a:xfrm>
          <a:prstGeom prst="roundRect">
            <a:avLst/>
          </a:prstGeom>
          <a:solidFill>
            <a:srgbClr val="3D3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l">
              <a:defRPr sz="1150" b="1">
                <a:solidFill>
                  <a:srgbClr val="FAF9F5"/>
                </a:solidFill>
                <a:latin typeface="Lora"/>
              </a:defRPr>
            </a:pPr>
            <a:r>
              <a:t>Repeat incidents (same RCA)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5277788" y="5142846"/>
            <a:ext cx="365760" cy="237744"/>
          </a:xfrm>
          <a:prstGeom prst="rightArrow">
            <a:avLst/>
          </a:prstGeom>
          <a:solidFill>
            <a:srgbClr val="B0A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725844" y="4970417"/>
            <a:ext cx="5825770" cy="582603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l">
              <a:defRPr sz="1100" b="0">
                <a:solidFill>
                  <a:srgbClr val="141413"/>
                </a:solidFill>
                <a:latin typeface="Lora"/>
              </a:defRPr>
            </a:pPr>
            <a:r>
              <a:t>target 0 per quarter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681036"/>
            <a:ext cx="4582844" cy="582603"/>
          </a:xfrm>
          <a:prstGeom prst="round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l">
              <a:defRPr sz="1150" b="1">
                <a:solidFill>
                  <a:srgbClr val="FAF9F5"/>
                </a:solidFill>
                <a:latin typeface="Lora"/>
              </a:defRPr>
            </a:pPr>
            <a:r>
              <a:t>IT data fixes without approval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5277788" y="5853466"/>
            <a:ext cx="365760" cy="237744"/>
          </a:xfrm>
          <a:prstGeom prst="rightArrow">
            <a:avLst/>
          </a:prstGeom>
          <a:solidFill>
            <a:srgbClr val="B0A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725844" y="5681036"/>
            <a:ext cx="5825770" cy="582603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l">
              <a:defRPr sz="1100" b="0">
                <a:solidFill>
                  <a:srgbClr val="141413"/>
                </a:solidFill>
                <a:latin typeface="Lora"/>
              </a:defRPr>
            </a:pPr>
            <a:r>
              <a:t>target 0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400" b="1">
                <a:solidFill>
                  <a:srgbClr val="FAF9F5"/>
                </a:solidFill>
                <a:latin typeface="Poppins"/>
              </a:defRPr>
            </a:pPr>
            <a:r>
              <a:t>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IT Operations Guide  ·  Internal use only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34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17320"/>
            <a:ext cx="4582844" cy="749808"/>
          </a:xfrm>
          <a:prstGeom prst="round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l">
              <a:defRPr sz="1150" b="1">
                <a:solidFill>
                  <a:srgbClr val="FAF9F5"/>
                </a:solidFill>
                <a:latin typeface="Lora"/>
              </a:defRPr>
            </a:pPr>
            <a:r>
              <a:t>WEEKDAY:</a:t>
            </a:r>
          </a:p>
        </p:txBody>
      </p:sp>
      <p:sp>
        <p:nvSpPr>
          <p:cNvPr id="9" name="Right Arrow 8"/>
          <p:cNvSpPr/>
          <p:nvPr/>
        </p:nvSpPr>
        <p:spPr>
          <a:xfrm>
            <a:off x="5277788" y="1673352"/>
            <a:ext cx="365760" cy="237744"/>
          </a:xfrm>
          <a:prstGeom prst="rightArrow">
            <a:avLst/>
          </a:prstGeom>
          <a:solidFill>
            <a:srgbClr val="B0A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725844" y="1417320"/>
            <a:ext cx="5825770" cy="749808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l">
              <a:defRPr sz="1100" b="0">
                <a:solidFill>
                  <a:srgbClr val="141413"/>
                </a:solidFill>
                <a:latin typeface="Lora"/>
              </a:defRPr>
            </a:pPr>
            <a:r>
              <a:t>Night 20:00–24:00 · BOD 04:00–08:00 · Biz 07:30 · Day 08:30–17:30 · EOD 17:30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295144"/>
            <a:ext cx="4582844" cy="749808"/>
          </a:xfrm>
          <a:prstGeom prst="round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l">
              <a:defRPr sz="1150" b="1">
                <a:solidFill>
                  <a:srgbClr val="FAF9F5"/>
                </a:solidFill>
                <a:latin typeface="Lora"/>
              </a:defRPr>
            </a:pPr>
            <a:r>
              <a:t>WEEKEND: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277788" y="2551176"/>
            <a:ext cx="365760" cy="237744"/>
          </a:xfrm>
          <a:prstGeom prst="rightArrow">
            <a:avLst/>
          </a:prstGeom>
          <a:solidFill>
            <a:srgbClr val="B0A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725844" y="2295144"/>
            <a:ext cx="5825770" cy="749808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l">
              <a:defRPr sz="1100" b="0">
                <a:solidFill>
                  <a:srgbClr val="141413"/>
                </a:solidFill>
                <a:latin typeface="Lora"/>
              </a:defRPr>
            </a:pPr>
            <a:r>
              <a:t>BOD + EOD only · day shift max 4h if data late or allocation/incident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172968"/>
            <a:ext cx="4582844" cy="749808"/>
          </a:xfrm>
          <a:prstGeom prst="round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l">
              <a:defRPr sz="1150" b="1">
                <a:solidFill>
                  <a:srgbClr val="FAF9F5"/>
                </a:solidFill>
                <a:latin typeface="Lora"/>
              </a:defRPr>
            </a:pPr>
            <a:r>
              <a:t>ROSTER: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277788" y="3429000"/>
            <a:ext cx="365760" cy="237744"/>
          </a:xfrm>
          <a:prstGeom prst="rightArrow">
            <a:avLst/>
          </a:prstGeom>
          <a:solidFill>
            <a:srgbClr val="B0A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725844" y="3172968"/>
            <a:ext cx="5825770" cy="749808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l">
              <a:defRPr sz="1100" b="0">
                <a:solidFill>
                  <a:srgbClr val="141413"/>
                </a:solidFill>
                <a:latin typeface="Lora"/>
              </a:defRPr>
            </a:pPr>
            <a:r>
              <a:t>IT = catalog SR + systems · Business = cases, rules, features (self-service)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050791"/>
            <a:ext cx="4582844" cy="749808"/>
          </a:xfrm>
          <a:prstGeom prst="round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l">
              <a:defRPr sz="1150" b="1">
                <a:solidFill>
                  <a:srgbClr val="FAF9F5"/>
                </a:solidFill>
                <a:latin typeface="Lora"/>
              </a:defRPr>
            </a:pPr>
            <a:r>
              <a:t>TICKETS: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5277788" y="4306824"/>
            <a:ext cx="365760" cy="237744"/>
          </a:xfrm>
          <a:prstGeom prst="rightArrow">
            <a:avLst/>
          </a:prstGeom>
          <a:solidFill>
            <a:srgbClr val="B0A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725844" y="4050791"/>
            <a:ext cx="5825770" cy="749808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l">
              <a:defRPr sz="1100" b="0">
                <a:solidFill>
                  <a:srgbClr val="141413"/>
                </a:solidFill>
                <a:latin typeface="Lora"/>
              </a:defRPr>
            </a:pPr>
            <a:r>
              <a:t>Catalog = support only — NOT feature delivery · redirect wrong-bucket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928616"/>
            <a:ext cx="4582844" cy="749808"/>
          </a:xfrm>
          <a:prstGeom prst="roundRect">
            <a:avLst/>
          </a:prstGeom>
          <a:solidFill>
            <a:srgbClr val="BCD1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l">
              <a:defRPr sz="1150" b="1">
                <a:solidFill>
                  <a:srgbClr val="FAF9F5"/>
                </a:solidFill>
                <a:latin typeface="Lora"/>
              </a:defRPr>
            </a:pPr>
            <a:r>
              <a:t>MONTHLY: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5277788" y="5184648"/>
            <a:ext cx="365760" cy="237744"/>
          </a:xfrm>
          <a:prstGeom prst="rightArrow">
            <a:avLst/>
          </a:prstGeom>
          <a:solidFill>
            <a:srgbClr val="B0A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725844" y="4928616"/>
            <a:ext cx="5825770" cy="749808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l">
              <a:defRPr sz="1100" b="0">
                <a:solidFill>
                  <a:srgbClr val="141413"/>
                </a:solidFill>
                <a:latin typeface="Lora"/>
              </a:defRPr>
            </a:pPr>
            <a:r>
              <a:t>BOM capacity · EOM audit · lessons learned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400" b="1">
                <a:solidFill>
                  <a:srgbClr val="FAF9F5"/>
                </a:solidFill>
                <a:latin typeface="Poppins"/>
              </a:defRPr>
            </a:pPr>
            <a:r>
              <a:t>Resources &amp; Next 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IT Operations Guide  ·  Internal use only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35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17320"/>
            <a:ext cx="4582844" cy="749808"/>
          </a:xfrm>
          <a:prstGeom prst="round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l">
              <a:defRPr sz="1150" b="1">
                <a:solidFill>
                  <a:srgbClr val="FAF9F5"/>
                </a:solidFill>
                <a:latin typeface="Lora"/>
              </a:defRPr>
            </a:pPr>
            <a:r>
              <a:t>Runbook:</a:t>
            </a:r>
          </a:p>
        </p:txBody>
      </p:sp>
      <p:sp>
        <p:nvSpPr>
          <p:cNvPr id="9" name="Right Arrow 8"/>
          <p:cNvSpPr/>
          <p:nvPr/>
        </p:nvSpPr>
        <p:spPr>
          <a:xfrm>
            <a:off x="5277788" y="1673352"/>
            <a:ext cx="365760" cy="237744"/>
          </a:xfrm>
          <a:prstGeom prst="rightArrow">
            <a:avLst/>
          </a:prstGeom>
          <a:solidFill>
            <a:srgbClr val="B0A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725844" y="1417320"/>
            <a:ext cx="5825770" cy="749808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l">
              <a:defRPr sz="1100" b="0">
                <a:solidFill>
                  <a:srgbClr val="141413"/>
                </a:solidFill>
                <a:latin typeface="Lora"/>
              </a:defRPr>
            </a:pPr>
            <a:r>
              <a:t>docs/14-it-operations-runbook.md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295144"/>
            <a:ext cx="4582844" cy="749808"/>
          </a:xfrm>
          <a:prstGeom prst="round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l">
              <a:defRPr sz="1150" b="1">
                <a:solidFill>
                  <a:srgbClr val="FAF9F5"/>
                </a:solidFill>
                <a:latin typeface="Lora"/>
              </a:defRPr>
            </a:pPr>
            <a:r>
              <a:t>Checklist: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277788" y="2551176"/>
            <a:ext cx="365760" cy="237744"/>
          </a:xfrm>
          <a:prstGeom prst="rightArrow">
            <a:avLst/>
          </a:prstGeom>
          <a:solidFill>
            <a:srgbClr val="B0A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725844" y="2295144"/>
            <a:ext cx="5825770" cy="749808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l">
              <a:defRPr sz="1100" b="0">
                <a:solidFill>
                  <a:srgbClr val="141413"/>
                </a:solidFill>
                <a:latin typeface="Lora"/>
              </a:defRPr>
            </a:pPr>
            <a:r>
              <a:t>docs/11-operations-manager-checklist.md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172968"/>
            <a:ext cx="4582844" cy="749808"/>
          </a:xfrm>
          <a:prstGeom prst="round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l">
              <a:defRPr sz="1150" b="1">
                <a:solidFill>
                  <a:srgbClr val="FAF9F5"/>
                </a:solidFill>
                <a:latin typeface="Lora"/>
              </a:defRPr>
            </a:pPr>
            <a:r>
              <a:t>Framework: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277788" y="3429000"/>
            <a:ext cx="365760" cy="237744"/>
          </a:xfrm>
          <a:prstGeom prst="rightArrow">
            <a:avLst/>
          </a:prstGeom>
          <a:solidFill>
            <a:srgbClr val="B0A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725844" y="3172968"/>
            <a:ext cx="5825770" cy="749808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l">
              <a:defRPr sz="1100" b="0">
                <a:solidFill>
                  <a:srgbClr val="141413"/>
                </a:solidFill>
                <a:latin typeface="Lora"/>
              </a:defRPr>
            </a:pPr>
            <a:r>
              <a:t>docs/12-it-operations-stakeholder-framework.md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050791"/>
            <a:ext cx="4582844" cy="749808"/>
          </a:xfrm>
          <a:prstGeom prst="round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l">
              <a:defRPr sz="1150" b="1">
                <a:solidFill>
                  <a:srgbClr val="FAF9F5"/>
                </a:solidFill>
                <a:latin typeface="Lora"/>
              </a:defRPr>
            </a:pPr>
            <a:r>
              <a:t>SO guide: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5277788" y="4306824"/>
            <a:ext cx="365760" cy="237744"/>
          </a:xfrm>
          <a:prstGeom prst="rightArrow">
            <a:avLst/>
          </a:prstGeom>
          <a:solidFill>
            <a:srgbClr val="B0A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725844" y="4050791"/>
            <a:ext cx="5825770" cy="749808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l">
              <a:defRPr sz="1100" b="0">
                <a:solidFill>
                  <a:srgbClr val="141413"/>
                </a:solidFill>
                <a:latin typeface="Lora"/>
              </a:defRPr>
            </a:pPr>
            <a:r>
              <a:t>docs/13-service-owner-delivery-control-guide.md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928616"/>
            <a:ext cx="4582844" cy="749808"/>
          </a:xfrm>
          <a:prstGeom prst="roundRect">
            <a:avLst/>
          </a:prstGeom>
          <a:solidFill>
            <a:srgbClr val="BCD1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l">
              <a:defRPr sz="1150" b="1">
                <a:solidFill>
                  <a:srgbClr val="FAF9F5"/>
                </a:solidFill>
                <a:latin typeface="Lora"/>
              </a:defRPr>
            </a:pPr>
            <a:r>
              <a:t>BRD App: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5277788" y="5184648"/>
            <a:ext cx="365760" cy="237744"/>
          </a:xfrm>
          <a:prstGeom prst="rightArrow">
            <a:avLst/>
          </a:prstGeom>
          <a:solidFill>
            <a:srgbClr val="B0A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725844" y="4928616"/>
            <a:ext cx="5825770" cy="749808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l">
              <a:defRPr sz="1100" b="0">
                <a:solidFill>
                  <a:srgbClr val="141413"/>
                </a:solidFill>
                <a:latin typeface="Lora"/>
              </a:defRPr>
            </a:pPr>
            <a:r>
              <a:t>app/ (intake wizard for business redirects)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