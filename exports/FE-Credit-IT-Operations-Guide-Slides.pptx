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 Credit IT Operations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control · Support tickets · Incidents · Daily monitoring</a:t>
            </a:r>
          </a:p>
          <a:p>
            <a:r>
              <a:t>For Ops Manager, Service Desk, on-call &amp; release coordinators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Control delivery — enforce gates without doing business work</a:t>
            </a:r>
          </a:p>
          <a:p>
            <a:r>
              <a:t>• Triage support tickets to the correct bucket (IT vs Business)</a:t>
            </a:r>
          </a:p>
          <a:p>
            <a:r>
              <a:t>• Run BOD/EOD rituals and monitor systems throughout the day</a:t>
            </a:r>
          </a:p>
          <a:p>
            <a:r>
              <a:t>• Handle incidents with business liaison — IT restores systems first</a:t>
            </a:r>
          </a:p>
          <a:p>
            <a:r>
              <a:t>• Know when to redirect, escalate, and schedule post-mortems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Boundary — IT vs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OPERATIONS OWNS:</a:t>
            </a:r>
          </a:p>
          <a:p>
            <a:r>
              <a:t>  System availability · Incidents &amp; recovery · Deploy / CAB / CR</a:t>
            </a:r>
          </a:p>
          <a:p>
            <a:r>
              <a:t>  Access / infra / env · Execute import AFTER business approval</a:t>
            </a:r>
          </a:p>
          <a:p/>
          <a:p>
            <a:r>
              <a:t>BUSINESS OWNS (not IT):</a:t>
            </a:r>
          </a:p>
          <a:p>
            <a:r>
              <a:t>  Case / loan / collection updates · Business rules &amp; decisions</a:t>
            </a:r>
          </a:p>
          <a:p>
            <a:r>
              <a:t>  Data content &amp; maker-checker · UAT sign-off · BRD &amp; Sponsor</a:t>
            </a:r>
          </a:p>
          <a:p/>
          <a:p>
            <a:r>
              <a:t>Service Desk script:</a:t>
            </a:r>
          </a:p>
          <a:p>
            <a:r>
              <a:t>  "IT fixes systems and access. Business owns case updates and rules.</a:t>
            </a:r>
          </a:p>
          <a:p>
            <a:r>
              <a:t>   I'll route you to the right channel."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Ops Rhythm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Night 20:00–24:00 · Weekend: BOD/EOD + max 4h day if triggered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743200"/>
            <a:ext cx="141732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BOD</a:t>
            </a:r>
          </a:p>
          <a:p>
            <a:r>
              <a:t>04-08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122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2743200"/>
            <a:ext cx="1417320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Biz alloc</a:t>
            </a:r>
          </a:p>
          <a:p>
            <a:r>
              <a:t>07:30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1286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2743200"/>
            <a:ext cx="141732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Day shift</a:t>
            </a:r>
          </a:p>
          <a:p>
            <a:r>
              <a:t>08:30-17:30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0450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2743200"/>
            <a:ext cx="1417320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Monitor</a:t>
            </a:r>
          </a:p>
          <a:p>
            <a:r>
              <a:t>&amp; SR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9614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2743200"/>
            <a:ext cx="1417320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EOD</a:t>
            </a:r>
          </a:p>
          <a:p>
            <a:r>
              <a:t>17:30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Golden Rules for 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IT executes; business defines — no build without accepted BRD (≥ 80%)</a:t>
            </a:r>
          </a:p>
          <a:p>
            <a:r>
              <a:t>2. Email / chat are NOT intake for projects or rule changes</a:t>
            </a:r>
          </a:p>
          <a:p>
            <a:r>
              <a:t>3. Data import is a business act — BRD + approved file + maker-checker</a:t>
            </a:r>
          </a:p>
          <a:p>
            <a:r>
              <a:t>4. UAT sign-off is business-owned — IT does not accept for them</a:t>
            </a:r>
          </a:p>
          <a:p>
            <a:r>
              <a:t>5. No production data fix without approved business instruction + ticket</a:t>
            </a:r>
          </a:p>
          <a:p>
            <a:r>
              <a:t>6. Document and redirect wrong-bucket requests — do not silently help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Schedule — Ops &amp; Service Desk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WEEKDAY (Mon–Fri):</a:t>
            </a:r>
          </a:p>
          <a:p>
            <a:r>
              <a:t>  NIGHT SHIFT      20:00 – 24:00   Monitor · batch · on-call · handover to BOD</a:t>
            </a:r>
          </a:p>
          <a:p>
            <a:r>
              <a:t>  BOD WINDOW       04:00 – 08:00   Health · releases · ready-state prep</a:t>
            </a:r>
          </a:p>
          <a:p>
            <a:r>
              <a:t>  BUSINESS ALLOC   07:30           Business users allocate apps — systems green</a:t>
            </a:r>
          </a:p>
          <a:p>
            <a:r>
              <a:t>  DAY SHIFT        08:30 – 17:30   Catalog SR · incidents · delivery control</a:t>
            </a:r>
          </a:p>
          <a:p>
            <a:r>
              <a:t>  EOD              17:30           Close day · handover to night (20:00)</a:t>
            </a:r>
          </a:p>
          <a:p/>
          <a:p>
            <a:r>
              <a:t>Rule: Ops completes BOD before 07:30 so business can allocate on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Ops Roster — Who Handles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ROSTER BY WORK TYPE (not by who asks loudest):</a:t>
            </a:r>
          </a:p>
          <a:p/>
          <a:p>
            <a:r>
              <a:t>IT OPS / SERVICE DESK (catalog SR + incidents):</a:t>
            </a:r>
          </a:p>
          <a:p>
            <a:r>
              <a:t>  Access · system down/slow · deploy/CR · env · approved import execution</a:t>
            </a:r>
          </a:p>
          <a:p/>
          <a:p>
            <a:r>
              <a:t>BUSINESS OPS (self-service — IT redirects, does NOT execute):</a:t>
            </a:r>
          </a:p>
          <a:p>
            <a:r>
              <a:t>  Case updates · loan/collection decisions · allocation disputes</a:t>
            </a:r>
          </a:p>
          <a:p>
            <a:r>
              <a:t>  Rule changes · bulk data · feature requests · UAT sign-off</a:t>
            </a:r>
          </a:p>
          <a:p/>
          <a:p>
            <a:r>
              <a:t>CASE HANDLING:</a:t>
            </a:r>
          </a:p>
          <a:p>
            <a:r>
              <a:t>  IT provides logs &amp; system restore only</a:t>
            </a:r>
          </a:p>
          <a:p>
            <a:r>
              <a:t>  Business unit owns case outcome — delegate back same day</a:t>
            </a:r>
          </a:p>
          <a:p/>
          <a:p>
            <a:r>
              <a:t>Publish weekly roster: name | shift | escalation backup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Weekend Coverage — Limited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Weekends: NO full day shift. BOD + EOD + short day window only.</a:t>
            </a:r>
          </a:p>
          <a:p/>
          <a:p>
            <a:r>
              <a:t>STANDARD WEEKEND (no trigger):</a:t>
            </a:r>
          </a:p>
          <a:p>
            <a:r>
              <a:t>  BOD (04:00–08:00) · on-call monitor only · EOD handover</a:t>
            </a:r>
          </a:p>
          <a:p/>
          <a:p>
            <a:r>
              <a:t>EXTENDED DAY SHIFT (max 4 hours) — only if:</a:t>
            </a:r>
          </a:p>
          <a:p>
            <a:r>
              <a:t>  ☐ Batch/data feed late — business cannot allocate</a:t>
            </a:r>
          </a:p>
          <a:p>
            <a:r>
              <a:t>  ☐ P1/P2 incident affecting allocation or catalog access</a:t>
            </a:r>
          </a:p>
          <a:p>
            <a:r>
              <a:t>  ☐ Critical SR in IT catalog (access/system) — not feature delivery</a:t>
            </a:r>
          </a:p>
          <a:p/>
          <a:p>
            <a:r>
              <a:t>OUT OF SCOPE weekends: new features, BRD work, case updates by IT</a:t>
            </a:r>
          </a:p>
          <a:p>
            <a:r>
              <a:t>  → Redirect to business self-service · log wrong_bucket</a:t>
            </a:r>
          </a:p>
          <a:p/>
          <a:p>
            <a:r>
              <a:t>Ops Manager approves extended weekend roster before shift starts.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Catalog SR — Support Only, Not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Service Catalog accepts ONLY operational support:</a:t>
            </a:r>
          </a:p>
          <a:p/>
          <a:p>
            <a:r>
              <a:t>IN CATALOG (IT resolves):</a:t>
            </a:r>
          </a:p>
          <a:p>
            <a:r>
              <a:t>  Password / VPN / access · account lock · system error</a:t>
            </a:r>
          </a:p>
          <a:p>
            <a:r>
              <a:t>  Performance · integration down · approved import run</a:t>
            </a:r>
          </a:p>
          <a:p/>
          <a:p>
            <a:r>
              <a:t>NOT IN CATALOG (delegate to business — close IT ticket):</a:t>
            </a:r>
          </a:p>
          <a:p>
            <a:r>
              <a:t>  Update case / status / allocation · change business rules</a:t>
            </a:r>
          </a:p>
          <a:p>
            <a:r>
              <a:t>  New screen / report / feature · "build this for us"</a:t>
            </a:r>
          </a:p>
          <a:p>
            <a:r>
              <a:t>  Explain why loan rejected · fix customer outcome</a:t>
            </a:r>
          </a:p>
          <a:p/>
          <a:p>
            <a:r>
              <a:t>Script: "This is business-owned work. IT catalog is for systems</a:t>
            </a:r>
          </a:p>
          <a:p>
            <a:r>
              <a:t>  and access. Please use your business process / BRD intake."</a:t>
            </a:r>
          </a:p>
          <a:p/>
          <a:p>
            <a:r>
              <a:t>Feature delivery → BRD → triage — never Service Desk queue.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Control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Ops enforces gates — does not skip UAT or CAB under pressure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2743200"/>
            <a:ext cx="1332411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Receive</a:t>
            </a:r>
          </a:p>
          <a:p>
            <a:r>
              <a:t>Req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41858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16179" y="2743200"/>
            <a:ext cx="1332411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BRD</a:t>
            </a:r>
          </a:p>
          <a:p>
            <a:r>
              <a:t>Gate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48590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22910" y="2743200"/>
            <a:ext cx="1332411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Triage</a:t>
            </a:r>
          </a:p>
          <a:p>
            <a:r>
              <a:t>&amp; FSD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55321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29641" y="2743200"/>
            <a:ext cx="1332411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Build</a:t>
            </a:r>
          </a:p>
          <a:p>
            <a:r>
              <a:t>&amp; SIT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762052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36373" y="2743200"/>
            <a:ext cx="1332411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UAT</a:t>
            </a:r>
          </a:p>
          <a:p>
            <a:r>
              <a:t>sign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68784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43104" y="2743200"/>
            <a:ext cx="1332411" cy="868680"/>
          </a:xfrm>
          <a:prstGeom prst="roundRect">
            <a:avLst/>
          </a:prstGeom>
          <a:solidFill>
            <a:srgbClr val="A5A5A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CAB</a:t>
            </a:r>
          </a:p>
          <a:p>
            <a:r>
              <a:t>Ship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75515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9836" y="2743200"/>
            <a:ext cx="1332411" cy="86868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Hyper-</a:t>
            </a:r>
          </a:p>
          <a:p>
            <a:r>
              <a:t>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Control — Your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Ops Manager controls the PIPELINE, not business decisions:</a:t>
            </a:r>
          </a:p>
          <a:p/>
          <a:p>
            <a:r>
              <a:t>☐ Enforce one front door (ITSM catalog)</a:t>
            </a:r>
          </a:p>
          <a:p>
            <a:r>
              <a:t>☐ Block IT execution on business-bucket work</a:t>
            </a:r>
          </a:p>
          <a:p>
            <a:r>
              <a:t>☐ Verify BRD linked before FSD / sprint / deploy</a:t>
            </a:r>
          </a:p>
          <a:p>
            <a:r>
              <a:t>☐ Run release readiness + CAB evidence check</a:t>
            </a:r>
          </a:p>
          <a:p>
            <a:r>
              <a:t>☐ Own hypercare (T+1 to T+14) after go-live</a:t>
            </a:r>
          </a:p>
          <a:p>
            <a:r>
              <a:t>☐ Sample tickets daily for bucket correctness</a:t>
            </a:r>
          </a:p>
          <a:p/>
          <a:p>
            <a:r>
              <a:t>You say NO to deploy — you do not update customer cases.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Readiness — Go / No-Go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ANY production deploy, verify:</a:t>
            </a:r>
          </a:p>
          <a:p/>
          <a:p>
            <a:r>
              <a:t>☐ BRD accepted (score ≥ 80%) and linked to CR</a:t>
            </a:r>
          </a:p>
          <a:p>
            <a:r>
              <a:t>☐ FSD complete; in-scope stories closed</a:t>
            </a:r>
          </a:p>
          <a:p>
            <a:r>
              <a:t>☐ SIT exit criteria met — test summary attached</a:t>
            </a:r>
          </a:p>
          <a:p>
            <a:r>
              <a:t>☐ UAT signed by Business Sponsor (not IT)</a:t>
            </a:r>
          </a:p>
          <a:p>
            <a:r>
              <a:t>☐ CAB approved (IT-Governance)</a:t>
            </a:r>
          </a:p>
          <a:p>
            <a:r>
              <a:t>☐ IT-Security sign-off (if flagged)</a:t>
            </a:r>
          </a:p>
          <a:p>
            <a:r>
              <a:t>☐ Rollback plan tested · Comms &amp; training done</a:t>
            </a:r>
          </a:p>
          <a:p>
            <a:r>
              <a:t>☐ Hypercare roster assigned</a:t>
            </a:r>
          </a:p>
          <a:p/>
          <a:p>
            <a:r>
              <a:t>No-go = document reason; escalate to IT Product + Sponsor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 Gates — Non-Negotiable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No FSD / sprint without accepted BRD (≥ 80%)</a:t>
            </a:r>
          </a:p>
          <a:p>
            <a:r>
              <a:t>2. No production deploy without UAT + CAB</a:t>
            </a:r>
          </a:p>
          <a:p>
            <a:r>
              <a:t>3. No security bypass without IT-Security exception register</a:t>
            </a:r>
          </a:p>
          <a:p>
            <a:r>
              <a:t>4. Emergency change → retro-BRD within 2 business days</a:t>
            </a:r>
          </a:p>
          <a:p>
            <a:r>
              <a:t>5. Deployments without linked BRD = 0 (monthly KPI)</a:t>
            </a:r>
          </a:p>
          <a:p>
            <a:r>
              <a:t>6. Business data fixes by IT without approval = 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Bucket Allocation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/ VPN / ACCESS          → IT bucket · Service Desk</a:t>
            </a:r>
          </a:p>
          <a:p>
            <a:r>
              <a:t>SYSTEM DOWN / ERROR / SLOW         → IT bucket · Incident</a:t>
            </a:r>
          </a:p>
          <a:p>
            <a:r>
              <a:t>CHANGE APPROVAL RULE / ADD FIELD   → Business bucket · BRD intake</a:t>
            </a:r>
          </a:p>
          <a:p>
            <a:r>
              <a:t>UPDATE 500 CASE STATUSES           → Business bucket · import approval</a:t>
            </a:r>
          </a:p>
          <a:p>
            <a:r>
              <a:t>BUILD FEATURE / INTEGRATION        → Business bucket · BRD → triage</a:t>
            </a:r>
          </a:p>
          <a:p>
            <a:r>
              <a:t>DEPLOY RELEASE                     → IT bucket · CR after UAT + CAB</a:t>
            </a:r>
          </a:p>
          <a:p>
            <a:r>
              <a:t>IMPORT PARTNER FILE                → Business approval → IT executes</a:t>
            </a:r>
          </a:p>
          <a:p>
            <a:r>
              <a:t>WHY WAS LOAN REJECTED?             → Business ops — IT provides logs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Ticket Handling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Catalog = support only · case/rule/feature → delegate to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743200"/>
            <a:ext cx="141732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Catalog</a:t>
            </a:r>
          </a:p>
          <a:p>
            <a:r>
              <a:t>ITSM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122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2743200"/>
            <a:ext cx="1417320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IT or</a:t>
            </a:r>
          </a:p>
          <a:p>
            <a:r>
              <a:t>Business?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1286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2743200"/>
            <a:ext cx="141732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IT SR</a:t>
            </a:r>
          </a:p>
          <a:p>
            <a:r>
              <a:t>resolve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0450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2743200"/>
            <a:ext cx="1417320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Business</a:t>
            </a:r>
          </a:p>
          <a:p>
            <a:r>
              <a:t>self-svc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9614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2743200"/>
            <a:ext cx="1417320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Close /</a:t>
            </a:r>
          </a:p>
          <a:p>
            <a:r>
              <a:t>redirect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— Ticket Triage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Stop at the first Yes — IT executes systems only, never business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4206240" cy="73152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Request arrives (ITSM catalog)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017520" y="2148840"/>
            <a:ext cx="0" cy="283464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914400" y="2432304"/>
            <a:ext cx="4206240" cy="731520"/>
          </a:xfrm>
          <a:prstGeom prst="diamond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System broken / slow / access blocked?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3163824"/>
            <a:ext cx="0" cy="2834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035040" y="2546604"/>
            <a:ext cx="5486400" cy="50292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IT bucket → Incident or Service Desk (resolve per SLA)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2798064"/>
            <a:ext cx="9144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66359" y="25054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7000"/>
                </a:solidFill>
              </a:defRPr>
            </a:pPr>
            <a:r>
              <a:t>Yes</a:t>
            </a:r>
          </a:p>
        </p:txBody>
      </p:sp>
      <p:sp>
        <p:nvSpPr>
          <p:cNvPr id="11" name="Diamond 10"/>
          <p:cNvSpPr/>
          <p:nvPr/>
        </p:nvSpPr>
        <p:spPr>
          <a:xfrm>
            <a:off x="914400" y="3447287"/>
            <a:ext cx="4206240" cy="731520"/>
          </a:xfrm>
          <a:prstGeom prst="diamond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Change rule / case / allocation / import?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4178807"/>
            <a:ext cx="0" cy="283465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35040" y="3561587"/>
            <a:ext cx="5486400" cy="50292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Business bucket → redirect to BRD / self-service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20640" y="3813048"/>
            <a:ext cx="9144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6359" y="35204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7000"/>
                </a:solidFill>
              </a:defRPr>
            </a:pPr>
            <a:r>
              <a:t>Yes</a:t>
            </a:r>
          </a:p>
        </p:txBody>
      </p:sp>
      <p:sp>
        <p:nvSpPr>
          <p:cNvPr id="16" name="Diamond 15"/>
          <p:cNvSpPr/>
          <p:nvPr/>
        </p:nvSpPr>
        <p:spPr>
          <a:xfrm>
            <a:off x="914400" y="4462272"/>
            <a:ext cx="4206240" cy="731520"/>
          </a:xfrm>
          <a:prstGeom prst="diamond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Build / enhance / new feature?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5193792"/>
            <a:ext cx="0" cy="2834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035040" y="4576572"/>
            <a:ext cx="5486400" cy="50292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BRD accepted ≥80%? No → redirect; Yes → IT triage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20640" y="4828032"/>
            <a:ext cx="9144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66359" y="453542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007000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477255"/>
            <a:ext cx="4206240" cy="73152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Unsure → BA 30-min triage (no Dev assign)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30-Second Triage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in order — stop when answered:</a:t>
            </a:r>
          </a:p>
          <a:p/>
          <a:p>
            <a:r>
              <a:t>1. Is the SYSTEM broken, slow, or access blocked?</a:t>
            </a:r>
          </a:p>
          <a:p>
            <a:r>
              <a:t>   YES → IT ticket (Incident or Service Desk)</a:t>
            </a:r>
          </a:p>
          <a:p/>
          <a:p>
            <a:r>
              <a:t>2. Is it CHANGE RULE / CASE / IMPORT / REPORT DEFINITION?</a:t>
            </a:r>
          </a:p>
          <a:p>
            <a:r>
              <a:t>   YES → Business bucket → redirect to BRD</a:t>
            </a:r>
          </a:p>
          <a:p/>
          <a:p>
            <a:r>
              <a:t>3. Is it BUILD / ENHANCE / INTEGRATE?</a:t>
            </a:r>
          </a:p>
          <a:p>
            <a:r>
              <a:t>   YES → Accepted BRD linked? NO → redirect to BRD first</a:t>
            </a:r>
          </a:p>
          <a:p/>
          <a:p>
            <a:r>
              <a:t>4. Still unsure? → BA 30-min triage call — DO NOT assign to Dev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Ticket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catalog SR only — NOT feature delivery or case work:</a:t>
            </a:r>
          </a:p>
          <a:p/>
          <a:p>
            <a:r>
              <a:t>1. ACKNOWLEDGE (≤ 15 min P3) — ITSM ticket from catalog</a:t>
            </a:r>
          </a:p>
          <a:p>
            <a:r>
              <a:t>2. CLASSIFY — IT catalog / Business self-service / Incident (≤ 30 min)</a:t>
            </a:r>
          </a:p>
          <a:p>
            <a:r>
              <a:t>3. If business-owned (case, rule, feature) → redirect &amp; close IT queue</a:t>
            </a:r>
          </a:p>
          <a:p>
            <a:r>
              <a:t>4. If IT catalog → assign group + priority (≤ 1 hr)</a:t>
            </a:r>
          </a:p>
          <a:p>
            <a:r>
              <a:t>5. RESOLVE per SLA — systems &amp; access only</a:t>
            </a:r>
          </a:p>
          <a:p>
            <a:r>
              <a:t>6. CLOSE — user confirms; KB article if repeat</a:t>
            </a:r>
          </a:p>
          <a:p>
            <a:r>
              <a:t>7. EOD — wrong-bucket count; weekend triggers logged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Redirect Template — Delegate to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when request is NOT in IT catalog (case, rule, feature):</a:t>
            </a:r>
          </a:p>
          <a:p/>
          <a:p>
            <a:r>
              <a:t>"This request is business-owned — IT does not update cases,</a:t>
            </a:r>
          </a:p>
          <a:p>
            <a:r>
              <a:t>  allocation, or rules via Service Desk.</a:t>
            </a:r>
          </a:p>
          <a:p/>
          <a:p>
            <a:r>
              <a:t> IT catalog is for: access, system errors, approved imports.</a:t>
            </a:r>
          </a:p>
          <a:p/>
          <a:p>
            <a:r>
              <a:t> Your team must handle:</a:t>
            </a:r>
          </a:p>
          <a:p>
            <a:r>
              <a:t>  • Case / allocation updates → business ops process</a:t>
            </a:r>
          </a:p>
          <a:p>
            <a:r>
              <a:t>  • Rule or feature changes → BRD intake + Sponsor sign-off</a:t>
            </a:r>
          </a:p>
          <a:p>
            <a:r>
              <a:t>  • Outcome disputes (loan rejected, etc.) → Credit / business ops</a:t>
            </a:r>
          </a:p>
          <a:p/>
          <a:p>
            <a:r>
              <a:t> IT can provide audit logs only. Please use your business channel."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vs SR vs Business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(IT): FE ONLINE down; POS cannot submit; batch stuck</a:t>
            </a:r>
          </a:p>
          <a:p>
            <a:r>
              <a:t>SERVICE REQUEST (IT): Password reset; new user access</a:t>
            </a:r>
          </a:p>
          <a:p>
            <a:r>
              <a:t>BUSINESS WORK (not IT): Fix wrong disbursement; update case status</a:t>
            </a:r>
          </a:p>
          <a:p>
            <a:r>
              <a:t>DEFECT (IT after release): Bug in new feature → link to release</a:t>
            </a:r>
          </a:p>
          <a:p/>
          <a:p>
            <a:r>
              <a:t>User says "incident" but means business activity?</a:t>
            </a:r>
          </a:p>
          <a:p>
            <a:r>
              <a:t>  "Update 200 cases to closed" → Business import process</a:t>
            </a:r>
          </a:p>
          <a:p>
            <a:r>
              <a:t>  "Customer angry — fix their loan" → Business ops; IT = audit log only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Restore service first — business data correction follows approved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3907" y="2743200"/>
            <a:ext cx="1417320" cy="8686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Detect</a:t>
            </a:r>
          </a:p>
          <a:p>
            <a:r>
              <a:t>&amp; log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2122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95547" y="2743200"/>
            <a:ext cx="1417320" cy="86868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Triage</a:t>
            </a:r>
          </a:p>
          <a:p>
            <a:r>
              <a:t>P1-P4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1286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87187" y="2743200"/>
            <a:ext cx="141732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Diagnose</a:t>
            </a:r>
          </a:p>
          <a:p>
            <a:r>
              <a:t>&amp; contain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0450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78827" y="2743200"/>
            <a:ext cx="1417320" cy="8686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Resolve</a:t>
            </a:r>
          </a:p>
          <a:p>
            <a:r>
              <a:t>&amp; verify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96147" y="2971800"/>
            <a:ext cx="274320" cy="32004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0467" y="2743200"/>
            <a:ext cx="1417320" cy="86868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Post-</a:t>
            </a:r>
          </a:p>
          <a:p>
            <a:r>
              <a:t>mortem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Priority — P1 to P4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P1 CRITICAL — major business stop (core banking down, mass POS fail)</a:t>
            </a:r>
          </a:p>
          <a:p>
            <a:r>
              <a:t>   Notify within 30 min: Ops, IT-Security, CIO, EXCO</a:t>
            </a:r>
          </a:p>
          <a:p/>
          <a:p>
            <a:r>
              <a:t>P2 MAJOR — significant degradation (login fail, collections batch stuck)</a:t>
            </a:r>
          </a:p>
          <a:p>
            <a:r>
              <a:t>   Notify within 1 hr: Ops, IT Product, Sponsor</a:t>
            </a:r>
          </a:p>
          <a:p/>
          <a:p>
            <a:r>
              <a:t>P3 MODERATE — workaround exists (single region slow)</a:t>
            </a:r>
          </a:p>
          <a:p>
            <a:r>
              <a:t>   Notify within 4 hr</a:t>
            </a:r>
          </a:p>
          <a:p/>
          <a:p>
            <a:r>
              <a:t>P4 MINOR — cosmetic / single user → next business day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Response —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    Monitor + user report → log incident in ITSM</a:t>
            </a:r>
          </a:p>
          <a:p>
            <a:r>
              <a:t>TRIAGE     Classify P1–P4; open war room if P1/P2</a:t>
            </a:r>
          </a:p>
          <a:p>
            <a:r>
              <a:t>DIAGNOSE   Logs, metrics, recent CRs — IT only</a:t>
            </a:r>
          </a:p>
          <a:p>
            <a:r>
              <a:t>CONTAIN    Rollback, disable feature, scale — document decision</a:t>
            </a:r>
          </a:p>
          <a:p>
            <a:r>
              <a:t>RESOLVE    Fix deploy or data repair WITH business approval only</a:t>
            </a:r>
          </a:p>
          <a:p>
            <a:r>
              <a:t>RECOVER    Verify monitoring green; business confirms ops resumed</a:t>
            </a:r>
          </a:p>
          <a:p>
            <a:r>
              <a:t>CLOSE      Timeline in ITSM; post-mortem if P1/P2 or repeat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 Room Checklist — P1 / P2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☐ Incident commander appointed (Ops Manager)</a:t>
            </a:r>
          </a:p>
          <a:p>
            <a:r>
              <a:t>☐ Timeline log — 5-minute updates</a:t>
            </a:r>
          </a:p>
          <a:p>
            <a:r>
              <a:t>☐ IT-Security notified if data / access impact</a:t>
            </a:r>
          </a:p>
          <a:p>
            <a:r>
              <a:t>☐ Business liaison on bridge (does NOT decide IT technical actions)</a:t>
            </a:r>
          </a:p>
          <a:p>
            <a:r>
              <a:t>☐ GRC notified if regulatory impact</a:t>
            </a:r>
          </a:p>
          <a:p>
            <a:r>
              <a:t>☐ Customer comms draft — Legal if customer-facing</a:t>
            </a:r>
          </a:p>
          <a:p>
            <a:r>
              <a:t>☐ Rollback decision documented</a:t>
            </a:r>
          </a:p>
          <a:p>
            <a:r>
              <a:t>☐ Post-mortem scheduled within 5 business days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BOD Runbook — Window 04:00 to 08:00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Weekend: BOD + EOD; day max 4h only on trigger · Ops Manager approves roster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34440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12161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04:00 — Open BOD; handover from night shift (20:00–24:00 prior day)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92808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874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Review overnight P1/P2 — none open or unowned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551176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328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Confirm production health + overnight batch jobs complete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209544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91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List releases today — CR approved? UAT linked?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867912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84962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CAB outcomes — failed deploy? Hypercare check</a:t>
            </a:r>
          </a:p>
        </p:txBody>
      </p:sp>
      <p:sp>
        <p:nvSpPr>
          <p:cNvPr id="14" name="Oval 13"/>
          <p:cNvSpPr/>
          <p:nvPr/>
        </p:nvSpPr>
        <p:spPr>
          <a:xfrm>
            <a:off x="6263640" y="1234440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121615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Wrong-bucket SR count; BRD queue &gt; 5 days? Escalate</a:t>
            </a:r>
          </a:p>
        </p:txBody>
      </p:sp>
      <p:sp>
        <p:nvSpPr>
          <p:cNvPr id="16" name="Oval 15"/>
          <p:cNvSpPr/>
          <p:nvPr/>
        </p:nvSpPr>
        <p:spPr>
          <a:xfrm>
            <a:off x="6263640" y="1892808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1874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07:30 — Confirm apps green for business user allocation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263640" y="2551176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25328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Weekend? Approve extended day roster only if data late / incident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3209544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319125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08:00 — Publish BOD log; assign day-shift escalation path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3867912"/>
            <a:ext cx="347472" cy="347472"/>
          </a:xfrm>
          <a:prstGeom prst="ellipse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84962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08:30 — Day shift (08:30–17:30) assumes Service Desk lead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 Chart — Ops &amp; Support Resourcing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Roster by work type — IT handles systems; business work is delegated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9847" y="1554480"/>
            <a:ext cx="4572000" cy="64008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IT Ops Manager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2123389" y="2194560"/>
            <a:ext cx="3972458" cy="5486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2743200"/>
            <a:ext cx="3698138" cy="59436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Service Desk Lead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3389" y="3547872"/>
            <a:ext cx="0" cy="109728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7200" y="3657600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L1 catalog SR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23389" y="4251959"/>
            <a:ext cx="0" cy="109729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4361688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Bucket triage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23389" y="4956047"/>
            <a:ext cx="0" cy="109728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" y="5065775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Redirect / KB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2194560"/>
            <a:ext cx="0" cy="5486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46778" y="2743200"/>
            <a:ext cx="3698138" cy="594360"/>
          </a:xfrm>
          <a:prstGeom prst="round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Shift / On-call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3547872"/>
            <a:ext cx="0" cy="109728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429658" y="3657600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Day 08:30–17:30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" y="4251959"/>
            <a:ext cx="0" cy="109729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429658" y="4361688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Night 20:00–24:00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847" y="4956047"/>
            <a:ext cx="0" cy="109728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29658" y="5065775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Weekend on-call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2194560"/>
            <a:ext cx="3972459" cy="54864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19236" y="2743200"/>
            <a:ext cx="3698138" cy="59436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Release &amp; Incident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68306" y="3547872"/>
            <a:ext cx="0" cy="109728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402116" y="3657600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CAB / change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68306" y="4251959"/>
            <a:ext cx="0" cy="109729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402116" y="4361688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Incident commander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68306" y="4956047"/>
            <a:ext cx="0" cy="109728"/>
          </a:xfrm>
          <a:prstGeom prst="line">
            <a:avLst/>
          </a:prstGeom>
          <a:ln w="12700">
            <a:solidFill>
              <a:srgbClr val="B0B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402116" y="5065775"/>
            <a:ext cx="3332378" cy="502920"/>
          </a:xfrm>
          <a:prstGeom prst="rect">
            <a:avLst/>
          </a:prstGeom>
          <a:solidFill>
            <a:srgbClr val="F2F2F2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333333"/>
                </a:solidFill>
              </a:defRPr>
            </a:pPr>
            <a:r>
              <a:t>Hypercare / Dev liaison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Monitoring — All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Weekday: day shift (08:30–17:30) + night (20:00–24:00) on-call:</a:t>
            </a:r>
          </a:p>
          <a:p/>
          <a:p>
            <a:r>
              <a:t>☐ Production health dashboard (green / amber / red)</a:t>
            </a:r>
          </a:p>
          <a:p>
            <a:r>
              <a:t>☐ Alert queue — no unacknowledged critical alerts &gt; 15 min</a:t>
            </a:r>
          </a:p>
          <a:p>
            <a:r>
              <a:t>☐ Batch / EOD jobs — lending, collections, GL cut-offs</a:t>
            </a:r>
          </a:p>
          <a:p>
            <a:r>
              <a:t>☐ Integration queues — Finacle, FE ONLINE, POS, $NAP</a:t>
            </a:r>
          </a:p>
          <a:p>
            <a:r>
              <a:t>☐ Hypercare releases — daily Sponsor check (T+1 to T+14)</a:t>
            </a:r>
          </a:p>
          <a:p>
            <a:r>
              <a:t>☐ Capacity — CPU, disk, connection pools on critical paths</a:t>
            </a:r>
          </a:p>
          <a:p>
            <a:r>
              <a:t>☐ Security — failed login spikes, WAF blocks (escalate IT-Security)</a:t>
            </a:r>
          </a:p>
          <a:p/>
          <a:p>
            <a:r>
              <a:t>Amber → investigate. Red → incident process.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EOD Runbook — Day Shift Close 17:30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 of day shift (08:30–17:30) — handover to night (20:00–24:00):</a:t>
            </a:r>
          </a:p>
          <a:p/>
          <a:p>
            <a:r>
              <a:t>☐ All P1/P2 updated in ITSM (not stale)</a:t>
            </a:r>
          </a:p>
          <a:p>
            <a:r>
              <a:t>☐ Open SRs — none unassigned past SLA</a:t>
            </a:r>
          </a:p>
          <a:p>
            <a:r>
              <a:t>☐ Business-bucket redirects logged with reason</a:t>
            </a:r>
          </a:p>
          <a:p>
            <a:r>
              <a:t>☐ Deployments today — post-deploy verify complete?</a:t>
            </a:r>
          </a:p>
          <a:p>
            <a:r>
              <a:t>☐ Emergency changes — retro-BRD task opened?</a:t>
            </a:r>
          </a:p>
          <a:p>
            <a:r>
              <a:t>☐ Handover note for night / on-call</a:t>
            </a:r>
          </a:p>
          <a:p>
            <a:r>
              <a:t>☐ No informal prod changes via chat — audit sample</a:t>
            </a:r>
          </a:p>
          <a:p>
            <a:r>
              <a:t>☐ Update Ops dashboard metrics (daily slice)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BOM &amp; EOM — Monthly Rituals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BOM (1st business day, 60 min):</a:t>
            </a:r>
          </a:p>
          <a:p>
            <a:r>
              <a:t>  Last month KPIs · BRD volume vs BA capacity · release calendar</a:t>
            </a:r>
          </a:p>
          <a:p>
            <a:r>
              <a:t>  Incident trends · wrong-bucket training plan · CAB roster</a:t>
            </a:r>
          </a:p>
          <a:p/>
          <a:p>
            <a:r>
              <a:t>EOM (last business day, 60 min):</a:t>
            </a:r>
          </a:p>
          <a:p>
            <a:r>
              <a:t>  Change freeze for critical systems · evidence pack sample</a:t>
            </a:r>
          </a:p>
          <a:p>
            <a:r>
              <a:t>  Deploys without BRD = 0 · UAT before prod = 100%</a:t>
            </a:r>
          </a:p>
          <a:p>
            <a:r>
              <a:t>  Incident summary to leadership · lessons learned top 3</a:t>
            </a:r>
          </a:p>
          <a:p>
            <a:r>
              <a:t>  Wrong-bucket report to BU Heads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Post-Mortem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Mandatory when: P1/P2 · failed deploy · repeat P3 (3× in 90 days)</a:t>
            </a:r>
          </a:p>
          <a:p>
            <a:r>
              <a:t>  · emergency change · wrong-bucket caused customer impact</a:t>
            </a:r>
          </a:p>
          <a:p/>
          <a:p>
            <a:r>
              <a:t>Blameless focus: timeline of facts → root cause → SMART actions</a:t>
            </a:r>
          </a:p>
          <a:p>
            <a:r>
              <a:t>Separate: IT systems failure vs business process vs handoff confusion</a:t>
            </a:r>
          </a:p>
          <a:p/>
          <a:p>
            <a:r>
              <a:t>Distribute lessons to: Service Desk KB · BU newsletter · Dev retro</a:t>
            </a:r>
          </a:p>
          <a:p>
            <a:r>
              <a:t>  · EOM leadership pack · quarterly audit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Ops Guardrails — Posture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at Service Desk and war room:</a:t>
            </a:r>
          </a:p>
          <a:p/>
          <a:p>
            <a:r>
              <a:t>1. Systems yes — business decisions no</a:t>
            </a:r>
          </a:p>
          <a:p>
            <a:r>
              <a:t>2. No prod data fix without approved instruction + ticket</a:t>
            </a:r>
          </a:p>
          <a:p>
            <a:r>
              <a:t>3. No rule change without BRD + FSD + deploy path</a:t>
            </a:r>
          </a:p>
          <a:p>
            <a:r>
              <a:t>4. No import without maker-checker</a:t>
            </a:r>
          </a:p>
          <a:p>
            <a:r>
              <a:t>5. Incidents — restore service first; data correction follows business</a:t>
            </a:r>
          </a:p>
          <a:p>
            <a:r>
              <a:t>6. Email is not intake for changes</a:t>
            </a:r>
          </a:p>
          <a:p>
            <a:r>
              <a:t>7. Document and redirect wrong-bucket — don't do business work silently</a:t>
            </a:r>
          </a:p>
          <a:p>
            <a:r>
              <a:t>8. P1/P2 — post-mortem always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 — Ops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Wrong-bucket SR rate              → trend down (EOD / EOM)</a:t>
            </a:r>
          </a:p>
          <a:p>
            <a:r>
              <a:t>SR classified within 1 hr       → target ≥ 95%</a:t>
            </a:r>
          </a:p>
          <a:p>
            <a:r>
              <a:t>P1 MTTR                         → per policy (EOM)</a:t>
            </a:r>
          </a:p>
          <a:p>
            <a:r>
              <a:t>Post-mortems on time (P1/P2)    → target 100%</a:t>
            </a:r>
          </a:p>
          <a:p>
            <a:r>
              <a:t>Deploys without BRD (month)     → target 0</a:t>
            </a:r>
          </a:p>
          <a:p>
            <a:r>
              <a:t>Repeat incidents (same RCA)     → target 0 per quarter</a:t>
            </a:r>
          </a:p>
          <a:p>
            <a:r>
              <a:t>IT data fixes without approval  → target 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WEEKDAY:  Night 20:00–24:00 · BOD 04:00–08:00 · Biz 07:30 · Day 08:30–17:30 · EOD 17:30</a:t>
            </a:r>
          </a:p>
          <a:p>
            <a:r>
              <a:t>WEEKEND:  BOD + EOD only · day shift max 4h if data late or allocation/incident</a:t>
            </a:r>
          </a:p>
          <a:p>
            <a:r>
              <a:t>ROSTER:   IT = catalog SR + systems · Business = cases, rules, features (self-service)</a:t>
            </a:r>
          </a:p>
          <a:p>
            <a:r>
              <a:t>TICKETS:  Catalog = support only — NOT feature delivery · redirect wrong-bucket</a:t>
            </a:r>
          </a:p>
          <a:p>
            <a:r>
              <a:t>MONTHLY:  BOM capacity · EOM audit · lessons learned</a:t>
            </a:r>
          </a:p>
          <a:p/>
          <a:p>
            <a:r>
              <a:t>IT fixes systems. Business owns cases, allocation, rules, and data decisions.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Runbook:     docs/14-it-operations-runbook.md</a:t>
            </a:r>
          </a:p>
          <a:p>
            <a:r>
              <a:t>Checklist:   docs/11-operations-manager-checklist.md</a:t>
            </a:r>
          </a:p>
          <a:p>
            <a:r>
              <a:t>Framework:   docs/12-it-operations-stakeholder-framework.md</a:t>
            </a:r>
          </a:p>
          <a:p>
            <a:r>
              <a:t>SO guide:    docs/13-service-owner-delivery-control-guide.md</a:t>
            </a:r>
          </a:p>
          <a:p>
            <a:r>
              <a:t>BRD App:     app/ (intake wizard for business redirects)</a:t>
            </a:r>
          </a:p>
          <a:p/>
          <a:p>
            <a:r>
              <a:t>Actions:</a:t>
            </a:r>
          </a:p>
          <a:p>
            <a:r>
              <a:t>• Print 30-second triage card at Service Desk</a:t>
            </a:r>
          </a:p>
          <a:p>
            <a:r>
              <a:t>• Run BOD/EOD logs in ITSM or Confluence daily</a:t>
            </a:r>
          </a:p>
          <a:p>
            <a:r>
              <a:t>• Weekly wrong-bucket report to IT leadership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